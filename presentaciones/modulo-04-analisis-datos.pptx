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93e5b8946c42a9" /><Relationship Type="http://schemas.openxmlformats.org/officeDocument/2006/relationships/extended-properties" Target="/docProps/app.xml" Id="Rb13982d5628d40de" /><Relationship Type="http://schemas.openxmlformats.org/officeDocument/2006/relationships/officeDocument" Target="/ppt/presentation.xml" Id="R25afac598aab46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0d6168e7d748ab"/>
  </p:sldMasterIdLst>
  <p:notesMasterIdLst>
    <p:notesMasterId xmlns:r="http://schemas.openxmlformats.org/officeDocument/2006/relationships" r:id="R86bd28fd377642bc"/>
  </p:notesMasterIdLst>
  <p:sldIdLst>
    <p:sldId xmlns:r="http://schemas.openxmlformats.org/officeDocument/2006/relationships" id="256" r:id="R9d0fb55259b14bff"/>
    <p:sldId xmlns:r="http://schemas.openxmlformats.org/officeDocument/2006/relationships" id="257" r:id="R8b5067d08df04245"/>
    <p:sldId xmlns:r="http://schemas.openxmlformats.org/officeDocument/2006/relationships" id="258" r:id="R2210b100c36e44ff"/>
    <p:sldId xmlns:r="http://schemas.openxmlformats.org/officeDocument/2006/relationships" id="259" r:id="Reab849e6227d4582"/>
    <p:sldId xmlns:r="http://schemas.openxmlformats.org/officeDocument/2006/relationships" id="260" r:id="R5b2dfa5d62884445"/>
    <p:sldId xmlns:r="http://schemas.openxmlformats.org/officeDocument/2006/relationships" id="261" r:id="R2dcba9e74be849a5"/>
    <p:sldId xmlns:r="http://schemas.openxmlformats.org/officeDocument/2006/relationships" id="262" r:id="Rfbe093966eb944ce"/>
    <p:sldId xmlns:r="http://schemas.openxmlformats.org/officeDocument/2006/relationships" id="263" r:id="Rcea140283ddb41ee"/>
    <p:sldId xmlns:r="http://schemas.openxmlformats.org/officeDocument/2006/relationships" id="264" r:id="R83a236e3a6b949d0"/>
    <p:sldId xmlns:r="http://schemas.openxmlformats.org/officeDocument/2006/relationships" id="265" r:id="Rd857afa3160c46ec"/>
    <p:sldId xmlns:r="http://schemas.openxmlformats.org/officeDocument/2006/relationships" id="266" r:id="R58d204eae37841d4"/>
    <p:sldId xmlns:r="http://schemas.openxmlformats.org/officeDocument/2006/relationships" id="267" r:id="R46701b15b80c4052"/>
    <p:sldId xmlns:r="http://schemas.openxmlformats.org/officeDocument/2006/relationships" id="268" r:id="Rfa245c40180048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986fb326134b21" /><Relationship Type="http://schemas.openxmlformats.org/officeDocument/2006/relationships/slideMaster" Target="/ppt/slideMasters/slideMaster1.xml" Id="R070d6168e7d748ab" /><Relationship Type="http://schemas.openxmlformats.org/officeDocument/2006/relationships/notesMaster" Target="/ppt/notesMasters/notesMaster1.xml" Id="R86bd28fd377642bc" /><Relationship Type="http://schemas.openxmlformats.org/officeDocument/2006/relationships/presProps" Target="/ppt/presProps.xml" Id="R92cc28f7996c480e" /><Relationship Type="http://schemas.openxmlformats.org/officeDocument/2006/relationships/tableStyles" Target="/ppt/tableStyles.xml" Id="R4933b1b0a7ab489c" /><Relationship Type="http://schemas.openxmlformats.org/officeDocument/2006/relationships/slide" Target="/ppt/slides/slide1.xml" Id="R9d0fb55259b14bff" /><Relationship Type="http://schemas.openxmlformats.org/officeDocument/2006/relationships/slide" Target="/ppt/slides/slide2.xml" Id="R8b5067d08df04245" /><Relationship Type="http://schemas.openxmlformats.org/officeDocument/2006/relationships/slide" Target="/ppt/slides/slide3.xml" Id="R2210b100c36e44ff" /><Relationship Type="http://schemas.openxmlformats.org/officeDocument/2006/relationships/slide" Target="/ppt/slides/slide4.xml" Id="Reab849e6227d4582" /><Relationship Type="http://schemas.openxmlformats.org/officeDocument/2006/relationships/slide" Target="/ppt/slides/slide5.xml" Id="R5b2dfa5d62884445" /><Relationship Type="http://schemas.openxmlformats.org/officeDocument/2006/relationships/slide" Target="/ppt/slides/slide6.xml" Id="R2dcba9e74be849a5" /><Relationship Type="http://schemas.openxmlformats.org/officeDocument/2006/relationships/slide" Target="/ppt/slides/slide7.xml" Id="Rfbe093966eb944ce" /><Relationship Type="http://schemas.openxmlformats.org/officeDocument/2006/relationships/slide" Target="/ppt/slides/slide8.xml" Id="Rcea140283ddb41ee" /><Relationship Type="http://schemas.openxmlformats.org/officeDocument/2006/relationships/slide" Target="/ppt/slides/slide9.xml" Id="R83a236e3a6b949d0" /><Relationship Type="http://schemas.openxmlformats.org/officeDocument/2006/relationships/slide" Target="/ppt/slides/slide10.xml" Id="Rd857afa3160c46ec" /><Relationship Type="http://schemas.openxmlformats.org/officeDocument/2006/relationships/slide" Target="/ppt/slides/slide11.xml" Id="R58d204eae37841d4" /><Relationship Type="http://schemas.openxmlformats.org/officeDocument/2006/relationships/slide" Target="/ppt/slides/slide12.xml" Id="R46701b15b80c4052" /><Relationship Type="http://schemas.openxmlformats.org/officeDocument/2006/relationships/slide" Target="/ppt/slides/slide13.xml" Id="Rfa245c40180048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e22d2af10e4b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29a550f55c4cfc" /><Relationship Type="http://schemas.openxmlformats.org/officeDocument/2006/relationships/notesMaster" Target="/ppt/notesMasters/notesMaster1.xml" Id="R3f1e6d18329942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45f71beb1d4875" /><Relationship Type="http://schemas.openxmlformats.org/officeDocument/2006/relationships/notesMaster" Target="/ppt/notesMasters/notesMaster1.xml" Id="Rea7239315e4544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4c6a0702eb4c96" /><Relationship Type="http://schemas.openxmlformats.org/officeDocument/2006/relationships/notesMaster" Target="/ppt/notesMasters/notesMaster1.xml" Id="R49972b06df3142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4cf16f708f4b2e" /><Relationship Type="http://schemas.openxmlformats.org/officeDocument/2006/relationships/notesMaster" Target="/ppt/notesMasters/notesMaster1.xml" Id="Rf2060fbe96f244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60a543ef904ad4" /><Relationship Type="http://schemas.openxmlformats.org/officeDocument/2006/relationships/notesMaster" Target="/ppt/notesMasters/notesMaster1.xml" Id="Rf92824e239f24f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0efbc6b61c4aa1" /><Relationship Type="http://schemas.openxmlformats.org/officeDocument/2006/relationships/notesMaster" Target="/ppt/notesMasters/notesMaster1.xml" Id="R5f3fb256893d41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a08648994048d6" /><Relationship Type="http://schemas.openxmlformats.org/officeDocument/2006/relationships/notesMaster" Target="/ppt/notesMasters/notesMaster1.xml" Id="Rae48d6c533d346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1c3f5631a44885" /><Relationship Type="http://schemas.openxmlformats.org/officeDocument/2006/relationships/notesMaster" Target="/ppt/notesMasters/notesMaster1.xml" Id="R2985e43c327747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e8992655c74751" /><Relationship Type="http://schemas.openxmlformats.org/officeDocument/2006/relationships/notesMaster" Target="/ppt/notesMasters/notesMaster1.xml" Id="R8f79dffde0db46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ae157170243b2" /><Relationship Type="http://schemas.openxmlformats.org/officeDocument/2006/relationships/notesMaster" Target="/ppt/notesMasters/notesMaster1.xml" Id="Rcfafd48ec26241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947d090b4444f1" /><Relationship Type="http://schemas.openxmlformats.org/officeDocument/2006/relationships/notesMaster" Target="/ppt/notesMasters/notesMaster1.xml" Id="R497af3d3497d42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fdfeb7298743f8" /><Relationship Type="http://schemas.openxmlformats.org/officeDocument/2006/relationships/notesMaster" Target="/ppt/notesMasters/notesMaster1.xml" Id="R8228f4797da14a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6753d33d164ecf" /><Relationship Type="http://schemas.openxmlformats.org/officeDocument/2006/relationships/notesMaster" Target="/ppt/notesMasters/notesMaster1.xml" Id="Red19de8b55a149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con una advertencia positiva: la IA es excelente para acelerar, pero mala para asumir responsabilidad por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diapositiva para mostrar que la sesion no sera teorica solamente. Anticipe los productos que el participante ira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cada resultado con una accion observable. Pida que los participantes identifiquen cual resultado les parece mas valioso para su trabajo.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Pregunte que decision concreta quieren apoyar antes de hablar de herramientas.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el dataset del repositorio para que la practica sea reproducible.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Insista en que validacion debe ocurrir antes de la narrativa ejecutiva.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Muestre que el prompt no pide que invente resultados; pide un plan y controles.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Permita varias herramientas. Lo importante es que puedan explicar el calculo.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diapositiva como lista de chequeo antes de entregar cualquier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valores vienen del dataset sintetico incluido en 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Convierta cada hallazgo en una mini historia: dato, interpretacion, limite y accion.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Pida a los participantes identificar una conclusion que seria tentadora pero no demostrable.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el informe de datos con el proyecto final del Modulo 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6b08c3c5749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a7874d92484b5f" /><Relationship Type="http://schemas.openxmlformats.org/officeDocument/2006/relationships/slideLayout" Target="/ppt/slideLayouts/slideLayout1.xml" Id="R5c5b459fe76a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b459fe76a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34698d5814492" /><Relationship Type="http://schemas.openxmlformats.org/officeDocument/2006/relationships/notesSlide" Target="/ppt/notesSlides/notesSlide1.xml" Id="R23973109451a42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05aad802e43ae" /><Relationship Type="http://schemas.openxmlformats.org/officeDocument/2006/relationships/notesSlide" Target="/ppt/notesSlides/notesSlide2.xml" Id="R3f7fdc1172a249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1015f8df949bb" /><Relationship Type="http://schemas.openxmlformats.org/officeDocument/2006/relationships/notesSlide" Target="/ppt/notesSlides/notesSlide3.xml" Id="R9f4b201e778c4b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03099eb234f24" /><Relationship Type="http://schemas.openxmlformats.org/officeDocument/2006/relationships/notesSlide" Target="/ppt/notesSlides/notesSlide4.xml" Id="Rde614ab9ecab4a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df962488e47e6" /><Relationship Type="http://schemas.openxmlformats.org/officeDocument/2006/relationships/notesSlide" Target="/ppt/notesSlides/notesSlide5.xml" Id="R193794e6e03748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8614d19d4459b" /><Relationship Type="http://schemas.openxmlformats.org/officeDocument/2006/relationships/notesSlide" Target="/ppt/notesSlides/notesSlide6.xml" Id="Rf7812d314e2b4d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15a17d21a4f93" /><Relationship Type="http://schemas.openxmlformats.org/officeDocument/2006/relationships/notesSlide" Target="/ppt/notesSlides/notesSlide7.xml" Id="R263322c0025944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18bc73e4d40fc" /><Relationship Type="http://schemas.openxmlformats.org/officeDocument/2006/relationships/notesSlide" Target="/ppt/notesSlides/notesSlide8.xml" Id="R423c42ff094543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b652f3ab44780" /><Relationship Type="http://schemas.openxmlformats.org/officeDocument/2006/relationships/notesSlide" Target="/ppt/notesSlides/notesSlide9.xml" Id="R63a373294d1943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9fbc005834dc6" /><Relationship Type="http://schemas.openxmlformats.org/officeDocument/2006/relationships/chart" Target="/ppt/slides/charts/chart1.xml" Id="Raab8b0ef09be4094" /><Relationship Type="http://schemas.openxmlformats.org/officeDocument/2006/relationships/notesSlide" Target="/ppt/notesSlides/notesSlide10.xml" Id="R3eef3bfc723842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4d4ccbc854576" /><Relationship Type="http://schemas.openxmlformats.org/officeDocument/2006/relationships/notesSlide" Target="/ppt/notesSlides/notesSlide11.xml" Id="Re16c259215634b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06bb9d73a4a03" /><Relationship Type="http://schemas.openxmlformats.org/officeDocument/2006/relationships/notesSlide" Target="/ppt/notesSlides/notesSlide12.xml" Id="R3a7c7da2dacc4a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47a6138704f4e" /><Relationship Type="http://schemas.openxmlformats.org/officeDocument/2006/relationships/notesSlide" Target="/ppt/notesSlides/notesSlide13.xml" Id="Rda5887644f114b1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Ingreso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Santo Domingo</c:v>
              </c:pt>
              <c:pt idx="1">
                <c:v>Santiago</c:v>
              </c:pt>
              <c:pt idx="2">
                <c:v>La Vega</c:v>
              </c:pt>
              <c:pt idx="3">
                <c:v>Puerto Plata</c:v>
              </c:pt>
              <c:pt idx="4">
                <c:v>San Pedro</c:v>
              </c:pt>
            </c:strLit>
          </c:cat>
          <c:val>
            <c:numLit>
              <c:formatCode>General</c:formatCode>
              <c:ptCount val="5"/>
              <c:pt idx="0">
                <c:v>19410</c:v>
              </c:pt>
              <c:pt idx="1">
                <c:v>12680</c:v>
              </c:pt>
              <c:pt idx="2">
                <c:v>7020</c:v>
              </c:pt>
              <c:pt idx="3">
                <c:v>6040</c:v>
              </c:pt>
              <c:pt idx="4">
                <c:v>3290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C9DD7F3-1222-42E3-9A87-2A55A27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43516B7-81D0-48CB-8F15-3FAA730D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01 / 13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4DE3200D-69E7-498C-8241-F1A86C2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714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020C0716-63B8-4F60-A7CA-A82DA9C9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Modulo IV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351508-277A-4216-ACFC-3013949B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IA para analisis de datos y toma de decisiones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17DEF5A-8AA8-4A56-8916-EB885AF0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Preguntas analiticas, Excel, SQL, Python, dashboards, validacion y narrativa ejecutiva.</a:t>
            </a:r>
          </a:p>
        </p:txBody>
      </p:sp>
      <p:sp>
        <p:nvSpPr>
          <p:cNvPr id="7" name="right-field">
            <a:extLst xmlns:a="http://schemas.openxmlformats.org/drawingml/2006/main">
              <a:ext uri="{FF2B5EF4-FFF2-40B4-BE49-F238E27FC236}">
                <a16:creationId xmlns:a16="http://schemas.microsoft.com/office/drawing/2014/main" id="{62484857-12F6-4CEE-AAB7-DCE7F277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6200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field-title">
            <a:extLst xmlns:a="http://schemas.openxmlformats.org/drawingml/2006/main">
              <a:ext uri="{FF2B5EF4-FFF2-40B4-BE49-F238E27FC236}">
                <a16:creationId xmlns:a16="http://schemas.microsoft.com/office/drawing/2014/main" id="{96AC5EB1-B31A-4510-BF45-0B690B3C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33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Datos primero, IA despues</a:t>
            </a:r>
          </a:p>
        </p:txBody>
      </p:sp>
      <p:sp>
        <p:nvSpPr>
          <p:cNvPr id="9" name="right-field-body">
            <a:extLst xmlns:a="http://schemas.openxmlformats.org/drawingml/2006/main">
              <a:ext uri="{FF2B5EF4-FFF2-40B4-BE49-F238E27FC236}">
                <a16:creationId xmlns:a16="http://schemas.microsoft.com/office/drawing/2014/main" id="{FE70A1B4-4D1C-49ED-8188-2096C80C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266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 IA acelera exploracion y comunicacion, pero los calculos deben ser verificables.</a:t>
            </a:r>
          </a:p>
        </p:txBody>
      </p:sp>
    </p:spTree>
    <p:extLst>
      <p:ext uri="{BB962C8B-B14F-4D97-AF65-F5344CB8AC3E}">
        <p14:creationId xmlns:p14="http://schemas.microsoft.com/office/powerpoint/2010/main" val="2138645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897CFE6-BE6F-4D5B-9806-E47DFE7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A7D4FFB-D1E3-4058-9346-950D6DB4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3F1A4A-2DE0-44CF-8F80-8DB609BB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Ruta de aprendizaje</a:t>
            </a:r>
          </a:p>
        </p:txBody>
      </p:sp>
      <p:sp>
        <p:nvSpPr>
          <p:cNvPr id="4" name="agenda">
            <a:extLst xmlns:a="http://schemas.openxmlformats.org/drawingml/2006/main">
              <a:ext uri="{FF2B5EF4-FFF2-40B4-BE49-F238E27FC236}">
                <a16:creationId xmlns:a16="http://schemas.microsoft.com/office/drawing/2014/main" id="{F844ABE2-0114-4D42-9CE5-B7C8564D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7200"/>
            <a:ext cx="53340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1. Pregunta de negocio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2. Calidad y preparacion de datos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3. IA con Excel, SQL y Python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4. Visualizaciones y dashboards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5. Validacion de hallazgos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6. Informe ejecutivo</a:t>
            </a:r>
          </a:p>
        </p:txBody>
      </p:sp>
      <p:sp>
        <p:nvSpPr>
          <p:cNvPr id="5" name="rhythm">
            <a:extLst xmlns:a="http://schemas.openxmlformats.org/drawingml/2006/main">
              <a:ext uri="{FF2B5EF4-FFF2-40B4-BE49-F238E27FC236}">
                <a16:creationId xmlns:a16="http://schemas.microsoft.com/office/drawing/2014/main" id="{7AABFEC4-1DBC-4CC6-B309-94707B34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Cada bloque combina concepto, demostracion, practica y reflexion.</a:t>
            </a:r>
          </a:p>
        </p:txBody>
      </p:sp>
    </p:spTree>
    <p:extLst>
      <p:ext uri="{BB962C8B-B14F-4D97-AF65-F5344CB8AC3E}">
        <p14:creationId xmlns:p14="http://schemas.microsoft.com/office/powerpoint/2010/main" val="1777862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007C4A2-C3E2-43B6-AE9C-B902F6A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DED9FF0-7F15-48D4-A688-49F95184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70DDDD-0CA0-4FB8-91B2-42ECCD7D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Al finalizar podras</a:t>
            </a:r>
          </a:p>
        </p:txBody>
      </p:sp>
      <p:sp>
        <p:nvSpPr>
          <p:cNvPr id="4" name="outcome-box-0">
            <a:extLst xmlns:a="http://schemas.openxmlformats.org/drawingml/2006/main">
              <a:ext uri="{FF2B5EF4-FFF2-40B4-BE49-F238E27FC236}">
                <a16:creationId xmlns:a16="http://schemas.microsoft.com/office/drawing/2014/main" id="{27BD8D73-A479-4888-A1D8-C998D79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come-num-0">
            <a:extLst xmlns:a="http://schemas.openxmlformats.org/drawingml/2006/main">
              <a:ext uri="{FF2B5EF4-FFF2-40B4-BE49-F238E27FC236}">
                <a16:creationId xmlns:a16="http://schemas.microsoft.com/office/drawing/2014/main" id="{8EA638E9-1BDF-4FAC-BBA1-88817C6F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6" name="outcome-0">
            <a:extLst xmlns:a="http://schemas.openxmlformats.org/drawingml/2006/main">
              <a:ext uri="{FF2B5EF4-FFF2-40B4-BE49-F238E27FC236}">
                <a16:creationId xmlns:a16="http://schemas.microsoft.com/office/drawing/2014/main" id="{29C75783-6CDE-492B-87CB-F22BA229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Formular preguntas analiticas utiles.</a:t>
            </a:r>
          </a:p>
        </p:txBody>
      </p:sp>
      <p:sp>
        <p:nvSpPr>
          <p:cNvPr id="7" name="outcome-box-1">
            <a:extLst xmlns:a="http://schemas.openxmlformats.org/drawingml/2006/main">
              <a:ext uri="{FF2B5EF4-FFF2-40B4-BE49-F238E27FC236}">
                <a16:creationId xmlns:a16="http://schemas.microsoft.com/office/drawing/2014/main" id="{E952B6ED-74FC-405A-8452-975F3E58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utcome-num-1">
            <a:extLst xmlns:a="http://schemas.openxmlformats.org/drawingml/2006/main">
              <a:ext uri="{FF2B5EF4-FFF2-40B4-BE49-F238E27FC236}">
                <a16:creationId xmlns:a16="http://schemas.microsoft.com/office/drawing/2014/main" id="{B0633A82-8FA8-4755-9040-7E234D6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outcome-1">
            <a:extLst xmlns:a="http://schemas.openxmlformats.org/drawingml/2006/main">
              <a:ext uri="{FF2B5EF4-FFF2-40B4-BE49-F238E27FC236}">
                <a16:creationId xmlns:a16="http://schemas.microsoft.com/office/drawing/2014/main" id="{3A8B93C1-FD2A-48BF-AE3B-84F4FF19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Usar IA para apoyar formulas, SQL y codigo.</a:t>
            </a:r>
          </a:p>
        </p:txBody>
      </p:sp>
      <p:sp>
        <p:nvSpPr>
          <p:cNvPr id="10" name="outcome-box-2">
            <a:extLst xmlns:a="http://schemas.openxmlformats.org/drawingml/2006/main">
              <a:ext uri="{FF2B5EF4-FFF2-40B4-BE49-F238E27FC236}">
                <a16:creationId xmlns:a16="http://schemas.microsoft.com/office/drawing/2014/main" id="{CB574341-284E-47BB-8230-4AE0FD7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come-num-2">
            <a:extLst xmlns:a="http://schemas.openxmlformats.org/drawingml/2006/main">
              <a:ext uri="{FF2B5EF4-FFF2-40B4-BE49-F238E27FC236}">
                <a16:creationId xmlns:a16="http://schemas.microsoft.com/office/drawing/2014/main" id="{2339EE75-633B-40F3-8C7F-74340854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2" name="outcome-2">
            <a:extLst xmlns:a="http://schemas.openxmlformats.org/drawingml/2006/main">
              <a:ext uri="{FF2B5EF4-FFF2-40B4-BE49-F238E27FC236}">
                <a16:creationId xmlns:a16="http://schemas.microsoft.com/office/drawing/2014/main" id="{CB583D61-CEDB-4473-9C62-F21C1D0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Validar resultados antes de decidir.</a:t>
            </a:r>
          </a:p>
        </p:txBody>
      </p:sp>
      <p:sp>
        <p:nvSpPr>
          <p:cNvPr id="13" name="outcome-box-3">
            <a:extLst xmlns:a="http://schemas.openxmlformats.org/drawingml/2006/main">
              <a:ext uri="{FF2B5EF4-FFF2-40B4-BE49-F238E27FC236}">
                <a16:creationId xmlns:a16="http://schemas.microsoft.com/office/drawing/2014/main" id="{465617FC-B020-4300-8266-80A71E6C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utcome-num-3">
            <a:extLst xmlns:a="http://schemas.openxmlformats.org/drawingml/2006/main">
              <a:ext uri="{FF2B5EF4-FFF2-40B4-BE49-F238E27FC236}">
                <a16:creationId xmlns:a16="http://schemas.microsoft.com/office/drawing/2014/main" id="{641713B9-B915-4B53-AC05-A904B98F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5" name="outcome-3">
            <a:extLst xmlns:a="http://schemas.openxmlformats.org/drawingml/2006/main">
              <a:ext uri="{FF2B5EF4-FFF2-40B4-BE49-F238E27FC236}">
                <a16:creationId xmlns:a16="http://schemas.microsoft.com/office/drawing/2014/main" id="{C2885AEC-FAE5-47E0-AF04-397566AE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Comunicar hallazgos con claridad ejecutiva.</a:t>
            </a:r>
          </a:p>
        </p:txBody>
      </p:sp>
      <p:sp>
        <p:nvSpPr>
          <p:cNvPr id="16" name="evidence">
            <a:extLst xmlns:a="http://schemas.openxmlformats.org/drawingml/2006/main">
              <a:ext uri="{FF2B5EF4-FFF2-40B4-BE49-F238E27FC236}">
                <a16:creationId xmlns:a16="http://schemas.microsoft.com/office/drawing/2014/main" id="{E79FBA11-10B9-4677-B6B5-6890F56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Evidencia del modulo: informe de hallazgos con visualizacion, validacion y recomendacion.</a:t>
            </a:r>
          </a:p>
        </p:txBody>
      </p:sp>
    </p:spTree>
    <p:extLst>
      <p:ext uri="{BB962C8B-B14F-4D97-AF65-F5344CB8AC3E}">
        <p14:creationId xmlns:p14="http://schemas.microsoft.com/office/powerpoint/2010/main" val="1463451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E5EE034-D1F5-47F2-AD65-D800B772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E43F81B-C594-4DD6-93D9-B100E7D6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04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F3DA87-4D1E-464F-9A60-2C6E3164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Cadena de valor del analisis con IA</a:t>
            </a:r>
          </a:p>
        </p:txBody>
      </p:sp>
      <p:sp>
        <p:nvSpPr>
          <p:cNvPr id="4" name="concept-box-0">
            <a:extLst xmlns:a="http://schemas.openxmlformats.org/drawingml/2006/main">
              <a:ext uri="{FF2B5EF4-FFF2-40B4-BE49-F238E27FC236}">
                <a16:creationId xmlns:a16="http://schemas.microsoft.com/office/drawing/2014/main" id="{C7895DBE-85D5-4C6A-944D-2E2818F5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2ADE292E-2167-481A-B0A4-0F0F86A5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Pregunta</a:t>
            </a:r>
          </a:p>
        </p:txBody>
      </p:sp>
      <p:sp>
        <p:nvSpPr>
          <p:cNvPr id="6" name="concept-desc-0">
            <a:extLst xmlns:a="http://schemas.openxmlformats.org/drawingml/2006/main">
              <a:ext uri="{FF2B5EF4-FFF2-40B4-BE49-F238E27FC236}">
                <a16:creationId xmlns:a16="http://schemas.microsoft.com/office/drawing/2014/main" id="{94C35B28-1228-41EB-A478-4E7B0C9C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240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Sin una decision a apoyar, el analisis se vuelve exploracion sin foco.</a:t>
            </a:r>
          </a:p>
        </p:txBody>
      </p:sp>
      <p:sp>
        <p:nvSpPr>
          <p:cNvPr id="7" name="concept-box-1">
            <a:extLst xmlns:a="http://schemas.openxmlformats.org/drawingml/2006/main">
              <a:ext uri="{FF2B5EF4-FFF2-40B4-BE49-F238E27FC236}">
                <a16:creationId xmlns:a16="http://schemas.microsoft.com/office/drawing/2014/main" id="{F48BF63A-47E4-4FDB-BAE3-0614205A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32FDFA74-6B33-48A4-8A99-EE97E5D9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Datos</a:t>
            </a:r>
          </a:p>
        </p:txBody>
      </p:sp>
      <p:sp>
        <p:nvSpPr>
          <p:cNvPr id="9" name="concept-desc-1">
            <a:extLst xmlns:a="http://schemas.openxmlformats.org/drawingml/2006/main">
              <a:ext uri="{FF2B5EF4-FFF2-40B4-BE49-F238E27FC236}">
                <a16:creationId xmlns:a16="http://schemas.microsoft.com/office/drawing/2014/main" id="{EF4B5EDA-9DDF-4E04-9DDD-FAC468B8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24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Estructura, calidad, definiciones y permisos determinan confiabilidad.</a:t>
            </a:r>
          </a:p>
        </p:txBody>
      </p:sp>
      <p:sp>
        <p:nvSpPr>
          <p:cNvPr id="10" name="concept-box-2">
            <a:extLst xmlns:a="http://schemas.openxmlformats.org/drawingml/2006/main">
              <a:ext uri="{FF2B5EF4-FFF2-40B4-BE49-F238E27FC236}">
                <a16:creationId xmlns:a16="http://schemas.microsoft.com/office/drawing/2014/main" id="{20CC27B2-2CB1-40D3-A81E-F1685B83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67ADD339-3352-4B04-B6F5-C20882C4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Modelo</a:t>
            </a:r>
          </a:p>
        </p:txBody>
      </p:sp>
      <p:sp>
        <p:nvSpPr>
          <p:cNvPr id="12" name="concept-desc-2">
            <a:extLst xmlns:a="http://schemas.openxmlformats.org/drawingml/2006/main">
              <a:ext uri="{FF2B5EF4-FFF2-40B4-BE49-F238E27FC236}">
                <a16:creationId xmlns:a16="http://schemas.microsoft.com/office/drawing/2014/main" id="{A49F67E3-5625-4916-A03B-338AE451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IA ayuda a escribir formulas, consultas, codigo y explicaciones.</a:t>
            </a:r>
          </a:p>
        </p:txBody>
      </p:sp>
      <p:sp>
        <p:nvSpPr>
          <p:cNvPr id="13" name="concept-box-3">
            <a:extLst xmlns:a="http://schemas.openxmlformats.org/drawingml/2006/main">
              <a:ext uri="{FF2B5EF4-FFF2-40B4-BE49-F238E27FC236}">
                <a16:creationId xmlns:a16="http://schemas.microsoft.com/office/drawing/2014/main" id="{C7CE7C7C-2F01-4AF7-A520-0A948471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84D6BB3F-5A00-4045-A08B-1F02BD14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5" name="concept-desc-3">
            <a:extLst xmlns:a="http://schemas.openxmlformats.org/drawingml/2006/main">
              <a:ext uri="{FF2B5EF4-FFF2-40B4-BE49-F238E27FC236}">
                <a16:creationId xmlns:a16="http://schemas.microsoft.com/office/drawing/2014/main" id="{A999AF92-7D9F-4F8E-BCDF-58173669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243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El resultado debe traducirse en accion, riesgo y siguiente paso.</a:t>
            </a:r>
          </a:p>
        </p:txBody>
      </p:sp>
    </p:spTree>
    <p:extLst>
      <p:ext uri="{BB962C8B-B14F-4D97-AF65-F5344CB8AC3E}">
        <p14:creationId xmlns:p14="http://schemas.microsoft.com/office/powerpoint/2010/main" val="7155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98A1C0B-929C-4D05-A3A3-F7F22020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780DA71-3955-4FCB-8142-4FF913C0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05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18B6A2-75D9-4B01-ABDC-C3469EA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Ejemplo aplicado: ventas por region</a:t>
            </a:r>
          </a:p>
        </p:txBody>
      </p:sp>
      <p:sp>
        <p:nvSpPr>
          <p:cNvPr id="4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0B2F70EE-12C8-4E96-8866-D37EA659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Contexto</a:t>
            </a:r>
          </a:p>
        </p:txBody>
      </p:sp>
      <p:sp>
        <p:nvSpPr>
          <p:cNvPr id="5" name="context">
            <a:extLst xmlns:a="http://schemas.openxmlformats.org/drawingml/2006/main">
              <a:ext uri="{FF2B5EF4-FFF2-40B4-BE49-F238E27FC236}">
                <a16:creationId xmlns:a16="http://schemas.microsoft.com/office/drawing/2014/main" id="{668AC1EA-BFE3-4890-8476-E9974F59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La gerencia quiere saber donde enfocar esfuerzos comerciales usando un dataset de ventas por region, canal y categoria.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6BB1050C-1CAD-410B-9E93-630EBABB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81125"/>
            <a:ext cx="571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DC830A0B-E641-47D7-8C47-8A0B698E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14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Como se aplica IA</a:t>
            </a:r>
          </a:p>
        </p:txBody>
      </p:sp>
      <p:sp>
        <p:nvSpPr>
          <p:cNvPr id="8" name="action-list">
            <a:extLst xmlns:a="http://schemas.openxmlformats.org/drawingml/2006/main">
              <a:ext uri="{FF2B5EF4-FFF2-40B4-BE49-F238E27FC236}">
                <a16:creationId xmlns:a16="http://schemas.microsoft.com/office/drawing/2014/main" id="{1252654D-C363-4511-94AF-892FED49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05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Calcular ingreso total y unidades vendidas.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Comparar region, categoria, canal y vendedor.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Crear visualizaciones para patrones principales.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Redactar recomendacion con supuestos y limites.</a:t>
            </a:r>
          </a:p>
        </p:txBody>
      </p:sp>
      <p:sp>
        <p:nvSpPr>
          <p:cNvPr id="9" name="result">
            <a:extLst xmlns:a="http://schemas.openxmlformats.org/drawingml/2006/main">
              <a:ext uri="{FF2B5EF4-FFF2-40B4-BE49-F238E27FC236}">
                <a16:creationId xmlns:a16="http://schemas.microsoft.com/office/drawing/2014/main" id="{D2096BBA-A966-4DD5-A1BD-E16FB1B2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Resultado esperado: decision comercial respaldada por datos y no solo por intuicion.</a:t>
            </a:r>
          </a:p>
        </p:txBody>
      </p:sp>
    </p:spTree>
    <p:extLst>
      <p:ext uri="{BB962C8B-B14F-4D97-AF65-F5344CB8AC3E}">
        <p14:creationId xmlns:p14="http://schemas.microsoft.com/office/powerpoint/2010/main" val="1639608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A87D376-D890-4584-8827-2F8B3ECA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66E9088-BB7B-44BE-BB15-2965E6F9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06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6E9983-FC93-40D2-B7D8-38EE050B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Flujo analitico asistido por IA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65220ED-C175-44C1-AB46-B146B5B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5" name="step-rule-0">
            <a:extLst xmlns:a="http://schemas.openxmlformats.org/drawingml/2006/main">
              <a:ext uri="{FF2B5EF4-FFF2-40B4-BE49-F238E27FC236}">
                <a16:creationId xmlns:a16="http://schemas.microsoft.com/office/drawing/2014/main" id="{3B7C2B07-6EB2-48FD-9340-A81B8DD8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34B1F74B-03DB-4C52-98B6-8CF3C03B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Preguntar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05D3BDF4-04BE-45D8-B89A-CA3E254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Definir decision, metrica, periodo y nivel de detalle.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35E09A1C-0DC6-4AF9-8832-82C0C6E3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9" name="step-rule-1">
            <a:extLst xmlns:a="http://schemas.openxmlformats.org/drawingml/2006/main">
              <a:ext uri="{FF2B5EF4-FFF2-40B4-BE49-F238E27FC236}">
                <a16:creationId xmlns:a16="http://schemas.microsoft.com/office/drawing/2014/main" id="{FA4B4242-92E1-47E4-974E-9095E1B6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937C8DA2-E25E-4A9C-8C59-00317D46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Preparar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1ED6B78-1D28-49F8-8118-E2633070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Revisar tipos, valores faltantes, duplicados y calculos.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1F14D37-25B1-4168-83F5-B4ED8334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step-rule-2">
            <a:extLst xmlns:a="http://schemas.openxmlformats.org/drawingml/2006/main">
              <a:ext uri="{FF2B5EF4-FFF2-40B4-BE49-F238E27FC236}">
                <a16:creationId xmlns:a16="http://schemas.microsoft.com/office/drawing/2014/main" id="{C709FA8E-9696-48C7-9D96-C6D34FE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55C5F5C8-E5D9-4139-B337-DE292B0B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Analizar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FD3AE97-35B7-42C4-80CE-79130DEA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Usar formulas, SQL, Python o BI con apoyo de IA.</a:t>
            </a:r>
          </a:p>
        </p:txBody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72EE5B3-3C6B-4FE1-A3F5-256A633E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7" name="step-rule-3">
            <a:extLst xmlns:a="http://schemas.openxmlformats.org/drawingml/2006/main">
              <a:ext uri="{FF2B5EF4-FFF2-40B4-BE49-F238E27FC236}">
                <a16:creationId xmlns:a16="http://schemas.microsoft.com/office/drawing/2014/main" id="{EF2717F5-2358-4826-B18C-8D6B909C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9985601A-8E1A-425B-AD8D-000F8D6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Validar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9A6DAAF4-AF4C-4074-999F-EDC50520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Comparar resultados, revisar supuestos y explicar limites.</a:t>
            </a:r>
          </a:p>
        </p:txBody>
      </p:sp>
      <p:sp>
        <p:nvSpPr>
          <p:cNvPr id="20" name="control">
            <a:extLst xmlns:a="http://schemas.openxmlformats.org/drawingml/2006/main">
              <a:ext uri="{FF2B5EF4-FFF2-40B4-BE49-F238E27FC236}">
                <a16:creationId xmlns:a16="http://schemas.microsoft.com/office/drawing/2014/main" id="{08705BF8-0544-4924-95DB-69AA0327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Regla practica: no presentar un hallazgo que no pueda recalcular o explicar.</a:t>
            </a:r>
          </a:p>
        </p:txBody>
      </p:sp>
    </p:spTree>
    <p:extLst>
      <p:ext uri="{BB962C8B-B14F-4D97-AF65-F5344CB8AC3E}">
        <p14:creationId xmlns:p14="http://schemas.microsoft.com/office/powerpoint/2010/main" val="1554578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7AD305E-1E17-44F9-B7E0-23B166C5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F729938-0908-4534-BA2A-FA2ADCA8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07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C9B0C8-7202-41A6-AC73-C378B50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Prompt de practica</a:t>
            </a:r>
          </a:p>
        </p:txBody>
      </p:sp>
      <p:sp>
        <p:nvSpPr>
          <p:cNvPr id="4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59E70C42-C6B7-4BD2-AFA5-4885C954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6858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DDFC52A3-75B5-44D0-9705-40088B62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143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Actua como analista de datos. Tengo un dataset de ventas con columnas fecha, region, categoria, vendedor, unidades, precio_unitario y canal. Ayudame a formular un plan de analisis exploratorio, metricas clave, visualizaciones y validaciones antes de presentar resultados.</a:t>
            </a:r>
          </a:p>
        </p:txBody>
      </p:sp>
      <p:sp>
        <p:nvSpPr>
          <p:cNvPr id="6" name="checks-title">
            <a:extLst xmlns:a="http://schemas.openxmlformats.org/drawingml/2006/main">
              <a:ext uri="{FF2B5EF4-FFF2-40B4-BE49-F238E27FC236}">
                <a16:creationId xmlns:a16="http://schemas.microsoft.com/office/drawing/2014/main" id="{840858AC-0459-41A0-8C3C-C06BAA25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Criterios de revision</a:t>
            </a:r>
          </a:p>
        </p:txBody>
      </p:sp>
      <p:sp>
        <p:nvSpPr>
          <p:cNvPr id="7" name="checks">
            <a:extLst xmlns:a="http://schemas.openxmlformats.org/drawingml/2006/main">
              <a:ext uri="{FF2B5EF4-FFF2-40B4-BE49-F238E27FC236}">
                <a16:creationId xmlns:a16="http://schemas.microsoft.com/office/drawing/2014/main" id="{8D7A4CDA-1C88-4106-A1B2-CA783A45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Pregunta por metricas y visualizaciones.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Incluye validaciones tecnicas.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No pide conclusiones sin ver datos.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Orienta hacia decision ejecutiva.</a:t>
            </a:r>
          </a:p>
        </p:txBody>
      </p:sp>
      <p:sp>
        <p:nvSpPr>
          <p:cNvPr id="8" name="tip">
            <a:extLst xmlns:a="http://schemas.openxmlformats.org/drawingml/2006/main">
              <a:ext uri="{FF2B5EF4-FFF2-40B4-BE49-F238E27FC236}">
                <a16:creationId xmlns:a16="http://schemas.microsoft.com/office/drawing/2014/main" id="{7B5245D8-1E68-4AEF-8D69-A27B997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La IA tambien debe ayudar a dudar.</a:t>
            </a:r>
          </a:p>
        </p:txBody>
      </p:sp>
    </p:spTree>
    <p:extLst>
      <p:ext uri="{BB962C8B-B14F-4D97-AF65-F5344CB8AC3E}">
        <p14:creationId xmlns:p14="http://schemas.microsoft.com/office/powerpoint/2010/main" val="6435768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86A8AE-3513-44E2-8D59-53757B61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617DE08-290F-45CC-B66C-0FEF83F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08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19F0E6-B9A6-47EC-A01C-422AC0D7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Practica: analisis de ventas</a:t>
            </a:r>
          </a:p>
        </p:txBody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9A54A223-5B48-40BB-A112-6D6E7FFE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Convertir un dataset sintetico en hallazgos ejecutivos verificables.</a:t>
            </a:r>
          </a:p>
        </p:txBody>
      </p:sp>
      <p:sp>
        <p:nvSpPr>
          <p:cNvPr id="5" name="practice-num-0">
            <a:extLst xmlns:a="http://schemas.openxmlformats.org/drawingml/2006/main">
              <a:ext uri="{FF2B5EF4-FFF2-40B4-BE49-F238E27FC236}">
                <a16:creationId xmlns:a16="http://schemas.microsoft.com/office/drawing/2014/main" id="{F1E810E8-C83F-4D5A-9DA0-0E328E74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actice-num-text-0">
            <a:extLst xmlns:a="http://schemas.openxmlformats.org/drawingml/2006/main">
              <a:ext uri="{FF2B5EF4-FFF2-40B4-BE49-F238E27FC236}">
                <a16:creationId xmlns:a16="http://schemas.microsoft.com/office/drawing/2014/main" id="{1ED1C888-1712-4C94-AA9C-CCB5F455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02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5F3BA95F-1FB1-4308-82B7-02BC456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12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Cargar ventas_ejemplo.csv en Excel, Python o BI.</a:t>
            </a:r>
          </a:p>
        </p:txBody>
      </p:sp>
      <p:sp>
        <p:nvSpPr>
          <p:cNvPr id="8" name="practice-num-1">
            <a:extLst xmlns:a="http://schemas.openxmlformats.org/drawingml/2006/main">
              <a:ext uri="{FF2B5EF4-FFF2-40B4-BE49-F238E27FC236}">
                <a16:creationId xmlns:a16="http://schemas.microsoft.com/office/drawing/2014/main" id="{B633F333-A9B2-4BDE-AD1A-EB426A77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actice-num-text-1">
            <a:extLst xmlns:a="http://schemas.openxmlformats.org/drawingml/2006/main">
              <a:ext uri="{FF2B5EF4-FFF2-40B4-BE49-F238E27FC236}">
                <a16:creationId xmlns:a16="http://schemas.microsoft.com/office/drawing/2014/main" id="{3D962DB7-A35A-4A58-9796-D45DCC0D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0589CFCE-1BC4-4A39-AFD9-D4B2BF3C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289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Crear columna ingreso = unidades x precio_unitario.</a:t>
            </a:r>
          </a:p>
        </p:txBody>
      </p:sp>
      <p:sp>
        <p:nvSpPr>
          <p:cNvPr id="11" name="practice-num-2">
            <a:extLst xmlns:a="http://schemas.openxmlformats.org/drawingml/2006/main">
              <a:ext uri="{FF2B5EF4-FFF2-40B4-BE49-F238E27FC236}">
                <a16:creationId xmlns:a16="http://schemas.microsoft.com/office/drawing/2014/main" id="{519CC9B1-258C-4B24-8CE7-72360686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actice-num-text-2">
            <a:extLst xmlns:a="http://schemas.openxmlformats.org/drawingml/2006/main">
              <a:ext uri="{FF2B5EF4-FFF2-40B4-BE49-F238E27FC236}">
                <a16:creationId xmlns:a16="http://schemas.microsoft.com/office/drawing/2014/main" id="{DC8B7EAC-6159-4141-9EA8-E839C181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077C4D5D-6B6A-4BAA-95C1-37927DA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Comparar ingreso por region, categoria y canal.</a:t>
            </a:r>
          </a:p>
        </p:txBody>
      </p:sp>
      <p:sp>
        <p:nvSpPr>
          <p:cNvPr id="14" name="practice-num-3">
            <a:extLst xmlns:a="http://schemas.openxmlformats.org/drawingml/2006/main">
              <a:ext uri="{FF2B5EF4-FFF2-40B4-BE49-F238E27FC236}">
                <a16:creationId xmlns:a16="http://schemas.microsoft.com/office/drawing/2014/main" id="{0D45D66F-E8EA-4DBA-9EE3-11997070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actice-num-text-3">
            <a:extLst xmlns:a="http://schemas.openxmlformats.org/drawingml/2006/main">
              <a:ext uri="{FF2B5EF4-FFF2-40B4-BE49-F238E27FC236}">
                <a16:creationId xmlns:a16="http://schemas.microsoft.com/office/drawing/2014/main" id="{ED3266E1-72DC-435B-985D-DCEAE4D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0E6B7536-09D8-4A35-A61F-4EBACC84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Redactar tres hallazgos, limites y recomendacion.</a:t>
            </a:r>
          </a:p>
        </p:txBody>
      </p:sp>
      <p:sp>
        <p:nvSpPr>
          <p:cNvPr id="17" name="deliverable-panel">
            <a:extLst xmlns:a="http://schemas.openxmlformats.org/drawingml/2006/main">
              <a:ext uri="{FF2B5EF4-FFF2-40B4-BE49-F238E27FC236}">
                <a16:creationId xmlns:a16="http://schemas.microsoft.com/office/drawing/2014/main" id="{FAE3C104-2910-4A34-9522-D855B41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liverable-label">
            <a:extLst xmlns:a="http://schemas.openxmlformats.org/drawingml/2006/main">
              <a:ext uri="{FF2B5EF4-FFF2-40B4-BE49-F238E27FC236}">
                <a16:creationId xmlns:a16="http://schemas.microsoft.com/office/drawing/2014/main" id="{D93EDB07-F97C-4E53-BA4C-4EF074D9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Entregable</a:t>
            </a:r>
          </a:p>
        </p:txBody>
      </p:sp>
      <p:sp>
        <p:nvSpPr>
          <p:cNvPr id="19" name="deliverable">
            <a:extLst xmlns:a="http://schemas.openxmlformats.org/drawingml/2006/main">
              <a:ext uri="{FF2B5EF4-FFF2-40B4-BE49-F238E27FC236}">
                <a16:creationId xmlns:a16="http://schemas.microsoft.com/office/drawing/2014/main" id="{B312CC4B-151D-4FA0-BB0A-618051FF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Informe ejecutivo de una pagina.</a:t>
            </a:r>
          </a:p>
        </p:txBody>
      </p:sp>
    </p:spTree>
    <p:extLst>
      <p:ext uri="{BB962C8B-B14F-4D97-AF65-F5344CB8AC3E}">
        <p14:creationId xmlns:p14="http://schemas.microsoft.com/office/powerpoint/2010/main" val="11571810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73F7F0-8675-442D-8009-588F861A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A2CABE4-FE96-44FB-AB53-C120365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09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4662D0-0293-4719-BF85-4B39A367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Validaciones minimas antes de presentar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05727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5177"/>
                <a:gridCol w="2916621"/>
                <a:gridCol w="2916621"/>
                <a:gridCol w="2734332"/>
              </a:tblGrid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Validacion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Ejemplo de control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Riesgo si falta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Tipos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 fecha es fecha?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Convertir y ordenar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Meses mal agrupados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Faltantes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Hay campos vacios?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Conteo por columna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Totales incompletos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Calculo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Ingreso esta correcto?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Unidades x precio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Cifras falsas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Segmento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Categorias consistentes?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Normalizar nombres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Comparaciones invalidas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able-note">
            <a:extLst xmlns:a="http://schemas.openxmlformats.org/drawingml/2006/main">
              <a:ext uri="{FF2B5EF4-FFF2-40B4-BE49-F238E27FC236}">
                <a16:creationId xmlns:a16="http://schemas.microsoft.com/office/drawing/2014/main" id="{C68B43E8-D0F4-4756-809C-BB0E92D7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Validar no es burocracia: es proteger la decision.</a:t>
            </a:r>
          </a:p>
        </p:txBody>
      </p:sp>
    </p:spTree>
    <p:extLst>
      <p:ext uri="{BB962C8B-B14F-4D97-AF65-F5344CB8AC3E}">
        <p14:creationId xmlns:p14="http://schemas.microsoft.com/office/powerpoint/2010/main" val="1517498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835B69-A352-48C6-8B83-E98C1C9C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CDA1E3A-DCA4-497C-882F-0D035446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10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C6F17B-445C-4081-B53F-8ED2A239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Ejemplo: ingresos por region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b8b0ef09be4094"/>
          </a:graphicData>
        </a:graphic>
      </p:graphicFrame>
      <p:sp>
        <p:nvSpPr>
          <p:cNvPr id="5" name="chart-insight-title">
            <a:extLst xmlns:a="http://schemas.openxmlformats.org/drawingml/2006/main">
              <a:ext uri="{FF2B5EF4-FFF2-40B4-BE49-F238E27FC236}">
                <a16:creationId xmlns:a16="http://schemas.microsoft.com/office/drawing/2014/main" id="{F543D33A-5D7D-4D97-93E5-F163062E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Lectura ejecutiva</a:t>
            </a:r>
          </a:p>
        </p:txBody>
      </p:sp>
      <p:sp>
        <p:nvSpPr>
          <p:cNvPr id="6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AFD53759-23D4-42E9-A2B5-94039B0E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Santo Domingo lidera por amplio margen.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Santiago concentra una segunda oportunidad.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Regiones menores requieren hipotesis adicionales.</a:t>
            </a:r>
          </a:p>
        </p:txBody>
      </p:sp>
      <p:sp>
        <p:nvSpPr>
          <p:cNvPr id="7" name="chart-warning">
            <a:extLst xmlns:a="http://schemas.openxmlformats.org/drawingml/2006/main">
              <a:ext uri="{FF2B5EF4-FFF2-40B4-BE49-F238E27FC236}">
                <a16:creationId xmlns:a16="http://schemas.microsoft.com/office/drawing/2014/main" id="{767B90F5-35DB-4B71-996A-77CB4439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No inferir causa sin contexto comercial.</a:t>
            </a:r>
          </a:p>
        </p:txBody>
      </p:sp>
    </p:spTree>
    <p:extLst>
      <p:ext uri="{BB962C8B-B14F-4D97-AF65-F5344CB8AC3E}">
        <p14:creationId xmlns:p14="http://schemas.microsoft.com/office/powerpoint/2010/main" val="1870128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02112AE-7056-4201-B34C-943E99A1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C8EEC02-F2F7-47DF-BA35-87CE7D28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11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6D29CD-9044-412F-AFF1-195BC089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Checklist de narrativa de datos</a:t>
            </a:r>
          </a:p>
        </p:txBody>
      </p:sp>
      <p:sp>
        <p:nvSpPr>
          <p:cNvPr id="4" name="check-box-0">
            <a:extLst xmlns:a="http://schemas.openxmlformats.org/drawingml/2006/main">
              <a:ext uri="{FF2B5EF4-FFF2-40B4-BE49-F238E27FC236}">
                <a16:creationId xmlns:a16="http://schemas.microsoft.com/office/drawing/2014/main" id="{E5980481-4F6E-4262-945E-8BE5CA16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1F6D3049-3DCF-4DD5-AB0E-E1B607B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Hallazgo</a:t>
            </a:r>
          </a:p>
        </p:txBody>
      </p:sp>
      <p:sp>
        <p:nvSpPr>
          <p:cNvPr id="6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53A6BBBC-D8F3-48A5-9D43-1820F713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Que cambio, donde y cuanto.</a:t>
            </a:r>
          </a:p>
        </p:txBody>
      </p:sp>
      <p:sp>
        <p:nvSpPr>
          <p:cNvPr id="7" name="check-box-1">
            <a:extLst xmlns:a="http://schemas.openxmlformats.org/drawingml/2006/main">
              <a:ext uri="{FF2B5EF4-FFF2-40B4-BE49-F238E27FC236}">
                <a16:creationId xmlns:a16="http://schemas.microsoft.com/office/drawing/2014/main" id="{376FB0A2-E95C-4C92-9CF2-F4046189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0281813F-3786-450C-95AA-C31CACBF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Evidencia</a:t>
            </a:r>
          </a:p>
        </p:txBody>
      </p:sp>
      <p:sp>
        <p:nvSpPr>
          <p:cNvPr id="9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EB2EBF73-FFA8-41D9-96C9-442985A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Tabla, grafico o calculo reproducible.</a:t>
            </a:r>
          </a:p>
        </p:txBody>
      </p:sp>
      <p:sp>
        <p:nvSpPr>
          <p:cNvPr id="10" name="check-box-2">
            <a:extLst xmlns:a="http://schemas.openxmlformats.org/drawingml/2006/main">
              <a:ext uri="{FF2B5EF4-FFF2-40B4-BE49-F238E27FC236}">
                <a16:creationId xmlns:a16="http://schemas.microsoft.com/office/drawing/2014/main" id="{45F6D144-4282-488A-B72C-72B730E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A53C1BF3-B2BC-46C7-832C-91DCE2CC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Interpretacion</a:t>
            </a:r>
          </a:p>
        </p:txBody>
      </p:sp>
      <p:sp>
        <p:nvSpPr>
          <p:cNvPr id="12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6D4AF2CF-26C8-4C53-9E5A-16FF93ED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Que podria explicar el patron.</a:t>
            </a:r>
          </a:p>
        </p:txBody>
      </p:sp>
      <p:sp>
        <p:nvSpPr>
          <p:cNvPr id="13" name="check-box-3">
            <a:extLst xmlns:a="http://schemas.openxmlformats.org/drawingml/2006/main">
              <a:ext uri="{FF2B5EF4-FFF2-40B4-BE49-F238E27FC236}">
                <a16:creationId xmlns:a16="http://schemas.microsoft.com/office/drawing/2014/main" id="{4DC68902-FB5C-4FA0-92DC-6EB5053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6123A5CC-C905-46CE-AA4E-0A236D09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Limite</a:t>
            </a:r>
          </a:p>
        </p:txBody>
      </p:sp>
      <p:sp>
        <p:nvSpPr>
          <p:cNvPr id="15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8E06CF75-A24A-4F16-BB43-4768F54B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Que no se puede afirmar con estos datos.</a:t>
            </a:r>
          </a:p>
        </p:txBody>
      </p:sp>
      <p:sp>
        <p:nvSpPr>
          <p:cNvPr id="16" name="check-box-4">
            <a:extLst xmlns:a="http://schemas.openxmlformats.org/drawingml/2006/main">
              <a:ext uri="{FF2B5EF4-FFF2-40B4-BE49-F238E27FC236}">
                <a16:creationId xmlns:a16="http://schemas.microsoft.com/office/drawing/2014/main" id="{D522D238-3AEB-4734-8890-A25F60F0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eck-title-4">
            <a:extLst xmlns:a="http://schemas.openxmlformats.org/drawingml/2006/main">
              <a:ext uri="{FF2B5EF4-FFF2-40B4-BE49-F238E27FC236}">
                <a16:creationId xmlns:a16="http://schemas.microsoft.com/office/drawing/2014/main" id="{2A0EE811-0EA3-40EF-8F05-99094E5D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8" name="check-body-4">
            <a:extLst xmlns:a="http://schemas.openxmlformats.org/drawingml/2006/main">
              <a:ext uri="{FF2B5EF4-FFF2-40B4-BE49-F238E27FC236}">
                <a16:creationId xmlns:a16="http://schemas.microsoft.com/office/drawing/2014/main" id="{611CF1CC-1FC8-4CB9-80AB-1961F1A4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Accion recomendada y responsable.</a:t>
            </a:r>
          </a:p>
        </p:txBody>
      </p:sp>
      <p:sp>
        <p:nvSpPr>
          <p:cNvPr id="19" name="check-box-5">
            <a:extLst xmlns:a="http://schemas.openxmlformats.org/drawingml/2006/main">
              <a:ext uri="{FF2B5EF4-FFF2-40B4-BE49-F238E27FC236}">
                <a16:creationId xmlns:a16="http://schemas.microsoft.com/office/drawing/2014/main" id="{786E748D-87AB-44D5-9D2B-E6D32500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-title-5">
            <a:extLst xmlns:a="http://schemas.openxmlformats.org/drawingml/2006/main">
              <a:ext uri="{FF2B5EF4-FFF2-40B4-BE49-F238E27FC236}">
                <a16:creationId xmlns:a16="http://schemas.microsoft.com/office/drawing/2014/main" id="{5A0E2825-4DE4-46CF-B37B-DDEBB94B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Seguimiento</a:t>
            </a:r>
          </a:p>
        </p:txBody>
      </p:sp>
      <p:sp>
        <p:nvSpPr>
          <p:cNvPr id="21" name="check-body-5">
            <a:extLst xmlns:a="http://schemas.openxmlformats.org/drawingml/2006/main">
              <a:ext uri="{FF2B5EF4-FFF2-40B4-BE49-F238E27FC236}">
                <a16:creationId xmlns:a16="http://schemas.microsoft.com/office/drawing/2014/main" id="{A9DD144F-848D-4EDE-B87D-33029BDD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Metrica para saber si funciono.</a:t>
            </a:r>
          </a:p>
        </p:txBody>
      </p:sp>
    </p:spTree>
    <p:extLst>
      <p:ext uri="{BB962C8B-B14F-4D97-AF65-F5344CB8AC3E}">
        <p14:creationId xmlns:p14="http://schemas.microsoft.com/office/powerpoint/2010/main" val="1105551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B05A264-262A-4F82-BE0C-EF1C6AFC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B3324EA-75CD-48B9-BBB7-3D7F57BA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0AB191-4842-49C0-8755-BE561D6A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Errores frecuentes</a:t>
            </a:r>
          </a:p>
        </p:txBody>
      </p:sp>
      <p:sp>
        <p:nvSpPr>
          <p:cNvPr id="4" name="mistake-number-0">
            <a:extLst xmlns:a="http://schemas.openxmlformats.org/drawingml/2006/main">
              <a:ext uri="{FF2B5EF4-FFF2-40B4-BE49-F238E27FC236}">
                <a16:creationId xmlns:a16="http://schemas.microsoft.com/office/drawing/2014/main" id="{2367EBD5-CC63-47A0-AE8D-C7997426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mistake-title-0">
            <a:extLst xmlns:a="http://schemas.openxmlformats.org/drawingml/2006/main">
              <a:ext uri="{FF2B5EF4-FFF2-40B4-BE49-F238E27FC236}">
                <a16:creationId xmlns:a16="http://schemas.microsoft.com/office/drawing/2014/main" id="{314916DC-9067-449D-B0B0-27D3AA58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Preguntar sin objetivo</a:t>
            </a:r>
          </a:p>
        </p:txBody>
      </p:sp>
      <p:sp>
        <p:nvSpPr>
          <p:cNvPr id="6" name="mistake-fix-0">
            <a:extLst xmlns:a="http://schemas.openxmlformats.org/drawingml/2006/main">
              <a:ext uri="{FF2B5EF4-FFF2-40B4-BE49-F238E27FC236}">
                <a16:creationId xmlns:a16="http://schemas.microsoft.com/office/drawing/2014/main" id="{B17EC95A-6258-4D68-A8E4-4558DB41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Conecte el analisis con una decision concreta.</a:t>
            </a:r>
          </a:p>
        </p:txBody>
      </p:sp>
      <p:sp>
        <p:nvSpPr>
          <p:cNvPr id="7" name="mistake-number-1">
            <a:extLst xmlns:a="http://schemas.openxmlformats.org/drawingml/2006/main">
              <a:ext uri="{FF2B5EF4-FFF2-40B4-BE49-F238E27FC236}">
                <a16:creationId xmlns:a16="http://schemas.microsoft.com/office/drawing/2014/main" id="{356DE0E6-60B6-4A32-BAD4-B4F76599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8" name="mistake-title-1">
            <a:extLst xmlns:a="http://schemas.openxmlformats.org/drawingml/2006/main">
              <a:ext uri="{FF2B5EF4-FFF2-40B4-BE49-F238E27FC236}">
                <a16:creationId xmlns:a16="http://schemas.microsoft.com/office/drawing/2014/main" id="{52345B5F-7D75-4707-A7F6-E2EF5241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Confiar en codigo no revisado</a:t>
            </a:r>
          </a:p>
        </p:txBody>
      </p:sp>
      <p:sp>
        <p:nvSpPr>
          <p:cNvPr id="9" name="mistake-fix-1">
            <a:extLst xmlns:a="http://schemas.openxmlformats.org/drawingml/2006/main">
              <a:ext uri="{FF2B5EF4-FFF2-40B4-BE49-F238E27FC236}">
                <a16:creationId xmlns:a16="http://schemas.microsoft.com/office/drawing/2014/main" id="{F7445BC3-73E9-409F-AC33-9CB41142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Ejecute, lea y valide cada formula o consulta.</a:t>
            </a:r>
          </a:p>
        </p:txBody>
      </p:sp>
      <p:sp>
        <p:nvSpPr>
          <p:cNvPr id="10" name="mistake-number-2">
            <a:extLst xmlns:a="http://schemas.openxmlformats.org/drawingml/2006/main">
              <a:ext uri="{FF2B5EF4-FFF2-40B4-BE49-F238E27FC236}">
                <a16:creationId xmlns:a16="http://schemas.microsoft.com/office/drawing/2014/main" id="{BFD62024-8161-483F-89F8-11D8F803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1" name="mistake-title-2">
            <a:extLst xmlns:a="http://schemas.openxmlformats.org/drawingml/2006/main">
              <a:ext uri="{FF2B5EF4-FFF2-40B4-BE49-F238E27FC236}">
                <a16:creationId xmlns:a16="http://schemas.microsoft.com/office/drawing/2014/main" id="{909A6BEB-F132-4F1A-9E93-9F100957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Confundir correlacion y causa</a:t>
            </a:r>
          </a:p>
        </p:txBody>
      </p:sp>
      <p:sp>
        <p:nvSpPr>
          <p:cNvPr id="12" name="mistake-fix-2">
            <a:extLst xmlns:a="http://schemas.openxmlformats.org/drawingml/2006/main">
              <a:ext uri="{FF2B5EF4-FFF2-40B4-BE49-F238E27FC236}">
                <a16:creationId xmlns:a16="http://schemas.microsoft.com/office/drawing/2014/main" id="{237D0F22-B5EF-418B-A2C9-37C7E12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Use lenguaje prudente y proponga hipotesis verificables.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85599ECC-888B-4BF3-B00F-DF0CE7BE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La meta no es usar IA en todo: es usarla donde mejora una decision, un proceso o una entrega.</a:t>
            </a:r>
          </a:p>
        </p:txBody>
      </p:sp>
    </p:spTree>
    <p:extLst>
      <p:ext uri="{BB962C8B-B14F-4D97-AF65-F5344CB8AC3E}">
        <p14:creationId xmlns:p14="http://schemas.microsoft.com/office/powerpoint/2010/main" val="6160765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8FDB00C-1ED1-48ED-9920-9FAB9E42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IV - Analisis de datos y decisiones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513BEAC-0F40-4802-A007-95BE5324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841A2D-633D-4564-9024-12B4EDE7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Cierre del modulo</a:t>
            </a:r>
          </a:p>
        </p:txBody>
      </p:sp>
      <p:sp>
        <p:nvSpPr>
          <p:cNvPr id="4" name="next">
            <a:extLst xmlns:a="http://schemas.openxmlformats.org/drawingml/2006/main">
              <a:ext uri="{FF2B5EF4-FFF2-40B4-BE49-F238E27FC236}">
                <a16:creationId xmlns:a16="http://schemas.microsoft.com/office/drawing/2014/main" id="{40B321D1-3304-4D63-81B0-0674BF5E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Prepara tu informe ejecutivo.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Guarda formulas, consultas o codigo.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Lleva una recomendacion al proyecto final.</a:t>
            </a:r>
          </a:p>
        </p:txBody>
      </p:sp>
      <p:sp>
        <p:nvSpPr>
          <p:cNvPr id="5" name="final-panel">
            <a:extLst xmlns:a="http://schemas.openxmlformats.org/drawingml/2006/main">
              <a:ext uri="{FF2B5EF4-FFF2-40B4-BE49-F238E27FC236}">
                <a16:creationId xmlns:a16="http://schemas.microsoft.com/office/drawing/2014/main" id="{DB23EADB-6357-4443-9603-9A1AC079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714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nal-panel-title">
            <a:extLst xmlns:a="http://schemas.openxmlformats.org/drawingml/2006/main">
              <a:ext uri="{FF2B5EF4-FFF2-40B4-BE49-F238E27FC236}">
                <a16:creationId xmlns:a16="http://schemas.microsoft.com/office/drawing/2014/main" id="{74B1A820-0448-48BB-B6B4-74D0C2A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86000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Producto listo</a:t>
            </a:r>
          </a:p>
        </p:txBody>
      </p:sp>
      <p:sp>
        <p:nvSpPr>
          <p:cNvPr id="7" name="final-panel-body">
            <a:extLst xmlns:a="http://schemas.openxmlformats.org/drawingml/2006/main">
              <a:ext uri="{FF2B5EF4-FFF2-40B4-BE49-F238E27FC236}">
                <a16:creationId xmlns:a16="http://schemas.microsoft.com/office/drawing/2014/main" id="{957D49CE-636B-4264-9B3C-FF21AE73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Analisis reproducible con hallazgos y limites claros.</a:t>
            </a:r>
          </a:p>
        </p:txBody>
      </p:sp>
    </p:spTree>
    <p:extLst>
      <p:ext uri="{BB962C8B-B14F-4D97-AF65-F5344CB8AC3E}">
        <p14:creationId xmlns:p14="http://schemas.microsoft.com/office/powerpoint/2010/main" val="53990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2026-06-26T12:30:34.1790000Z</dcterms:created>
  <dcterms:modified xsi:type="dcterms:W3CDTF">2026-06-26T12:30:34.1790000Z</dcterms:modified>
</coreProperties>
</file>
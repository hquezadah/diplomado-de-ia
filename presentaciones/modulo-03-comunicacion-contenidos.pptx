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4c878f60ad4f76" /><Relationship Type="http://schemas.openxmlformats.org/officeDocument/2006/relationships/extended-properties" Target="/docProps/app.xml" Id="R676c982a50bb435c" /><Relationship Type="http://schemas.openxmlformats.org/officeDocument/2006/relationships/officeDocument" Target="/ppt/presentation.xml" Id="Rc98f589c587f43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2b5f64f6a54714"/>
  </p:sldMasterIdLst>
  <p:notesMasterIdLst>
    <p:notesMasterId xmlns:r="http://schemas.openxmlformats.org/officeDocument/2006/relationships" r:id="R2857c22cdabf480e"/>
  </p:notesMasterIdLst>
  <p:sldIdLst>
    <p:sldId xmlns:r="http://schemas.openxmlformats.org/officeDocument/2006/relationships" id="256" r:id="Rf46c3432a0aa4bc1"/>
    <p:sldId xmlns:r="http://schemas.openxmlformats.org/officeDocument/2006/relationships" id="257" r:id="R7418f1a9ea2043e3"/>
    <p:sldId xmlns:r="http://schemas.openxmlformats.org/officeDocument/2006/relationships" id="258" r:id="R5583b137bd5947d7"/>
    <p:sldId xmlns:r="http://schemas.openxmlformats.org/officeDocument/2006/relationships" id="259" r:id="Rbe6af086174548d3"/>
    <p:sldId xmlns:r="http://schemas.openxmlformats.org/officeDocument/2006/relationships" id="260" r:id="R052f625044a541ef"/>
    <p:sldId xmlns:r="http://schemas.openxmlformats.org/officeDocument/2006/relationships" id="261" r:id="Rd2e586a785464653"/>
    <p:sldId xmlns:r="http://schemas.openxmlformats.org/officeDocument/2006/relationships" id="262" r:id="R25b51a0bccf04081"/>
    <p:sldId xmlns:r="http://schemas.openxmlformats.org/officeDocument/2006/relationships" id="263" r:id="R9495b2604e494231"/>
    <p:sldId xmlns:r="http://schemas.openxmlformats.org/officeDocument/2006/relationships" id="264" r:id="Rcdc5d449c1cd4ed0"/>
    <p:sldId xmlns:r="http://schemas.openxmlformats.org/officeDocument/2006/relationships" id="265" r:id="Rbccea991e2664933"/>
    <p:sldId xmlns:r="http://schemas.openxmlformats.org/officeDocument/2006/relationships" id="266" r:id="R897b498dd7f24603"/>
    <p:sldId xmlns:r="http://schemas.openxmlformats.org/officeDocument/2006/relationships" id="267" r:id="Rfb2211a8dd2445b6"/>
    <p:sldId xmlns:r="http://schemas.openxmlformats.org/officeDocument/2006/relationships" id="268" r:id="R63d1aaf16a5045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a9f5a9f93d4c77" /><Relationship Type="http://schemas.openxmlformats.org/officeDocument/2006/relationships/slideMaster" Target="/ppt/slideMasters/slideMaster1.xml" Id="R8c2b5f64f6a54714" /><Relationship Type="http://schemas.openxmlformats.org/officeDocument/2006/relationships/notesMaster" Target="/ppt/notesMasters/notesMaster1.xml" Id="R2857c22cdabf480e" /><Relationship Type="http://schemas.openxmlformats.org/officeDocument/2006/relationships/presProps" Target="/ppt/presProps.xml" Id="Rda03d849fb854178" /><Relationship Type="http://schemas.openxmlformats.org/officeDocument/2006/relationships/tableStyles" Target="/ppt/tableStyles.xml" Id="R551beaa35cfb40ae" /><Relationship Type="http://schemas.openxmlformats.org/officeDocument/2006/relationships/slide" Target="/ppt/slides/slide1.xml" Id="Rf46c3432a0aa4bc1" /><Relationship Type="http://schemas.openxmlformats.org/officeDocument/2006/relationships/slide" Target="/ppt/slides/slide2.xml" Id="R7418f1a9ea2043e3" /><Relationship Type="http://schemas.openxmlformats.org/officeDocument/2006/relationships/slide" Target="/ppt/slides/slide3.xml" Id="R5583b137bd5947d7" /><Relationship Type="http://schemas.openxmlformats.org/officeDocument/2006/relationships/slide" Target="/ppt/slides/slide4.xml" Id="Rbe6af086174548d3" /><Relationship Type="http://schemas.openxmlformats.org/officeDocument/2006/relationships/slide" Target="/ppt/slides/slide5.xml" Id="R052f625044a541ef" /><Relationship Type="http://schemas.openxmlformats.org/officeDocument/2006/relationships/slide" Target="/ppt/slides/slide6.xml" Id="Rd2e586a785464653" /><Relationship Type="http://schemas.openxmlformats.org/officeDocument/2006/relationships/slide" Target="/ppt/slides/slide7.xml" Id="R25b51a0bccf04081" /><Relationship Type="http://schemas.openxmlformats.org/officeDocument/2006/relationships/slide" Target="/ppt/slides/slide8.xml" Id="R9495b2604e494231" /><Relationship Type="http://schemas.openxmlformats.org/officeDocument/2006/relationships/slide" Target="/ppt/slides/slide9.xml" Id="Rcdc5d449c1cd4ed0" /><Relationship Type="http://schemas.openxmlformats.org/officeDocument/2006/relationships/slide" Target="/ppt/slides/slide10.xml" Id="Rbccea991e2664933" /><Relationship Type="http://schemas.openxmlformats.org/officeDocument/2006/relationships/slide" Target="/ppt/slides/slide11.xml" Id="R897b498dd7f24603" /><Relationship Type="http://schemas.openxmlformats.org/officeDocument/2006/relationships/slide" Target="/ppt/slides/slide12.xml" Id="Rfb2211a8dd2445b6" /><Relationship Type="http://schemas.openxmlformats.org/officeDocument/2006/relationships/slide" Target="/ppt/slides/slide13.xml" Id="R63d1aaf16a5045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da6f192b5740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bf351cc61e410e" /><Relationship Type="http://schemas.openxmlformats.org/officeDocument/2006/relationships/notesMaster" Target="/ppt/notesMasters/notesMaster1.xml" Id="R52a3f6e03ada4f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9bdc683d0847b9" /><Relationship Type="http://schemas.openxmlformats.org/officeDocument/2006/relationships/notesMaster" Target="/ppt/notesMasters/notesMaster1.xml" Id="R22536f5e15e641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7e7e08fbab415b" /><Relationship Type="http://schemas.openxmlformats.org/officeDocument/2006/relationships/notesMaster" Target="/ppt/notesMasters/notesMaster1.xml" Id="Rb93beb961e4140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e29d03dff94b7c" /><Relationship Type="http://schemas.openxmlformats.org/officeDocument/2006/relationships/notesMaster" Target="/ppt/notesMasters/notesMaster1.xml" Id="Ra9ad8fc2024040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0d1462ead94afa" /><Relationship Type="http://schemas.openxmlformats.org/officeDocument/2006/relationships/notesMaster" Target="/ppt/notesMasters/notesMaster1.xml" Id="Rf0ef01ed1e9244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6db6b1f7fe4e44" /><Relationship Type="http://schemas.openxmlformats.org/officeDocument/2006/relationships/notesMaster" Target="/ppt/notesMasters/notesMaster1.xml" Id="R5e58fae86e3148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49e6d46dee421d" /><Relationship Type="http://schemas.openxmlformats.org/officeDocument/2006/relationships/notesMaster" Target="/ppt/notesMasters/notesMaster1.xml" Id="R2a8ff23f0e6643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0b705e9664495a" /><Relationship Type="http://schemas.openxmlformats.org/officeDocument/2006/relationships/notesMaster" Target="/ppt/notesMasters/notesMaster1.xml" Id="Ra29c909c7c0e44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4e87c5fa474f6e" /><Relationship Type="http://schemas.openxmlformats.org/officeDocument/2006/relationships/notesMaster" Target="/ppt/notesMasters/notesMaster1.xml" Id="R842e60efce594e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9a7a5aa4f246b0" /><Relationship Type="http://schemas.openxmlformats.org/officeDocument/2006/relationships/notesMaster" Target="/ppt/notesMasters/notesMaster1.xml" Id="R8d7a1438928d4e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61ce8d673d4c1f" /><Relationship Type="http://schemas.openxmlformats.org/officeDocument/2006/relationships/notesMaster" Target="/ppt/notesMasters/notesMaster1.xml" Id="R6edf2c885a8243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e021831fc1453f" /><Relationship Type="http://schemas.openxmlformats.org/officeDocument/2006/relationships/notesMaster" Target="/ppt/notesMasters/notesMaster1.xml" Id="Rf1e7c6ad7d3e44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d6736ca02d43d4" /><Relationship Type="http://schemas.openxmlformats.org/officeDocument/2006/relationships/notesMaster" Target="/ppt/notesMasters/notesMaster1.xml" Id="R1281fb28d8ff46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velocidad no equivale a calidad. La promesa del modulo es producir mejor con mas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diapositiva para mostrar que la sesion no sera teorica solamente. Anticipe los productos que el participante ira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cada resultado con una accion observable. Pida que los participantes identifiquen cual resultado les parece mas valioso para su trabajo.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un mensaje simple y muestre como cambia al modificar audiencia, objetivo, tono y canal.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Pida al grupo que identifique frases que podrian sonar demasiado promocionales o vagas.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Subraye que el brief es una herramienta profesional, no solo una instruccion a la 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Muestre como se puede pedir al modelo que critique su propia salida antes de mejorarla.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Sugiera trabajar en grupos por canal: correo, redes, informe o presentacion.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la tabla para discutir por que copiar y pegar entre canales suele fallar.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el grafico ilustra aprendizaje iterativo; no representa datos empiricos.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convertir el checklist en una plantilla de aprobacion editorial.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Refuerce que la responsabilidad del mensaje siempre queda en la persona o institucion.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Pida que el paquete de comunicacion se conecte con el proyecto final si aplica.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ae7cc1d5fd40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c76e7f84794cf8" /><Relationship Type="http://schemas.openxmlformats.org/officeDocument/2006/relationships/slideLayout" Target="/ppt/slideLayouts/slideLayout1.xml" Id="Rbcaa579f7fe640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aa579f7fe640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76356ff494740" /><Relationship Type="http://schemas.openxmlformats.org/officeDocument/2006/relationships/notesSlide" Target="/ppt/notesSlides/notesSlide1.xml" Id="R04a79c896bf04f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c020c05664192" /><Relationship Type="http://schemas.openxmlformats.org/officeDocument/2006/relationships/notesSlide" Target="/ppt/notesSlides/notesSlide2.xml" Id="R29bf899ea29147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49573c51b4e29" /><Relationship Type="http://schemas.openxmlformats.org/officeDocument/2006/relationships/notesSlide" Target="/ppt/notesSlides/notesSlide3.xml" Id="Read66910027249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6e30a04244460" /><Relationship Type="http://schemas.openxmlformats.org/officeDocument/2006/relationships/notesSlide" Target="/ppt/notesSlides/notesSlide4.xml" Id="Re23023cc4fdd49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46257eefb41b2" /><Relationship Type="http://schemas.openxmlformats.org/officeDocument/2006/relationships/notesSlide" Target="/ppt/notesSlides/notesSlide5.xml" Id="R2eb6a263a6464d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fe3f2f2ae4840" /><Relationship Type="http://schemas.openxmlformats.org/officeDocument/2006/relationships/notesSlide" Target="/ppt/notesSlides/notesSlide6.xml" Id="R192e63d0ee034b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a9641767b4608" /><Relationship Type="http://schemas.openxmlformats.org/officeDocument/2006/relationships/notesSlide" Target="/ppt/notesSlides/notesSlide7.xml" Id="R37b6f2efe04444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6a3acced24e0d" /><Relationship Type="http://schemas.openxmlformats.org/officeDocument/2006/relationships/notesSlide" Target="/ppt/notesSlides/notesSlide8.xml" Id="R388a3c2e9e804c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d043ea27d404f" /><Relationship Type="http://schemas.openxmlformats.org/officeDocument/2006/relationships/notesSlide" Target="/ppt/notesSlides/notesSlide9.xml" Id="Rfb455f022e0c4a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5806398784f6b" /><Relationship Type="http://schemas.openxmlformats.org/officeDocument/2006/relationships/chart" Target="/ppt/slides/charts/chart1.xml" Id="R8087959f3ab24e1a" /><Relationship Type="http://schemas.openxmlformats.org/officeDocument/2006/relationships/notesSlide" Target="/ppt/notesSlides/notesSlide10.xml" Id="Rf0692cb7202a43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c5bb47c454277" /><Relationship Type="http://schemas.openxmlformats.org/officeDocument/2006/relationships/notesSlide" Target="/ppt/notesSlides/notesSlide11.xml" Id="Ra07d3fcfc19445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4312a9a434f19" /><Relationship Type="http://schemas.openxmlformats.org/officeDocument/2006/relationships/notesSlide" Target="/ppt/notesSlides/notesSlide12.xml" Id="Ra726381becaa42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04a4dac424bc6" /><Relationship Type="http://schemas.openxmlformats.org/officeDocument/2006/relationships/notesSlide" Target="/ppt/notesSlides/notesSlide13.xml" Id="R4f93be2dbdbc478d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Calidad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Prompt inicial</c:v>
              </c:pt>
              <c:pt idx="1">
                <c:v>Con audiencia</c:v>
              </c:pt>
              <c:pt idx="2">
                <c:v>Con tono</c:v>
              </c:pt>
              <c:pt idx="3">
                <c:v>Con riesgos</c:v>
              </c:pt>
              <c:pt idx="4">
                <c:v>Version editada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58</c:v>
              </c:pt>
              <c:pt idx="2">
                <c:v>71</c:v>
              </c:pt>
              <c:pt idx="3">
                <c:v>82</c:v>
              </c:pt>
              <c:pt idx="4">
                <c:v>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197944D-038D-4D3E-9338-3FF48D94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III - Comunicacion y contenidos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4EA0882-F25E-4D15-87DB-5AA19F26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01 / 13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C7A5FC56-006A-43E6-BFC6-93B813A2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7145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53F80122-93CF-43C9-8635-C4301D42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Modulo III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1B61690-4BEB-4683-BDAA-B95F2497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IA generativa para comunicacion, marketing y contenidos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56E7CB68-56A7-4E0C-AE1D-2C664D94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Prompts, storytelling, audiencias, contenidos multicanal y revision editorial responsable.</a:t>
            </a:r>
          </a:p>
        </p:txBody>
      </p:sp>
      <p:sp>
        <p:nvSpPr>
          <p:cNvPr id="7" name="right-field">
            <a:extLst xmlns:a="http://schemas.openxmlformats.org/drawingml/2006/main">
              <a:ext uri="{FF2B5EF4-FFF2-40B4-BE49-F238E27FC236}">
                <a16:creationId xmlns:a16="http://schemas.microsoft.com/office/drawing/2014/main" id="{B424E109-7E81-4C0B-8C48-DC6CDA1E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62000"/>
            <a:ext cx="3143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ight-field-title">
            <a:extLst xmlns:a="http://schemas.openxmlformats.org/drawingml/2006/main">
              <a:ext uri="{FF2B5EF4-FFF2-40B4-BE49-F238E27FC236}">
                <a16:creationId xmlns:a16="http://schemas.microsoft.com/office/drawing/2014/main" id="{3DDE6D18-1BEC-44F9-ABDD-38634144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3335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Crear no es publicar</a:t>
            </a:r>
          </a:p>
        </p:txBody>
      </p:sp>
      <p:sp>
        <p:nvSpPr>
          <p:cNvPr id="9" name="right-field-body">
            <a:extLst xmlns:a="http://schemas.openxmlformats.org/drawingml/2006/main">
              <a:ext uri="{FF2B5EF4-FFF2-40B4-BE49-F238E27FC236}">
                <a16:creationId xmlns:a16="http://schemas.microsoft.com/office/drawing/2014/main" id="{82A0C5BC-7BA3-4638-A9DA-6BF3B943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266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La IA acelera borradores; la calidad final depende de criterio, contexto y revision.</a:t>
            </a:r>
          </a:p>
        </p:txBody>
      </p:sp>
    </p:spTree>
    <p:extLst>
      <p:ext uri="{BB962C8B-B14F-4D97-AF65-F5344CB8AC3E}">
        <p14:creationId xmlns:p14="http://schemas.microsoft.com/office/powerpoint/2010/main" val="328586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7756BFC-7BE2-4D3F-8805-1B5D897C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III - Comunicacion y contenidos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144E2E1-8002-4593-AB7F-B3678F76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02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DEF6A0-8396-429C-9855-93A57721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Ruta de aprendizaje</a:t>
            </a:r>
          </a:p>
        </p:txBody>
      </p:sp>
      <p:sp>
        <p:nvSpPr>
          <p:cNvPr id="4" name="agenda">
            <a:extLst xmlns:a="http://schemas.openxmlformats.org/drawingml/2006/main">
              <a:ext uri="{FF2B5EF4-FFF2-40B4-BE49-F238E27FC236}">
                <a16:creationId xmlns:a16="http://schemas.microsoft.com/office/drawing/2014/main" id="{5876A0B0-41F5-4C7D-9A4F-F5D40220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7200"/>
            <a:ext cx="53340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1. Prompt engineering aplicado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2. Audiencia, tono y canal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3. Storytelling y copywriting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4. Piezas multiformato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5. Riesgos reputacionales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6. Laboratorio de contenido</a:t>
            </a:r>
          </a:p>
        </p:txBody>
      </p:sp>
      <p:sp>
        <p:nvSpPr>
          <p:cNvPr id="5" name="rhythm">
            <a:extLst xmlns:a="http://schemas.openxmlformats.org/drawingml/2006/main">
              <a:ext uri="{FF2B5EF4-FFF2-40B4-BE49-F238E27FC236}">
                <a16:creationId xmlns:a16="http://schemas.microsoft.com/office/drawing/2014/main" id="{DD650EF3-9A1F-4A33-911D-081F5014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Cada bloque combina concepto, demostracion, practica y reflexion.</a:t>
            </a:r>
          </a:p>
        </p:txBody>
      </p:sp>
    </p:spTree>
    <p:extLst>
      <p:ext uri="{BB962C8B-B14F-4D97-AF65-F5344CB8AC3E}">
        <p14:creationId xmlns:p14="http://schemas.microsoft.com/office/powerpoint/2010/main" val="87190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0B9BCEE-9315-48F7-B0D7-15076A09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III - Comunicacion y contenidos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A07577E-2491-4964-8781-8077044B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03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1B1C47-4AD6-4573-B161-C7D3A1EE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Al finalizar podras</a:t>
            </a:r>
          </a:p>
        </p:txBody>
      </p:sp>
      <p:sp>
        <p:nvSpPr>
          <p:cNvPr id="4" name="outcome-box-0">
            <a:extLst xmlns:a="http://schemas.openxmlformats.org/drawingml/2006/main">
              <a:ext uri="{FF2B5EF4-FFF2-40B4-BE49-F238E27FC236}">
                <a16:creationId xmlns:a16="http://schemas.microsoft.com/office/drawing/2014/main" id="{43721C34-5438-4A06-843B-E3EB5EA1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come-num-0">
            <a:extLst xmlns:a="http://schemas.openxmlformats.org/drawingml/2006/main">
              <a:ext uri="{FF2B5EF4-FFF2-40B4-BE49-F238E27FC236}">
                <a16:creationId xmlns:a16="http://schemas.microsoft.com/office/drawing/2014/main" id="{F8E53AA0-E7E6-47D4-96F3-0EA70637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6" name="outcome-0">
            <a:extLst xmlns:a="http://schemas.openxmlformats.org/drawingml/2006/main">
              <a:ext uri="{FF2B5EF4-FFF2-40B4-BE49-F238E27FC236}">
                <a16:creationId xmlns:a16="http://schemas.microsoft.com/office/drawing/2014/main" id="{0B4DDD61-A274-4777-B658-EAF14EF4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Crear mensajes adaptados a audiencia y canal.</a:t>
            </a:r>
          </a:p>
        </p:txBody>
      </p:sp>
      <p:sp>
        <p:nvSpPr>
          <p:cNvPr id="7" name="outcome-box-1">
            <a:extLst xmlns:a="http://schemas.openxmlformats.org/drawingml/2006/main">
              <a:ext uri="{FF2B5EF4-FFF2-40B4-BE49-F238E27FC236}">
                <a16:creationId xmlns:a16="http://schemas.microsoft.com/office/drawing/2014/main" id="{84C9D3BC-38D1-44E6-BBDB-7935D90C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utcome-num-1">
            <a:extLst xmlns:a="http://schemas.openxmlformats.org/drawingml/2006/main">
              <a:ext uri="{FF2B5EF4-FFF2-40B4-BE49-F238E27FC236}">
                <a16:creationId xmlns:a16="http://schemas.microsoft.com/office/drawing/2014/main" id="{0A26C531-1201-4243-B525-5480624D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outcome-1">
            <a:extLst xmlns:a="http://schemas.openxmlformats.org/drawingml/2006/main">
              <a:ext uri="{FF2B5EF4-FFF2-40B4-BE49-F238E27FC236}">
                <a16:creationId xmlns:a16="http://schemas.microsoft.com/office/drawing/2014/main" id="{D41C063B-E028-42E3-B7C2-1A91BA53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Iterar prompts para mejorar calidad.</a:t>
            </a:r>
          </a:p>
        </p:txBody>
      </p:sp>
      <p:sp>
        <p:nvSpPr>
          <p:cNvPr id="10" name="outcome-box-2">
            <a:extLst xmlns:a="http://schemas.openxmlformats.org/drawingml/2006/main">
              <a:ext uri="{FF2B5EF4-FFF2-40B4-BE49-F238E27FC236}">
                <a16:creationId xmlns:a16="http://schemas.microsoft.com/office/drawing/2014/main" id="{6F497536-2DEA-425C-B12F-86924FE4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utcome-num-2">
            <a:extLst xmlns:a="http://schemas.openxmlformats.org/drawingml/2006/main">
              <a:ext uri="{FF2B5EF4-FFF2-40B4-BE49-F238E27FC236}">
                <a16:creationId xmlns:a16="http://schemas.microsoft.com/office/drawing/2014/main" id="{55859290-48C3-4743-9954-17BF13D5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12" name="outcome-2">
            <a:extLst xmlns:a="http://schemas.openxmlformats.org/drawingml/2006/main">
              <a:ext uri="{FF2B5EF4-FFF2-40B4-BE49-F238E27FC236}">
                <a16:creationId xmlns:a16="http://schemas.microsoft.com/office/drawing/2014/main" id="{72CA612A-3F5F-4DA9-AE61-C1B16401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Revisar tono, precision y riesgos.</a:t>
            </a:r>
          </a:p>
        </p:txBody>
      </p:sp>
      <p:sp>
        <p:nvSpPr>
          <p:cNvPr id="13" name="outcome-box-3">
            <a:extLst xmlns:a="http://schemas.openxmlformats.org/drawingml/2006/main">
              <a:ext uri="{FF2B5EF4-FFF2-40B4-BE49-F238E27FC236}">
                <a16:creationId xmlns:a16="http://schemas.microsoft.com/office/drawing/2014/main" id="{A10787E9-9139-4B27-BDAA-57145B6D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utcome-num-3">
            <a:extLst xmlns:a="http://schemas.openxmlformats.org/drawingml/2006/main">
              <a:ext uri="{FF2B5EF4-FFF2-40B4-BE49-F238E27FC236}">
                <a16:creationId xmlns:a16="http://schemas.microsoft.com/office/drawing/2014/main" id="{651CAA6B-3550-47C2-821D-2763DDCA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5" name="outcome-3">
            <a:extLst xmlns:a="http://schemas.openxmlformats.org/drawingml/2006/main">
              <a:ext uri="{FF2B5EF4-FFF2-40B4-BE49-F238E27FC236}">
                <a16:creationId xmlns:a16="http://schemas.microsoft.com/office/drawing/2014/main" id="{5571F825-4195-4C80-BB94-AC057AA0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Preparar un paquete de comunicacion.</a:t>
            </a:r>
          </a:p>
        </p:txBody>
      </p:sp>
      <p:sp>
        <p:nvSpPr>
          <p:cNvPr id="16" name="evidence">
            <a:extLst xmlns:a="http://schemas.openxmlformats.org/drawingml/2006/main">
              <a:ext uri="{FF2B5EF4-FFF2-40B4-BE49-F238E27FC236}">
                <a16:creationId xmlns:a16="http://schemas.microsoft.com/office/drawing/2014/main" id="{BC54E5B0-06EA-4725-9A69-B133B0ED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Evidencia del modulo: paquete de comunicacion con prompts, variantes y version final editada.</a:t>
            </a:r>
          </a:p>
        </p:txBody>
      </p:sp>
    </p:spTree>
    <p:extLst>
      <p:ext uri="{BB962C8B-B14F-4D97-AF65-F5344CB8AC3E}">
        <p14:creationId xmlns:p14="http://schemas.microsoft.com/office/powerpoint/2010/main" val="1568907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5377356-5B35-4088-9990-D5F0A0A3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III - Comunicacion y contenidos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75FFD20-260D-4720-84CD-FF6B8EAD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04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40185D-A077-4AAF-A105-71F7CF3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De instruccion vaga a sistema de comunicacion</a:t>
            </a:r>
          </a:p>
        </p:txBody>
      </p:sp>
      <p:sp>
        <p:nvSpPr>
          <p:cNvPr id="4" name="concept-box-0">
            <a:extLst xmlns:a="http://schemas.openxmlformats.org/drawingml/2006/main">
              <a:ext uri="{FF2B5EF4-FFF2-40B4-BE49-F238E27FC236}">
                <a16:creationId xmlns:a16="http://schemas.microsoft.com/office/drawing/2014/main" id="{2CA8A224-2441-4FD9-9C33-A051A4FC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ncept-title-0">
            <a:extLst xmlns:a="http://schemas.openxmlformats.org/drawingml/2006/main">
              <a:ext uri="{FF2B5EF4-FFF2-40B4-BE49-F238E27FC236}">
                <a16:creationId xmlns:a16="http://schemas.microsoft.com/office/drawing/2014/main" id="{B4141AF3-D4A1-4243-A5BD-A29E8517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Audiencia</a:t>
            </a:r>
          </a:p>
        </p:txBody>
      </p:sp>
      <p:sp>
        <p:nvSpPr>
          <p:cNvPr id="6" name="concept-desc-0">
            <a:extLst xmlns:a="http://schemas.openxmlformats.org/drawingml/2006/main">
              <a:ext uri="{FF2B5EF4-FFF2-40B4-BE49-F238E27FC236}">
                <a16:creationId xmlns:a16="http://schemas.microsoft.com/office/drawing/2014/main" id="{EDD74F9D-092B-45F0-A8FE-3A388074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240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Quien recibe el mensaje, que sabe, que necesita y que objeciones tiene.</a:t>
            </a:r>
          </a:p>
        </p:txBody>
      </p:sp>
      <p:sp>
        <p:nvSpPr>
          <p:cNvPr id="7" name="concept-box-1">
            <a:extLst xmlns:a="http://schemas.openxmlformats.org/drawingml/2006/main">
              <a:ext uri="{FF2B5EF4-FFF2-40B4-BE49-F238E27FC236}">
                <a16:creationId xmlns:a16="http://schemas.microsoft.com/office/drawing/2014/main" id="{56E4E3C9-C0D6-4FF2-BF13-0B9C5EDC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C152332B-0473-4F21-82C3-9C4C6054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Objetivo</a:t>
            </a:r>
          </a:p>
        </p:txBody>
      </p:sp>
      <p:sp>
        <p:nvSpPr>
          <p:cNvPr id="9" name="concept-desc-1">
            <a:extLst xmlns:a="http://schemas.openxmlformats.org/drawingml/2006/main">
              <a:ext uri="{FF2B5EF4-FFF2-40B4-BE49-F238E27FC236}">
                <a16:creationId xmlns:a16="http://schemas.microsoft.com/office/drawing/2014/main" id="{10139A7A-99D0-4EC8-975A-7419DE36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241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Informar, persuadir, convocar, explicar, vender, sensibilizar o rendir cuentas.</a:t>
            </a:r>
          </a:p>
        </p:txBody>
      </p:sp>
      <p:sp>
        <p:nvSpPr>
          <p:cNvPr id="10" name="concept-box-2">
            <a:extLst xmlns:a="http://schemas.openxmlformats.org/drawingml/2006/main">
              <a:ext uri="{FF2B5EF4-FFF2-40B4-BE49-F238E27FC236}">
                <a16:creationId xmlns:a16="http://schemas.microsoft.com/office/drawing/2014/main" id="{627B8B02-1E91-406B-8493-43AB688A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897472C7-3016-47EE-B8A9-CAEA857B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Tono</a:t>
            </a:r>
          </a:p>
        </p:txBody>
      </p:sp>
      <p:sp>
        <p:nvSpPr>
          <p:cNvPr id="12" name="concept-desc-2">
            <a:extLst xmlns:a="http://schemas.openxmlformats.org/drawingml/2006/main">
              <a:ext uri="{FF2B5EF4-FFF2-40B4-BE49-F238E27FC236}">
                <a16:creationId xmlns:a16="http://schemas.microsoft.com/office/drawing/2014/main" id="{B93C6B12-61CE-4DE9-AE71-D4DBC48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242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Formal, cercano, institucional, tecnico, educativo o comercial segun contexto.</a:t>
            </a:r>
          </a:p>
        </p:txBody>
      </p:sp>
      <p:sp>
        <p:nvSpPr>
          <p:cNvPr id="13" name="concept-box-3">
            <a:extLst xmlns:a="http://schemas.openxmlformats.org/drawingml/2006/main">
              <a:ext uri="{FF2B5EF4-FFF2-40B4-BE49-F238E27FC236}">
                <a16:creationId xmlns:a16="http://schemas.microsoft.com/office/drawing/2014/main" id="{770F4937-700A-4AD4-806E-A4F76237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8F972C46-0D06-4F54-A971-408883EA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Canal</a:t>
            </a:r>
          </a:p>
        </p:txBody>
      </p:sp>
      <p:sp>
        <p:nvSpPr>
          <p:cNvPr id="15" name="concept-desc-3">
            <a:extLst xmlns:a="http://schemas.openxmlformats.org/drawingml/2006/main">
              <a:ext uri="{FF2B5EF4-FFF2-40B4-BE49-F238E27FC236}">
                <a16:creationId xmlns:a16="http://schemas.microsoft.com/office/drawing/2014/main" id="{BCBB13D4-A2A2-48EF-A13C-62550BFA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243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Correo, informe, redes, presentacion, video o pieza grafica condicionan formato.</a:t>
            </a:r>
          </a:p>
        </p:txBody>
      </p:sp>
    </p:spTree>
    <p:extLst>
      <p:ext uri="{BB962C8B-B14F-4D97-AF65-F5344CB8AC3E}">
        <p14:creationId xmlns:p14="http://schemas.microsoft.com/office/powerpoint/2010/main" val="1304242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2A968F1-AFF3-409D-B48A-79FDFB8B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III - Comunicacion y contenidos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A45E95F-76EF-4811-AE31-E05C86DC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05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0A7069-E56D-439D-BE05-38586C0F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Ejemplo aplicado: campana interna</a:t>
            </a:r>
          </a:p>
        </p:txBody>
      </p:sp>
      <p:sp>
        <p:nvSpPr>
          <p:cNvPr id="4" name="context-label">
            <a:extLst xmlns:a="http://schemas.openxmlformats.org/drawingml/2006/main">
              <a:ext uri="{FF2B5EF4-FFF2-40B4-BE49-F238E27FC236}">
                <a16:creationId xmlns:a16="http://schemas.microsoft.com/office/drawing/2014/main" id="{0D62BC4C-B135-413F-9C44-1996F243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Contexto</a:t>
            </a:r>
          </a:p>
        </p:txBody>
      </p:sp>
      <p:sp>
        <p:nvSpPr>
          <p:cNvPr id="5" name="context">
            <a:extLst xmlns:a="http://schemas.openxmlformats.org/drawingml/2006/main">
              <a:ext uri="{FF2B5EF4-FFF2-40B4-BE49-F238E27FC236}">
                <a16:creationId xmlns:a16="http://schemas.microsoft.com/office/drawing/2014/main" id="{F33F83A9-F969-480D-B495-BE0F92FC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Una organizacion quiere promover buenas practicas de uso de IA sin sonar prohibitiva ni demasiado tecnica.</a:t>
            </a:r>
          </a:p>
        </p:txBody>
      </p:sp>
      <p:sp>
        <p:nvSpPr>
          <p:cNvPr id="6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46511C15-F936-41BD-BB46-6107621D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81125"/>
            <a:ext cx="5715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60673832-0EA5-441F-AEE4-E32CB35A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14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Como se aplica IA</a:t>
            </a:r>
          </a:p>
        </p:txBody>
      </p:sp>
      <p:sp>
        <p:nvSpPr>
          <p:cNvPr id="8" name="action-list">
            <a:extLst xmlns:a="http://schemas.openxmlformats.org/drawingml/2006/main">
              <a:ext uri="{FF2B5EF4-FFF2-40B4-BE49-F238E27FC236}">
                <a16:creationId xmlns:a16="http://schemas.microsoft.com/office/drawing/2014/main" id="{EAE85B4A-4A53-4DA7-BC1F-10684B65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0505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Definir audiencia: personal administrativo y tecnico.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Crear mensaje central con beneficios y limites.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Adaptar a correo, infografia y post interno.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Revisar riesgos de promesas exageradas.</a:t>
            </a:r>
          </a:p>
        </p:txBody>
      </p:sp>
      <p:sp>
        <p:nvSpPr>
          <p:cNvPr id="9" name="result">
            <a:extLst xmlns:a="http://schemas.openxmlformats.org/drawingml/2006/main">
              <a:ext uri="{FF2B5EF4-FFF2-40B4-BE49-F238E27FC236}">
                <a16:creationId xmlns:a16="http://schemas.microsoft.com/office/drawing/2014/main" id="{EE0A3D2B-36D2-4C43-922F-50A5A8F2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Resultado esperado: comunicacion clara, accionable y alineada con politicas internas.</a:t>
            </a:r>
          </a:p>
        </p:txBody>
      </p:sp>
    </p:spTree>
    <p:extLst>
      <p:ext uri="{BB962C8B-B14F-4D97-AF65-F5344CB8AC3E}">
        <p14:creationId xmlns:p14="http://schemas.microsoft.com/office/powerpoint/2010/main" val="6070744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88EFD29-F825-4639-93CB-A961B951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III - Comunicacion y contenidos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D960827-2380-4A06-8D89-F18F00B1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06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FB1499-7006-477D-8708-6DAA47A9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Proceso editorial asistido por IA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84DEA271-267C-458C-AEF8-95017664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5" name="step-rule-0">
            <a:extLst xmlns:a="http://schemas.openxmlformats.org/drawingml/2006/main">
              <a:ext uri="{FF2B5EF4-FFF2-40B4-BE49-F238E27FC236}">
                <a16:creationId xmlns:a16="http://schemas.microsoft.com/office/drawing/2014/main" id="{A6B3379E-6665-4A13-BB14-CC5DA8C6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01D6B86C-C690-418C-89D4-5690B5F7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Brief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439B01AE-D9A4-488A-860F-E8B5C588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Objetivo, audiencia, canal, tono, mensaje y restricciones.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27CF98AB-D5FA-488A-91E7-4D972068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9" name="step-rule-1">
            <a:extLst xmlns:a="http://schemas.openxmlformats.org/drawingml/2006/main">
              <a:ext uri="{FF2B5EF4-FFF2-40B4-BE49-F238E27FC236}">
                <a16:creationId xmlns:a16="http://schemas.microsoft.com/office/drawing/2014/main" id="{074F5578-4B0A-4A8D-ADF9-F78E027A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09EB572C-47FD-4292-B3A7-E6DC3E6D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Borrador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02081042-6F33-4DBB-A49B-8552EA32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Generar variantes y pedir explicacion de decisiones.</a:t>
            </a:r>
          </a:p>
        </p:txBody>
      </p:sp>
      <p:sp>
        <p:nvSpPr>
          <p:cNvPr id="1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28DC931B-1457-4FAF-A1A8-D28F56B9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step-rule-2">
            <a:extLst xmlns:a="http://schemas.openxmlformats.org/drawingml/2006/main">
              <a:ext uri="{FF2B5EF4-FFF2-40B4-BE49-F238E27FC236}">
                <a16:creationId xmlns:a16="http://schemas.microsoft.com/office/drawing/2014/main" id="{6843ADCD-B89B-4A94-BAEB-3B8FB127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10CE3442-61D6-4AE1-A433-8E6CAEDF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Edicion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8025A3D-9841-4361-87B5-B4BBBE0A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Recortar, ajustar tono, validar datos y mejorar claridad.</a:t>
            </a:r>
          </a:p>
        </p:txBody>
      </p:sp>
      <p:sp>
        <p:nvSpPr>
          <p:cNvPr id="16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D624AB9B-02C6-42F4-8C9F-8D4EDE07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7" name="step-rule-3">
            <a:extLst xmlns:a="http://schemas.openxmlformats.org/drawingml/2006/main">
              <a:ext uri="{FF2B5EF4-FFF2-40B4-BE49-F238E27FC236}">
                <a16:creationId xmlns:a16="http://schemas.microsoft.com/office/drawing/2014/main" id="{A3B5C49C-A90D-49B0-A3D1-930FC5A7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C5FFCD73-5034-465B-B730-3CE2911F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Publicacion</a:t>
            </a:r>
          </a:p>
        </p:txBody>
      </p:sp>
      <p:sp>
        <p:nvSpPr>
          <p:cNvPr id="19" name="step-body-3">
            <a:extLst xmlns:a="http://schemas.openxmlformats.org/drawingml/2006/main">
              <a:ext uri="{FF2B5EF4-FFF2-40B4-BE49-F238E27FC236}">
                <a16:creationId xmlns:a16="http://schemas.microsoft.com/office/drawing/2014/main" id="{1B0C0D1D-03C2-4119-A9BC-421F370B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Aprobar, adaptar formatos y medir respuesta.</a:t>
            </a:r>
          </a:p>
        </p:txBody>
      </p:sp>
      <p:sp>
        <p:nvSpPr>
          <p:cNvPr id="20" name="control">
            <a:extLst xmlns:a="http://schemas.openxmlformats.org/drawingml/2006/main">
              <a:ext uri="{FF2B5EF4-FFF2-40B4-BE49-F238E27FC236}">
                <a16:creationId xmlns:a16="http://schemas.microsoft.com/office/drawing/2014/main" id="{D52409C5-7D36-4F04-BBCA-D8DC5476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Regla practica: la IA propone; la marca, la institucion o el profesional decide.</a:t>
            </a:r>
          </a:p>
        </p:txBody>
      </p:sp>
    </p:spTree>
    <p:extLst>
      <p:ext uri="{BB962C8B-B14F-4D97-AF65-F5344CB8AC3E}">
        <p14:creationId xmlns:p14="http://schemas.microsoft.com/office/powerpoint/2010/main" val="14028442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46AB8F6-B93C-443F-9236-B5284D0E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III - Comunicacion y contenidos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23D3C63-6EFF-4CDC-B9CD-A2B038CC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07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C4A0F0-0725-4624-89CB-B048ACF9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Prompt de practica</a:t>
            </a:r>
          </a:p>
        </p:txBody>
      </p:sp>
      <p:sp>
        <p:nvSpPr>
          <p:cNvPr id="4" name="prompt-panel">
            <a:extLst xmlns:a="http://schemas.openxmlformats.org/drawingml/2006/main">
              <a:ext uri="{FF2B5EF4-FFF2-40B4-BE49-F238E27FC236}">
                <a16:creationId xmlns:a16="http://schemas.microsoft.com/office/drawing/2014/main" id="{7317FCB7-E24F-4D5E-9085-005EA062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6858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F71F35B5-54B2-465D-8494-63A4F75B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1436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Actua como estratega de comunicacion institucional. Crea tres versiones de un mensaje para [audiencia] con el objetivo de [objetivo]. El tono debe ser [tono]. Evita exageraciones, promesas no verificables y lenguaje tecnico innecesario.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Informacion base: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[pegar informacion]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Incluye version breve, extendida, redes sociales y riesgos de interpretacion.</a:t>
            </a:r>
          </a:p>
        </p:txBody>
      </p:sp>
      <p:sp>
        <p:nvSpPr>
          <p:cNvPr id="6" name="checks-title">
            <a:extLst xmlns:a="http://schemas.openxmlformats.org/drawingml/2006/main">
              <a:ext uri="{FF2B5EF4-FFF2-40B4-BE49-F238E27FC236}">
                <a16:creationId xmlns:a16="http://schemas.microsoft.com/office/drawing/2014/main" id="{A9949AAB-5B29-448A-A4F7-77004E13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Criterios de revision</a:t>
            </a:r>
          </a:p>
        </p:txBody>
      </p:sp>
      <p:sp>
        <p:nvSpPr>
          <p:cNvPr id="7" name="checks">
            <a:extLst xmlns:a="http://schemas.openxmlformats.org/drawingml/2006/main">
              <a:ext uri="{FF2B5EF4-FFF2-40B4-BE49-F238E27FC236}">
                <a16:creationId xmlns:a16="http://schemas.microsoft.com/office/drawing/2014/main" id="{C6D4BF10-C01A-40CF-8F37-E0CE0197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Incluye audiencia y objetivo.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Define tono y restricciones.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Pide varias versiones.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Solicita riesgos antes de publicar.</a:t>
            </a:r>
          </a:p>
        </p:txBody>
      </p:sp>
      <p:sp>
        <p:nvSpPr>
          <p:cNvPr id="8" name="tip">
            <a:extLst xmlns:a="http://schemas.openxmlformats.org/drawingml/2006/main">
              <a:ext uri="{FF2B5EF4-FFF2-40B4-BE49-F238E27FC236}">
                <a16:creationId xmlns:a16="http://schemas.microsoft.com/office/drawing/2014/main" id="{7F2B16CE-7F19-4F63-A72D-8FFDCAC0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8630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Un buen brief vale mas que diez retoques.</a:t>
            </a:r>
          </a:p>
        </p:txBody>
      </p:sp>
    </p:spTree>
    <p:extLst>
      <p:ext uri="{BB962C8B-B14F-4D97-AF65-F5344CB8AC3E}">
        <p14:creationId xmlns:p14="http://schemas.microsoft.com/office/powerpoint/2010/main" val="1836704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79D97B1-B72B-40A3-9851-65B55960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III - Comunicacion y contenidos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2E107C0-45A8-400F-AFCE-CD0AC869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08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83CAAD-70E5-40A7-98BF-4A153866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Practica: paquete de comunicacion</a:t>
            </a:r>
          </a:p>
        </p:txBody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E7994AD8-26D5-4C03-8C7D-3310D0D6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Crear mensajes coherentes para distintos canales desde un mismo objetivo.</a:t>
            </a:r>
          </a:p>
        </p:txBody>
      </p:sp>
      <p:sp>
        <p:nvSpPr>
          <p:cNvPr id="5" name="practice-num-0">
            <a:extLst xmlns:a="http://schemas.openxmlformats.org/drawingml/2006/main">
              <a:ext uri="{FF2B5EF4-FFF2-40B4-BE49-F238E27FC236}">
                <a16:creationId xmlns:a16="http://schemas.microsoft.com/office/drawing/2014/main" id="{F44DEB5D-FEF2-4FE8-8451-8D4AD2E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actice-num-text-0">
            <a:extLst xmlns:a="http://schemas.openxmlformats.org/drawingml/2006/main">
              <a:ext uri="{FF2B5EF4-FFF2-40B4-BE49-F238E27FC236}">
                <a16:creationId xmlns:a16="http://schemas.microsoft.com/office/drawing/2014/main" id="{036C2084-F425-4DCF-A7E4-9BE681EA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02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practice-step-0">
            <a:extLst xmlns:a="http://schemas.openxmlformats.org/drawingml/2006/main">
              <a:ext uri="{FF2B5EF4-FFF2-40B4-BE49-F238E27FC236}">
                <a16:creationId xmlns:a16="http://schemas.microsoft.com/office/drawing/2014/main" id="{C62C9FED-8F37-4052-ACAB-CB1063C1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812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Definir audiencia, objetivo, tono y canal.</a:t>
            </a:r>
          </a:p>
        </p:txBody>
      </p:sp>
      <p:sp>
        <p:nvSpPr>
          <p:cNvPr id="8" name="practice-num-1">
            <a:extLst xmlns:a="http://schemas.openxmlformats.org/drawingml/2006/main">
              <a:ext uri="{FF2B5EF4-FFF2-40B4-BE49-F238E27FC236}">
                <a16:creationId xmlns:a16="http://schemas.microsoft.com/office/drawing/2014/main" id="{7AE8D301-0C05-4521-9E2E-73B0F9C2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90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actice-num-text-1">
            <a:extLst xmlns:a="http://schemas.openxmlformats.org/drawingml/2006/main">
              <a:ext uri="{FF2B5EF4-FFF2-40B4-BE49-F238E27FC236}">
                <a16:creationId xmlns:a16="http://schemas.microsoft.com/office/drawing/2014/main" id="{3BA2ADEF-3D6F-4445-BC3A-0FF09E55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479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practice-step-1">
            <a:extLst xmlns:a="http://schemas.openxmlformats.org/drawingml/2006/main">
              <a:ext uri="{FF2B5EF4-FFF2-40B4-BE49-F238E27FC236}">
                <a16:creationId xmlns:a16="http://schemas.microsoft.com/office/drawing/2014/main" id="{06FDA2A1-BE33-4BDE-8B67-4AB9B436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289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Generar tres variantes con IA.</a:t>
            </a:r>
          </a:p>
        </p:txBody>
      </p:sp>
      <p:sp>
        <p:nvSpPr>
          <p:cNvPr id="11" name="practice-num-2">
            <a:extLst xmlns:a="http://schemas.openxmlformats.org/drawingml/2006/main">
              <a:ext uri="{FF2B5EF4-FFF2-40B4-BE49-F238E27FC236}">
                <a16:creationId xmlns:a16="http://schemas.microsoft.com/office/drawing/2014/main" id="{FDD43B99-E16B-4E2E-8AE7-24AB7AFC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38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actice-num-text-2">
            <a:extLst xmlns:a="http://schemas.openxmlformats.org/drawingml/2006/main">
              <a:ext uri="{FF2B5EF4-FFF2-40B4-BE49-F238E27FC236}">
                <a16:creationId xmlns:a16="http://schemas.microsoft.com/office/drawing/2014/main" id="{97671F49-ADE8-4D0A-97C1-71E7A24F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practice-step-2">
            <a:extLst xmlns:a="http://schemas.openxmlformats.org/drawingml/2006/main">
              <a:ext uri="{FF2B5EF4-FFF2-40B4-BE49-F238E27FC236}">
                <a16:creationId xmlns:a16="http://schemas.microsoft.com/office/drawing/2014/main" id="{9F42FD42-EC91-4535-968B-F2925C1A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766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Evaluar claridad, precision, sesgo y riesgo reputacional.</a:t>
            </a:r>
          </a:p>
        </p:txBody>
      </p:sp>
      <p:sp>
        <p:nvSpPr>
          <p:cNvPr id="14" name="practice-num-3">
            <a:extLst xmlns:a="http://schemas.openxmlformats.org/drawingml/2006/main">
              <a:ext uri="{FF2B5EF4-FFF2-40B4-BE49-F238E27FC236}">
                <a16:creationId xmlns:a16="http://schemas.microsoft.com/office/drawing/2014/main" id="{A02126AD-4BAC-431A-A82A-6232E6D4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862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actice-num-text-3">
            <a:extLst xmlns:a="http://schemas.openxmlformats.org/drawingml/2006/main">
              <a:ext uri="{FF2B5EF4-FFF2-40B4-BE49-F238E27FC236}">
                <a16:creationId xmlns:a16="http://schemas.microsoft.com/office/drawing/2014/main" id="{AC515686-E7B4-4A76-A64E-696C86FE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practice-step-3">
            <a:extLst xmlns:a="http://schemas.openxmlformats.org/drawingml/2006/main">
              <a:ext uri="{FF2B5EF4-FFF2-40B4-BE49-F238E27FC236}">
                <a16:creationId xmlns:a16="http://schemas.microsoft.com/office/drawing/2014/main" id="{D82E888D-3685-4A7E-B0B1-C0926848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243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Editar una version final lista para revision.</a:t>
            </a:r>
          </a:p>
        </p:txBody>
      </p:sp>
      <p:sp>
        <p:nvSpPr>
          <p:cNvPr id="17" name="deliverable-panel">
            <a:extLst xmlns:a="http://schemas.openxmlformats.org/drawingml/2006/main">
              <a:ext uri="{FF2B5EF4-FFF2-40B4-BE49-F238E27FC236}">
                <a16:creationId xmlns:a16="http://schemas.microsoft.com/office/drawing/2014/main" id="{3218CF05-EA11-4398-91CA-7AF74E00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liverable-label">
            <a:extLst xmlns:a="http://schemas.openxmlformats.org/drawingml/2006/main">
              <a:ext uri="{FF2B5EF4-FFF2-40B4-BE49-F238E27FC236}">
                <a16:creationId xmlns:a16="http://schemas.microsoft.com/office/drawing/2014/main" id="{523D826C-09C4-45EC-8135-8D66D5E4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81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Entregable</a:t>
            </a:r>
          </a:p>
        </p:txBody>
      </p:sp>
      <p:sp>
        <p:nvSpPr>
          <p:cNvPr id="19" name="deliverable">
            <a:extLst xmlns:a="http://schemas.openxmlformats.org/drawingml/2006/main">
              <a:ext uri="{FF2B5EF4-FFF2-40B4-BE49-F238E27FC236}">
                <a16:creationId xmlns:a16="http://schemas.microsoft.com/office/drawing/2014/main" id="{52A00B61-ED3D-46DA-B554-1BED82D3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Paquete con prompt, variantes y version final.</a:t>
            </a:r>
          </a:p>
        </p:txBody>
      </p:sp>
    </p:spTree>
    <p:extLst>
      <p:ext uri="{BB962C8B-B14F-4D97-AF65-F5344CB8AC3E}">
        <p14:creationId xmlns:p14="http://schemas.microsoft.com/office/powerpoint/2010/main" val="515734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C10EC1A-101B-49CF-8C75-E273AD09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III - Comunicacion y contenidos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F75ACA6-4860-4789-9974-1D18661C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09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BD7D2C-8355-4E83-9C44-7136E7C5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Adaptacion por canal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1057275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11329"/>
                <a:gridCol w="1854868"/>
                <a:gridCol w="4080711"/>
                <a:gridCol w="2225842"/>
              </a:tblGrid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Canal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Extension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Clave de calidad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Riesgo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Correo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Media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Asunto claro y llamado a accion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Ambiguedad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Red social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Breve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Gancho y claridad inmediata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Exageracion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Informe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Larga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Evidencia y estructura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Datos no verificados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Presentacion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Sintetica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Mensaje visual por slide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Saturacion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able-note">
            <a:extLst xmlns:a="http://schemas.openxmlformats.org/drawingml/2006/main">
              <a:ext uri="{FF2B5EF4-FFF2-40B4-BE49-F238E27FC236}">
                <a16:creationId xmlns:a16="http://schemas.microsoft.com/office/drawing/2014/main" id="{C5B9E7B4-0D28-4832-8370-E14E510B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El mismo mensaje debe cambiar de forma sin cambiar de fondo.</a:t>
            </a:r>
          </a:p>
        </p:txBody>
      </p:sp>
    </p:spTree>
    <p:extLst>
      <p:ext uri="{BB962C8B-B14F-4D97-AF65-F5344CB8AC3E}">
        <p14:creationId xmlns:p14="http://schemas.microsoft.com/office/powerpoint/2010/main" val="13916437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BA23B39-0319-49B6-846B-4D00CFED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III - Comunicacion y contenidos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4110599-9CDC-4195-A8D5-3F3F673E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10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FCE53D-C2A1-4FB0-8A01-D9B32062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Calidad percibida por iteracion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6762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87959f3ab24e1a"/>
          </a:graphicData>
        </a:graphic>
      </p:graphicFrame>
      <p:sp>
        <p:nvSpPr>
          <p:cNvPr id="5" name="chart-insight-title">
            <a:extLst xmlns:a="http://schemas.openxmlformats.org/drawingml/2006/main">
              <a:ext uri="{FF2B5EF4-FFF2-40B4-BE49-F238E27FC236}">
                <a16:creationId xmlns:a16="http://schemas.microsoft.com/office/drawing/2014/main" id="{19EE1102-2CC7-4BBC-A2DC-3C6E8890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Lectura ejecutiva</a:t>
            </a:r>
          </a:p>
        </p:txBody>
      </p:sp>
      <p:sp>
        <p:nvSpPr>
          <p:cNvPr id="6" name="chart-insight">
            <a:extLst xmlns:a="http://schemas.openxmlformats.org/drawingml/2006/main">
              <a:ext uri="{FF2B5EF4-FFF2-40B4-BE49-F238E27FC236}">
                <a16:creationId xmlns:a16="http://schemas.microsoft.com/office/drawing/2014/main" id="{0B532363-E00C-4A08-BD7F-AB0003E0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La calidad sube cuando el prompt gana contexto.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La revision humana aporta el salto final.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Riesgos reducen mensajes imprudentes.</a:t>
            </a:r>
          </a:p>
        </p:txBody>
      </p:sp>
      <p:sp>
        <p:nvSpPr>
          <p:cNvPr id="7" name="chart-warning">
            <a:extLst xmlns:a="http://schemas.openxmlformats.org/drawingml/2006/main">
              <a:ext uri="{FF2B5EF4-FFF2-40B4-BE49-F238E27FC236}">
                <a16:creationId xmlns:a16="http://schemas.microsoft.com/office/drawing/2014/main" id="{12CD5AF4-AFE8-45CF-BBA9-A1087C24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48200"/>
            <a:ext cx="325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No publique una salida sin revisar hechos y tono.</a:t>
            </a:r>
          </a:p>
        </p:txBody>
      </p:sp>
    </p:spTree>
    <p:extLst>
      <p:ext uri="{BB962C8B-B14F-4D97-AF65-F5344CB8AC3E}">
        <p14:creationId xmlns:p14="http://schemas.microsoft.com/office/powerpoint/2010/main" val="20230866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E34D6F9-DC36-4D2C-8EF9-CC56A48A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III - Comunicacion y contenidos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84D7AD1-05C8-49D8-A0E2-6F0CC88A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11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C3A7D1-7682-406A-A52B-3306E4DB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Checklist editorial</a:t>
            </a:r>
          </a:p>
        </p:txBody>
      </p:sp>
      <p:sp>
        <p:nvSpPr>
          <p:cNvPr id="4" name="check-box-0">
            <a:extLst xmlns:a="http://schemas.openxmlformats.org/drawingml/2006/main">
              <a:ext uri="{FF2B5EF4-FFF2-40B4-BE49-F238E27FC236}">
                <a16:creationId xmlns:a16="http://schemas.microsoft.com/office/drawing/2014/main" id="{1C0E5862-D954-430C-BC53-0667B707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heck-title-0">
            <a:extLst xmlns:a="http://schemas.openxmlformats.org/drawingml/2006/main">
              <a:ext uri="{FF2B5EF4-FFF2-40B4-BE49-F238E27FC236}">
                <a16:creationId xmlns:a16="http://schemas.microsoft.com/office/drawing/2014/main" id="{CB9FA3EA-64A3-4C55-8225-200964D5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Claridad</a:t>
            </a:r>
          </a:p>
        </p:txBody>
      </p:sp>
      <p:sp>
        <p:nvSpPr>
          <p:cNvPr id="6" name="check-body-0">
            <a:extLst xmlns:a="http://schemas.openxmlformats.org/drawingml/2006/main">
              <a:ext uri="{FF2B5EF4-FFF2-40B4-BE49-F238E27FC236}">
                <a16:creationId xmlns:a16="http://schemas.microsoft.com/office/drawing/2014/main" id="{525DCFBB-69BF-444C-A104-53EF1245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El mensaje principal se entiende en una lectura.</a:t>
            </a:r>
          </a:p>
        </p:txBody>
      </p:sp>
      <p:sp>
        <p:nvSpPr>
          <p:cNvPr id="7" name="check-box-1">
            <a:extLst xmlns:a="http://schemas.openxmlformats.org/drawingml/2006/main">
              <a:ext uri="{FF2B5EF4-FFF2-40B4-BE49-F238E27FC236}">
                <a16:creationId xmlns:a16="http://schemas.microsoft.com/office/drawing/2014/main" id="{5EE69D0B-54A6-4D8A-8BC1-9C694BBB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eck-title-1">
            <a:extLst xmlns:a="http://schemas.openxmlformats.org/drawingml/2006/main">
              <a:ext uri="{FF2B5EF4-FFF2-40B4-BE49-F238E27FC236}">
                <a16:creationId xmlns:a16="http://schemas.microsoft.com/office/drawing/2014/main" id="{25783C09-F423-4BF6-8D0D-E50EF816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Audiencia</a:t>
            </a:r>
          </a:p>
        </p:txBody>
      </p:sp>
      <p:sp>
        <p:nvSpPr>
          <p:cNvPr id="9" name="check-body-1">
            <a:extLst xmlns:a="http://schemas.openxmlformats.org/drawingml/2006/main">
              <a:ext uri="{FF2B5EF4-FFF2-40B4-BE49-F238E27FC236}">
                <a16:creationId xmlns:a16="http://schemas.microsoft.com/office/drawing/2014/main" id="{ED834CEC-CF8D-47AC-8EB5-0DEB8641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478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El lenguaje se ajusta al conocimiento del receptor.</a:t>
            </a:r>
          </a:p>
        </p:txBody>
      </p:sp>
      <p:sp>
        <p:nvSpPr>
          <p:cNvPr id="10" name="check-box-2">
            <a:extLst xmlns:a="http://schemas.openxmlformats.org/drawingml/2006/main">
              <a:ext uri="{FF2B5EF4-FFF2-40B4-BE49-F238E27FC236}">
                <a16:creationId xmlns:a16="http://schemas.microsoft.com/office/drawing/2014/main" id="{ED363081-1779-4B95-833F-B69ABDB1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eck-title-2">
            <a:extLst xmlns:a="http://schemas.openxmlformats.org/drawingml/2006/main">
              <a:ext uri="{FF2B5EF4-FFF2-40B4-BE49-F238E27FC236}">
                <a16:creationId xmlns:a16="http://schemas.microsoft.com/office/drawing/2014/main" id="{2A904583-FC05-4710-B6EE-04C0C049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Veracidad</a:t>
            </a:r>
          </a:p>
        </p:txBody>
      </p:sp>
      <p:sp>
        <p:nvSpPr>
          <p:cNvPr id="12" name="check-body-2">
            <a:extLst xmlns:a="http://schemas.openxmlformats.org/drawingml/2006/main">
              <a:ext uri="{FF2B5EF4-FFF2-40B4-BE49-F238E27FC236}">
                <a16:creationId xmlns:a16="http://schemas.microsoft.com/office/drawing/2014/main" id="{881F46B8-1ED5-465F-A25F-3CF097F1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Cifras, fechas y promesas estan verificadas.</a:t>
            </a:r>
          </a:p>
        </p:txBody>
      </p:sp>
      <p:sp>
        <p:nvSpPr>
          <p:cNvPr id="13" name="check-box-3">
            <a:extLst xmlns:a="http://schemas.openxmlformats.org/drawingml/2006/main">
              <a:ext uri="{FF2B5EF4-FFF2-40B4-BE49-F238E27FC236}">
                <a16:creationId xmlns:a16="http://schemas.microsoft.com/office/drawing/2014/main" id="{23B04D7E-1F52-4B43-88B7-C7174B25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-title-3">
            <a:extLst xmlns:a="http://schemas.openxmlformats.org/drawingml/2006/main">
              <a:ext uri="{FF2B5EF4-FFF2-40B4-BE49-F238E27FC236}">
                <a16:creationId xmlns:a16="http://schemas.microsoft.com/office/drawing/2014/main" id="{224B6762-0798-4C25-B19A-7ED8C05D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76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Tono</a:t>
            </a:r>
          </a:p>
        </p:txBody>
      </p:sp>
      <p:sp>
        <p:nvSpPr>
          <p:cNvPr id="15" name="check-body-3">
            <a:extLst xmlns:a="http://schemas.openxmlformats.org/drawingml/2006/main">
              <a:ext uri="{FF2B5EF4-FFF2-40B4-BE49-F238E27FC236}">
                <a16:creationId xmlns:a16="http://schemas.microsoft.com/office/drawing/2014/main" id="{11F5E2F7-6803-4C36-BAE5-C553F4EC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146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No contradice marca, institucion o contexto.</a:t>
            </a:r>
          </a:p>
        </p:txBody>
      </p:sp>
      <p:sp>
        <p:nvSpPr>
          <p:cNvPr id="16" name="check-box-4">
            <a:extLst xmlns:a="http://schemas.openxmlformats.org/drawingml/2006/main">
              <a:ext uri="{FF2B5EF4-FFF2-40B4-BE49-F238E27FC236}">
                <a16:creationId xmlns:a16="http://schemas.microsoft.com/office/drawing/2014/main" id="{A5739D07-5747-4529-907D-6083A89B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heck-title-4">
            <a:extLst xmlns:a="http://schemas.openxmlformats.org/drawingml/2006/main">
              <a:ext uri="{FF2B5EF4-FFF2-40B4-BE49-F238E27FC236}">
                <a16:creationId xmlns:a16="http://schemas.microsoft.com/office/drawing/2014/main" id="{61A80045-EA95-41B3-943B-FC3B4C89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Accion</a:t>
            </a:r>
          </a:p>
        </p:txBody>
      </p:sp>
      <p:sp>
        <p:nvSpPr>
          <p:cNvPr id="18" name="check-body-4">
            <a:extLst xmlns:a="http://schemas.openxmlformats.org/drawingml/2006/main">
              <a:ext uri="{FF2B5EF4-FFF2-40B4-BE49-F238E27FC236}">
                <a16:creationId xmlns:a16="http://schemas.microsoft.com/office/drawing/2014/main" id="{05744D19-AD6E-4CAF-BDB6-6D3D1E80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El lector sabe que hacer despues.</a:t>
            </a:r>
          </a:p>
        </p:txBody>
      </p:sp>
      <p:sp>
        <p:nvSpPr>
          <p:cNvPr id="19" name="check-box-5">
            <a:extLst xmlns:a="http://schemas.openxmlformats.org/drawingml/2006/main">
              <a:ext uri="{FF2B5EF4-FFF2-40B4-BE49-F238E27FC236}">
                <a16:creationId xmlns:a16="http://schemas.microsoft.com/office/drawing/2014/main" id="{3359D879-AF22-437A-AED5-0C689A2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-title-5">
            <a:extLst xmlns:a="http://schemas.openxmlformats.org/drawingml/2006/main">
              <a:ext uri="{FF2B5EF4-FFF2-40B4-BE49-F238E27FC236}">
                <a16:creationId xmlns:a16="http://schemas.microsoft.com/office/drawing/2014/main" id="{1D5A722B-93F6-4959-A731-1BA477D2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43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Riesgo</a:t>
            </a:r>
          </a:p>
        </p:txBody>
      </p:sp>
      <p:sp>
        <p:nvSpPr>
          <p:cNvPr id="21" name="check-body-5">
            <a:extLst xmlns:a="http://schemas.openxmlformats.org/drawingml/2006/main">
              <a:ext uri="{FF2B5EF4-FFF2-40B4-BE49-F238E27FC236}">
                <a16:creationId xmlns:a16="http://schemas.microsoft.com/office/drawing/2014/main" id="{2CA8724B-C033-4F35-9444-AA56F5CB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Se revisaron sesgos, exageraciones y malinterpretaciones.</a:t>
            </a:r>
          </a:p>
        </p:txBody>
      </p:sp>
    </p:spTree>
    <p:extLst>
      <p:ext uri="{BB962C8B-B14F-4D97-AF65-F5344CB8AC3E}">
        <p14:creationId xmlns:p14="http://schemas.microsoft.com/office/powerpoint/2010/main" val="840085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F7E8222-2759-48B3-9A01-6922C154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III - Comunicacion y contenidos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36E29F5-D5D3-46D5-B86A-CBA69FDD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12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35286C-8A21-4D01-8103-8E64C467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Errores frecuentes</a:t>
            </a:r>
          </a:p>
        </p:txBody>
      </p:sp>
      <p:sp>
        <p:nvSpPr>
          <p:cNvPr id="4" name="mistake-number-0">
            <a:extLst xmlns:a="http://schemas.openxmlformats.org/drawingml/2006/main">
              <a:ext uri="{FF2B5EF4-FFF2-40B4-BE49-F238E27FC236}">
                <a16:creationId xmlns:a16="http://schemas.microsoft.com/office/drawing/2014/main" id="{D5F3570D-7FA7-4BB4-AF4E-6EC854A2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mistake-title-0">
            <a:extLst xmlns:a="http://schemas.openxmlformats.org/drawingml/2006/main">
              <a:ext uri="{FF2B5EF4-FFF2-40B4-BE49-F238E27FC236}">
                <a16:creationId xmlns:a16="http://schemas.microsoft.com/office/drawing/2014/main" id="{F309FBE8-8399-4CFA-B08F-750D9D86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Publicar el primer borrador</a:t>
            </a:r>
          </a:p>
        </p:txBody>
      </p:sp>
      <p:sp>
        <p:nvSpPr>
          <p:cNvPr id="6" name="mistake-fix-0">
            <a:extLst xmlns:a="http://schemas.openxmlformats.org/drawingml/2006/main">
              <a:ext uri="{FF2B5EF4-FFF2-40B4-BE49-F238E27FC236}">
                <a16:creationId xmlns:a16="http://schemas.microsoft.com/office/drawing/2014/main" id="{781B9757-BD9B-42C0-90DA-F58395A2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Trate la salida como materia prima, no como pieza final.</a:t>
            </a:r>
          </a:p>
        </p:txBody>
      </p:sp>
      <p:sp>
        <p:nvSpPr>
          <p:cNvPr id="7" name="mistake-number-1">
            <a:extLst xmlns:a="http://schemas.openxmlformats.org/drawingml/2006/main">
              <a:ext uri="{FF2B5EF4-FFF2-40B4-BE49-F238E27FC236}">
                <a16:creationId xmlns:a16="http://schemas.microsoft.com/office/drawing/2014/main" id="{D0619AA0-045D-493C-B918-47ED515B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8" name="mistake-title-1">
            <a:extLst xmlns:a="http://schemas.openxmlformats.org/drawingml/2006/main">
              <a:ext uri="{FF2B5EF4-FFF2-40B4-BE49-F238E27FC236}">
                <a16:creationId xmlns:a16="http://schemas.microsoft.com/office/drawing/2014/main" id="{60E21478-E803-4B82-B9B9-2659055B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No definir audiencia</a:t>
            </a:r>
          </a:p>
        </p:txBody>
      </p:sp>
      <p:sp>
        <p:nvSpPr>
          <p:cNvPr id="9" name="mistake-fix-1">
            <a:extLst xmlns:a="http://schemas.openxmlformats.org/drawingml/2006/main">
              <a:ext uri="{FF2B5EF4-FFF2-40B4-BE49-F238E27FC236}">
                <a16:creationId xmlns:a16="http://schemas.microsoft.com/office/drawing/2014/main" id="{D0AFC38B-2581-4D1E-B408-3FFD49ED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Sin audiencia, el modelo produce texto generico.</a:t>
            </a:r>
          </a:p>
        </p:txBody>
      </p:sp>
      <p:sp>
        <p:nvSpPr>
          <p:cNvPr id="10" name="mistake-number-2">
            <a:extLst xmlns:a="http://schemas.openxmlformats.org/drawingml/2006/main">
              <a:ext uri="{FF2B5EF4-FFF2-40B4-BE49-F238E27FC236}">
                <a16:creationId xmlns:a16="http://schemas.microsoft.com/office/drawing/2014/main" id="{0B533815-804E-4A34-AAD9-FBFCDCE7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1" name="mistake-title-2">
            <a:extLst xmlns:a="http://schemas.openxmlformats.org/drawingml/2006/main">
              <a:ext uri="{FF2B5EF4-FFF2-40B4-BE49-F238E27FC236}">
                <a16:creationId xmlns:a16="http://schemas.microsoft.com/office/drawing/2014/main" id="{1D5EE744-1F15-4D66-A95B-74AE6D6E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Prometer demasiado</a:t>
            </a:r>
          </a:p>
        </p:txBody>
      </p:sp>
      <p:sp>
        <p:nvSpPr>
          <p:cNvPr id="12" name="mistake-fix-2">
            <a:extLst xmlns:a="http://schemas.openxmlformats.org/drawingml/2006/main">
              <a:ext uri="{FF2B5EF4-FFF2-40B4-BE49-F238E27FC236}">
                <a16:creationId xmlns:a16="http://schemas.microsoft.com/office/drawing/2014/main" id="{2AEE1253-E758-4898-BAD2-191E68BA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Pida explicitamente evitar afirmaciones no verificables.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E48C46C1-BEA0-49BC-ADFC-9D298036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La meta no es usar IA en todo: es usarla donde mejora una decision, un proceso o una entrega.</a:t>
            </a:r>
          </a:p>
        </p:txBody>
      </p:sp>
    </p:spTree>
    <p:extLst>
      <p:ext uri="{BB962C8B-B14F-4D97-AF65-F5344CB8AC3E}">
        <p14:creationId xmlns:p14="http://schemas.microsoft.com/office/powerpoint/2010/main" val="16563425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D219684-300D-4F41-9711-520B2D22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III - Comunicacion y contenidos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D9723AD-8D82-4628-B094-1484AF9D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13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5EF096-D5DA-493F-A0F4-6C5BFE9B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Cierre del modulo</a:t>
            </a:r>
          </a:p>
        </p:txBody>
      </p:sp>
      <p:sp>
        <p:nvSpPr>
          <p:cNvPr id="4" name="next">
            <a:extLst xmlns:a="http://schemas.openxmlformats.org/drawingml/2006/main">
              <a:ext uri="{FF2B5EF4-FFF2-40B4-BE49-F238E27FC236}">
                <a16:creationId xmlns:a16="http://schemas.microsoft.com/office/drawing/2014/main" id="{7E92DE5A-D37A-4FC4-B776-1979CD54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Guarda tu biblioteca de prompts.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Documenta versiones y criterios de edicion.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Prepara una pieza para validar con un par.</a:t>
            </a:r>
          </a:p>
        </p:txBody>
      </p:sp>
      <p:sp>
        <p:nvSpPr>
          <p:cNvPr id="5" name="final-panel">
            <a:extLst xmlns:a="http://schemas.openxmlformats.org/drawingml/2006/main">
              <a:ext uri="{FF2B5EF4-FFF2-40B4-BE49-F238E27FC236}">
                <a16:creationId xmlns:a16="http://schemas.microsoft.com/office/drawing/2014/main" id="{1FF5585B-0988-4067-A706-8AD37DE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09750"/>
            <a:ext cx="3714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nal-panel-title">
            <a:extLst xmlns:a="http://schemas.openxmlformats.org/drawingml/2006/main">
              <a:ext uri="{FF2B5EF4-FFF2-40B4-BE49-F238E27FC236}">
                <a16:creationId xmlns:a16="http://schemas.microsoft.com/office/drawing/2014/main" id="{9BE7F4DA-8196-4594-A648-423340EB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86000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Producto listo</a:t>
            </a:r>
          </a:p>
        </p:txBody>
      </p:sp>
      <p:sp>
        <p:nvSpPr>
          <p:cNvPr id="7" name="final-panel-body">
            <a:extLst xmlns:a="http://schemas.openxmlformats.org/drawingml/2006/main">
              <a:ext uri="{FF2B5EF4-FFF2-40B4-BE49-F238E27FC236}">
                <a16:creationId xmlns:a16="http://schemas.microsoft.com/office/drawing/2014/main" id="{C6AC77F9-F08B-4B88-92E5-08A01D97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Paquete comunicacional revisado y adaptable a varios canales.</a:t>
            </a:r>
          </a:p>
        </p:txBody>
      </p:sp>
    </p:spTree>
    <p:extLst>
      <p:ext uri="{BB962C8B-B14F-4D97-AF65-F5344CB8AC3E}">
        <p14:creationId xmlns:p14="http://schemas.microsoft.com/office/powerpoint/2010/main" val="2121300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2026-06-26T12:30:33.6270000Z</dcterms:created>
  <dcterms:modified xsi:type="dcterms:W3CDTF">2026-06-26T12:30:33.6270000Z</dcterms:modified>
</coreProperties>
</file>
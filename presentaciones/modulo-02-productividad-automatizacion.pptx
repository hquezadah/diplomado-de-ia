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26d34a12234ae6" /><Relationship Type="http://schemas.openxmlformats.org/officeDocument/2006/relationships/extended-properties" Target="/docProps/app.xml" Id="R9ca7d950a99c4277" /><Relationship Type="http://schemas.openxmlformats.org/officeDocument/2006/relationships/officeDocument" Target="/ppt/presentation.xml" Id="Rb3d356a2403549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786928c4543e4"/>
  </p:sldMasterIdLst>
  <p:notesMasterIdLst>
    <p:notesMasterId xmlns:r="http://schemas.openxmlformats.org/officeDocument/2006/relationships" r:id="Re5461c9fbd9b4a74"/>
  </p:notesMasterIdLst>
  <p:sldIdLst>
    <p:sldId xmlns:r="http://schemas.openxmlformats.org/officeDocument/2006/relationships" id="256" r:id="Rbbe5a4c4443b429e"/>
    <p:sldId xmlns:r="http://schemas.openxmlformats.org/officeDocument/2006/relationships" id="257" r:id="R4801c177ffa4490f"/>
    <p:sldId xmlns:r="http://schemas.openxmlformats.org/officeDocument/2006/relationships" id="258" r:id="R1baf2b1b0c0244f1"/>
    <p:sldId xmlns:r="http://schemas.openxmlformats.org/officeDocument/2006/relationships" id="259" r:id="R9ba9cb140171472f"/>
    <p:sldId xmlns:r="http://schemas.openxmlformats.org/officeDocument/2006/relationships" id="260" r:id="R8207e7133c4d4fd2"/>
    <p:sldId xmlns:r="http://schemas.openxmlformats.org/officeDocument/2006/relationships" id="261" r:id="R45f056cb4e254be0"/>
    <p:sldId xmlns:r="http://schemas.openxmlformats.org/officeDocument/2006/relationships" id="262" r:id="R3588a713a4744691"/>
    <p:sldId xmlns:r="http://schemas.openxmlformats.org/officeDocument/2006/relationships" id="263" r:id="Rea07623268124b4c"/>
    <p:sldId xmlns:r="http://schemas.openxmlformats.org/officeDocument/2006/relationships" id="264" r:id="Rddabd74961754b3d"/>
    <p:sldId xmlns:r="http://schemas.openxmlformats.org/officeDocument/2006/relationships" id="265" r:id="Rb755ed2573de468c"/>
    <p:sldId xmlns:r="http://schemas.openxmlformats.org/officeDocument/2006/relationships" id="266" r:id="R03ea9e4c77f44070"/>
    <p:sldId xmlns:r="http://schemas.openxmlformats.org/officeDocument/2006/relationships" id="267" r:id="R19e7db61b78849b8"/>
    <p:sldId xmlns:r="http://schemas.openxmlformats.org/officeDocument/2006/relationships" id="268" r:id="Rbfcc32c3a8a546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f153596ca74075" /><Relationship Type="http://schemas.openxmlformats.org/officeDocument/2006/relationships/slideMaster" Target="/ppt/slideMasters/slideMaster1.xml" Id="R730786928c4543e4" /><Relationship Type="http://schemas.openxmlformats.org/officeDocument/2006/relationships/notesMaster" Target="/ppt/notesMasters/notesMaster1.xml" Id="Re5461c9fbd9b4a74" /><Relationship Type="http://schemas.openxmlformats.org/officeDocument/2006/relationships/presProps" Target="/ppt/presProps.xml" Id="R16d52ea3824241d1" /><Relationship Type="http://schemas.openxmlformats.org/officeDocument/2006/relationships/tableStyles" Target="/ppt/tableStyles.xml" Id="Rcbfd56ca7461403d" /><Relationship Type="http://schemas.openxmlformats.org/officeDocument/2006/relationships/slide" Target="/ppt/slides/slide1.xml" Id="Rbbe5a4c4443b429e" /><Relationship Type="http://schemas.openxmlformats.org/officeDocument/2006/relationships/slide" Target="/ppt/slides/slide2.xml" Id="R4801c177ffa4490f" /><Relationship Type="http://schemas.openxmlformats.org/officeDocument/2006/relationships/slide" Target="/ppt/slides/slide3.xml" Id="R1baf2b1b0c0244f1" /><Relationship Type="http://schemas.openxmlformats.org/officeDocument/2006/relationships/slide" Target="/ppt/slides/slide4.xml" Id="R9ba9cb140171472f" /><Relationship Type="http://schemas.openxmlformats.org/officeDocument/2006/relationships/slide" Target="/ppt/slides/slide5.xml" Id="R8207e7133c4d4fd2" /><Relationship Type="http://schemas.openxmlformats.org/officeDocument/2006/relationships/slide" Target="/ppt/slides/slide6.xml" Id="R45f056cb4e254be0" /><Relationship Type="http://schemas.openxmlformats.org/officeDocument/2006/relationships/slide" Target="/ppt/slides/slide7.xml" Id="R3588a713a4744691" /><Relationship Type="http://schemas.openxmlformats.org/officeDocument/2006/relationships/slide" Target="/ppt/slides/slide8.xml" Id="Rea07623268124b4c" /><Relationship Type="http://schemas.openxmlformats.org/officeDocument/2006/relationships/slide" Target="/ppt/slides/slide9.xml" Id="Rddabd74961754b3d" /><Relationship Type="http://schemas.openxmlformats.org/officeDocument/2006/relationships/slide" Target="/ppt/slides/slide10.xml" Id="Rb755ed2573de468c" /><Relationship Type="http://schemas.openxmlformats.org/officeDocument/2006/relationships/slide" Target="/ppt/slides/slide11.xml" Id="R03ea9e4c77f44070" /><Relationship Type="http://schemas.openxmlformats.org/officeDocument/2006/relationships/slide" Target="/ppt/slides/slide12.xml" Id="R19e7db61b78849b8" /><Relationship Type="http://schemas.openxmlformats.org/officeDocument/2006/relationships/slide" Target="/ppt/slides/slide13.xml" Id="Rbfcc32c3a8a546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a989d8c2814d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601badfec7466d" /><Relationship Type="http://schemas.openxmlformats.org/officeDocument/2006/relationships/notesMaster" Target="/ppt/notesMasters/notesMaster1.xml" Id="Rb2cafde46b6340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1d435a8ee94740" /><Relationship Type="http://schemas.openxmlformats.org/officeDocument/2006/relationships/notesMaster" Target="/ppt/notesMasters/notesMaster1.xml" Id="R809459b8c09c44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b36762df264e5c" /><Relationship Type="http://schemas.openxmlformats.org/officeDocument/2006/relationships/notesMaster" Target="/ppt/notesMasters/notesMaster1.xml" Id="R36bd765a46fb4c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ec4879906a4255" /><Relationship Type="http://schemas.openxmlformats.org/officeDocument/2006/relationships/notesMaster" Target="/ppt/notesMasters/notesMaster1.xml" Id="R60df052e5a3847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c5d82d493c472c" /><Relationship Type="http://schemas.openxmlformats.org/officeDocument/2006/relationships/notesMaster" Target="/ppt/notesMasters/notesMaster1.xml" Id="R2c0211f63a3e4b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021bbf49b43c0" /><Relationship Type="http://schemas.openxmlformats.org/officeDocument/2006/relationships/notesMaster" Target="/ppt/notesMasters/notesMaster1.xml" Id="R39d843f9cccb47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bd5d8ec687428b" /><Relationship Type="http://schemas.openxmlformats.org/officeDocument/2006/relationships/notesMaster" Target="/ppt/notesMasters/notesMaster1.xml" Id="Rf06b9d9341e447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98220ca1ec4df9" /><Relationship Type="http://schemas.openxmlformats.org/officeDocument/2006/relationships/notesMaster" Target="/ppt/notesMasters/notesMaster1.xml" Id="Re3cc585a8cdd46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6ac30be59f4ffa" /><Relationship Type="http://schemas.openxmlformats.org/officeDocument/2006/relationships/notesMaster" Target="/ppt/notesMasters/notesMaster1.xml" Id="Re6b46623354f4a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4fcebef29442a9" /><Relationship Type="http://schemas.openxmlformats.org/officeDocument/2006/relationships/notesMaster" Target="/ppt/notesMasters/notesMaster1.xml" Id="Rbe56a5ed6f1144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3e15b6e7a4453c" /><Relationship Type="http://schemas.openxmlformats.org/officeDocument/2006/relationships/notesMaster" Target="/ppt/notesMasters/notesMaster1.xml" Id="R46eb2e309a5047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c8de39771b48e0" /><Relationship Type="http://schemas.openxmlformats.org/officeDocument/2006/relationships/notesMaster" Target="/ppt/notesMasters/notesMaster1.xml" Id="R16f7899d55ad45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d2a2ce11df41b1" /><Relationship Type="http://schemas.openxmlformats.org/officeDocument/2006/relationships/notesMaster" Target="/ppt/notesMasters/notesMaster1.xml" Id="R84d37736d390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Enfatice que productividad no es solo hacer mas rapido. Tambien es reducir errores y dar mas claridad.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diapositiva para mostrar que la sesion no sera teorica solamente. Anticipe los productos que el participante ira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cada resultado con una accion observable. Pida que los participantes identifiquen cual resultado les parece mas valioso para su trabajo.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ejemplos cotidianos: correo, minuta, reporte y agenda. Pregunte que tareas repetitivas aparecen cada semana.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el grupo usa Teams, Google Meet o Zoom, conecte el ejemplo con su realidad.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que cada participante marque el paso donde ocurren mas errores humanos.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Demuestre que pedir dudas y ambiguedades es tan importante como pedir el entregable.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Sugiera trabajar con informacion ficticia o anonima. Evite que copien correos reales con datos sensibles.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tabla para escoger tareas adecuadas para pilotos pequenos.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los valores son orientativos: cada organizacion debe medir su propio flujo.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Pida que conviertan el checklist en requisitos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Cuente un ejemplo de automatizacion que crea mas pasos por falta de aprobacion clara.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Deje una tarea concreta: probar una version manual y una version asistida.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e390bb82449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f1e8adbbc34cfe" /><Relationship Type="http://schemas.openxmlformats.org/officeDocument/2006/relationships/slideLayout" Target="/ppt/slideLayouts/slideLayout1.xml" Id="R66a0bd327b674c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a0bd327b674c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d9f1430f44a4d" /><Relationship Type="http://schemas.openxmlformats.org/officeDocument/2006/relationships/notesSlide" Target="/ppt/notesSlides/notesSlide1.xml" Id="R97f68285464f4a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73cb1f3db408f" /><Relationship Type="http://schemas.openxmlformats.org/officeDocument/2006/relationships/notesSlide" Target="/ppt/notesSlides/notesSlide2.xml" Id="R5a8969f6e42241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ef84c754d441b" /><Relationship Type="http://schemas.openxmlformats.org/officeDocument/2006/relationships/notesSlide" Target="/ppt/notesSlides/notesSlide3.xml" Id="R256012578b954a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345437d58486d" /><Relationship Type="http://schemas.openxmlformats.org/officeDocument/2006/relationships/notesSlide" Target="/ppt/notesSlides/notesSlide4.xml" Id="R9edf29c7a1614d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55650fbe14dae" /><Relationship Type="http://schemas.openxmlformats.org/officeDocument/2006/relationships/notesSlide" Target="/ppt/notesSlides/notesSlide5.xml" Id="R2030499347e440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91e9492e248bc" /><Relationship Type="http://schemas.openxmlformats.org/officeDocument/2006/relationships/notesSlide" Target="/ppt/notesSlides/notesSlide6.xml" Id="R27e31e5b590b49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b44bfb6124ea0" /><Relationship Type="http://schemas.openxmlformats.org/officeDocument/2006/relationships/notesSlide" Target="/ppt/notesSlides/notesSlide7.xml" Id="Rbae9691d4e634f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b0b4e91af4855" /><Relationship Type="http://schemas.openxmlformats.org/officeDocument/2006/relationships/notesSlide" Target="/ppt/notesSlides/notesSlide8.xml" Id="R182a19a91dce4f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cfd51a6da4f76" /><Relationship Type="http://schemas.openxmlformats.org/officeDocument/2006/relationships/notesSlide" Target="/ppt/notesSlides/notesSlide9.xml" Id="R2a9ee9ca5c6649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67d14bd6944d2" /><Relationship Type="http://schemas.openxmlformats.org/officeDocument/2006/relationships/chart" Target="/ppt/slides/charts/chart1.xml" Id="Ra956477b6b78497f" /><Relationship Type="http://schemas.openxmlformats.org/officeDocument/2006/relationships/notesSlide" Target="/ppt/notesSlides/notesSlide10.xml" Id="Reeac352189594f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957f1cc6e40d3" /><Relationship Type="http://schemas.openxmlformats.org/officeDocument/2006/relationships/notesSlide" Target="/ppt/notesSlides/notesSlide11.xml" Id="Rb0195deff2294d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e66bad2c644ae" /><Relationship Type="http://schemas.openxmlformats.org/officeDocument/2006/relationships/notesSlide" Target="/ppt/notesSlides/notesSlide12.xml" Id="Rd331d6e9c25b4f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4db7f8ee24cf1" /><Relationship Type="http://schemas.openxmlformats.org/officeDocument/2006/relationships/notesSlide" Target="/ppt/notesSlides/notesSlide13.xml" Id="Rf4600eb9873b419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Potencial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Redaccion</c:v>
              </c:pt>
              <c:pt idx="1">
                <c:v>Sintesis</c:v>
              </c:pt>
              <c:pt idx="2">
                <c:v>Busqueda</c:v>
              </c:pt>
              <c:pt idx="3">
                <c:v>Seguimiento</c:v>
              </c:pt>
              <c:pt idx="4">
                <c:v>Aprobacion</c:v>
              </c:pt>
            </c:strLit>
          </c:cat>
          <c:val>
            <c:numLit>
              <c:formatCode>General</c:formatCode>
              <c:ptCount val="5"/>
              <c:pt idx="0">
                <c:v>76</c:v>
              </c:pt>
              <c:pt idx="1">
                <c:v>82</c:v>
              </c:pt>
              <c:pt idx="2">
                <c:v>58</c:v>
              </c:pt>
              <c:pt idx="3">
                <c:v>64</c:v>
              </c:pt>
              <c:pt idx="4">
                <c:v>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310329D-BC37-4F50-9602-BAC1D459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820FF0F-C81D-479A-A6BE-4B7D0B6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01 / 13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F2CE2AC0-C730-4505-A547-B5D3731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714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AF2DD4B1-2F56-465B-BBC4-C9B5D531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Modulo II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FAF4419-A355-400A-92F0-8F645144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IA para productividad y automatizacion profesional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91C7A5D-00E6-43AA-95E3-AF308354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Documentos, correos, minutas, organizacion del trabajo y flujos no-code con control humano.</a:t>
            </a:r>
          </a:p>
        </p:txBody>
      </p:sp>
      <p:sp>
        <p:nvSpPr>
          <p:cNvPr id="7" name="right-field">
            <a:extLst xmlns:a="http://schemas.openxmlformats.org/drawingml/2006/main">
              <a:ext uri="{FF2B5EF4-FFF2-40B4-BE49-F238E27FC236}">
                <a16:creationId xmlns:a16="http://schemas.microsoft.com/office/drawing/2014/main" id="{3CBF524E-2917-4A12-AB4F-75F76229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6200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field-title">
            <a:extLst xmlns:a="http://schemas.openxmlformats.org/drawingml/2006/main">
              <a:ext uri="{FF2B5EF4-FFF2-40B4-BE49-F238E27FC236}">
                <a16:creationId xmlns:a16="http://schemas.microsoft.com/office/drawing/2014/main" id="{0F714172-F88C-44DE-950C-4E502208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33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Menos friccion, mas criterio</a:t>
            </a:r>
          </a:p>
        </p:txBody>
      </p:sp>
      <p:sp>
        <p:nvSpPr>
          <p:cNvPr id="9" name="right-field-body">
            <a:extLst xmlns:a="http://schemas.openxmlformats.org/drawingml/2006/main">
              <a:ext uri="{FF2B5EF4-FFF2-40B4-BE49-F238E27FC236}">
                <a16:creationId xmlns:a16="http://schemas.microsoft.com/office/drawing/2014/main" id="{8CAB8BDB-097C-43DB-B853-D57ABB6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266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 IA debe reducir trabajo repetitivo, no reemplazar la responsabilidad profesional.</a:t>
            </a:r>
          </a:p>
        </p:txBody>
      </p:sp>
    </p:spTree>
    <p:extLst>
      <p:ext uri="{BB962C8B-B14F-4D97-AF65-F5344CB8AC3E}">
        <p14:creationId xmlns:p14="http://schemas.microsoft.com/office/powerpoint/2010/main" val="446882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5DC8314-AC89-4C2F-A3FC-8A1C6E2F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6783EC2-996A-4681-9B7B-09C5373A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5BA078-08FE-4D09-8B88-31B0D8A5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Ruta de aprendizaje</a:t>
            </a:r>
          </a:p>
        </p:txBody>
      </p:sp>
      <p:sp>
        <p:nvSpPr>
          <p:cNvPr id="4" name="agenda">
            <a:extLst xmlns:a="http://schemas.openxmlformats.org/drawingml/2006/main">
              <a:ext uri="{FF2B5EF4-FFF2-40B4-BE49-F238E27FC236}">
                <a16:creationId xmlns:a16="http://schemas.microsoft.com/office/drawing/2014/main" id="{DD602D2E-5C95-4A09-BABC-EBC643BE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7200"/>
            <a:ext cx="53340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1. Productividad aumentada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2. Documentos, correos y minutas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3. Flujos de trabajo con IA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4. Automatizacion no-code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5. Metricas y controles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6. Laboratorio aplicado</a:t>
            </a:r>
          </a:p>
        </p:txBody>
      </p:sp>
      <p:sp>
        <p:nvSpPr>
          <p:cNvPr id="5" name="rhythm">
            <a:extLst xmlns:a="http://schemas.openxmlformats.org/drawingml/2006/main">
              <a:ext uri="{FF2B5EF4-FFF2-40B4-BE49-F238E27FC236}">
                <a16:creationId xmlns:a16="http://schemas.microsoft.com/office/drawing/2014/main" id="{A365ACE9-2FF6-45F1-98AB-25544DAD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Cada bloque combina concepto, demostracion, practica y reflexion.</a:t>
            </a:r>
          </a:p>
        </p:txBody>
      </p:sp>
    </p:spTree>
    <p:extLst>
      <p:ext uri="{BB962C8B-B14F-4D97-AF65-F5344CB8AC3E}">
        <p14:creationId xmlns:p14="http://schemas.microsoft.com/office/powerpoint/2010/main" val="1410260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829252D-80E9-477C-BB64-A8D4B8E7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4A91402-EF77-4FCA-AED2-D72C509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89CBE7-4B63-4B02-B53C-FD280EBA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Al finalizar podras</a:t>
            </a:r>
          </a:p>
        </p:txBody>
      </p:sp>
      <p:sp>
        <p:nvSpPr>
          <p:cNvPr id="4" name="outcome-box-0">
            <a:extLst xmlns:a="http://schemas.openxmlformats.org/drawingml/2006/main">
              <a:ext uri="{FF2B5EF4-FFF2-40B4-BE49-F238E27FC236}">
                <a16:creationId xmlns:a16="http://schemas.microsoft.com/office/drawing/2014/main" id="{861506B2-A409-4BA3-A498-1DCD043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come-num-0">
            <a:extLst xmlns:a="http://schemas.openxmlformats.org/drawingml/2006/main">
              <a:ext uri="{FF2B5EF4-FFF2-40B4-BE49-F238E27FC236}">
                <a16:creationId xmlns:a16="http://schemas.microsoft.com/office/drawing/2014/main" id="{BB99ED3B-2DF4-4030-9606-E1D2AC49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6" name="outcome-0">
            <a:extLst xmlns:a="http://schemas.openxmlformats.org/drawingml/2006/main">
              <a:ext uri="{FF2B5EF4-FFF2-40B4-BE49-F238E27FC236}">
                <a16:creationId xmlns:a16="http://schemas.microsoft.com/office/drawing/2014/main" id="{04AD4A06-15A5-44D1-B460-9C1E1FCC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Transformar notas en documentos utiles.</a:t>
            </a:r>
          </a:p>
        </p:txBody>
      </p:sp>
      <p:sp>
        <p:nvSpPr>
          <p:cNvPr id="7" name="outcome-box-1">
            <a:extLst xmlns:a="http://schemas.openxmlformats.org/drawingml/2006/main">
              <a:ext uri="{FF2B5EF4-FFF2-40B4-BE49-F238E27FC236}">
                <a16:creationId xmlns:a16="http://schemas.microsoft.com/office/drawing/2014/main" id="{3835F917-6121-48DA-AE64-507F4EB9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utcome-num-1">
            <a:extLst xmlns:a="http://schemas.openxmlformats.org/drawingml/2006/main">
              <a:ext uri="{FF2B5EF4-FFF2-40B4-BE49-F238E27FC236}">
                <a16:creationId xmlns:a16="http://schemas.microsoft.com/office/drawing/2014/main" id="{711C6260-A2C8-48B5-A018-7F78310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outcome-1">
            <a:extLst xmlns:a="http://schemas.openxmlformats.org/drawingml/2006/main">
              <a:ext uri="{FF2B5EF4-FFF2-40B4-BE49-F238E27FC236}">
                <a16:creationId xmlns:a16="http://schemas.microsoft.com/office/drawing/2014/main" id="{24EA0C4B-603F-4BED-BE2A-94BB9A1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Disenar un flujo asistido por IA.</a:t>
            </a:r>
          </a:p>
        </p:txBody>
      </p:sp>
      <p:sp>
        <p:nvSpPr>
          <p:cNvPr id="10" name="outcome-box-2">
            <a:extLst xmlns:a="http://schemas.openxmlformats.org/drawingml/2006/main">
              <a:ext uri="{FF2B5EF4-FFF2-40B4-BE49-F238E27FC236}">
                <a16:creationId xmlns:a16="http://schemas.microsoft.com/office/drawing/2014/main" id="{F978F0A2-2A80-4DAD-830F-3EE6E868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come-num-2">
            <a:extLst xmlns:a="http://schemas.openxmlformats.org/drawingml/2006/main">
              <a:ext uri="{FF2B5EF4-FFF2-40B4-BE49-F238E27FC236}">
                <a16:creationId xmlns:a16="http://schemas.microsoft.com/office/drawing/2014/main" id="{899681D5-8B27-4F90-920A-8E23239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2" name="outcome-2">
            <a:extLst xmlns:a="http://schemas.openxmlformats.org/drawingml/2006/main">
              <a:ext uri="{FF2B5EF4-FFF2-40B4-BE49-F238E27FC236}">
                <a16:creationId xmlns:a16="http://schemas.microsoft.com/office/drawing/2014/main" id="{AFCC179B-18EF-4867-8986-41819BA4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Identificar puntos de revision humana.</a:t>
            </a:r>
          </a:p>
        </p:txBody>
      </p:sp>
      <p:sp>
        <p:nvSpPr>
          <p:cNvPr id="13" name="outcome-box-3">
            <a:extLst xmlns:a="http://schemas.openxmlformats.org/drawingml/2006/main">
              <a:ext uri="{FF2B5EF4-FFF2-40B4-BE49-F238E27FC236}">
                <a16:creationId xmlns:a16="http://schemas.microsoft.com/office/drawing/2014/main" id="{A7918EF2-E9F1-4296-B5E1-30D48D3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utcome-num-3">
            <a:extLst xmlns:a="http://schemas.openxmlformats.org/drawingml/2006/main">
              <a:ext uri="{FF2B5EF4-FFF2-40B4-BE49-F238E27FC236}">
                <a16:creationId xmlns:a16="http://schemas.microsoft.com/office/drawing/2014/main" id="{A45DE78E-FB15-4ACC-9212-01A6351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5" name="outcome-3">
            <a:extLst xmlns:a="http://schemas.openxmlformats.org/drawingml/2006/main">
              <a:ext uri="{FF2B5EF4-FFF2-40B4-BE49-F238E27FC236}">
                <a16:creationId xmlns:a16="http://schemas.microsoft.com/office/drawing/2014/main" id="{0C0300E3-14DA-4F30-A277-7BAA8292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Medir ahorro, calidad y consistencia.</a:t>
            </a:r>
          </a:p>
        </p:txBody>
      </p:sp>
      <p:sp>
        <p:nvSpPr>
          <p:cNvPr id="16" name="evidence">
            <a:extLst xmlns:a="http://schemas.openxmlformats.org/drawingml/2006/main">
              <a:ext uri="{FF2B5EF4-FFF2-40B4-BE49-F238E27FC236}">
                <a16:creationId xmlns:a16="http://schemas.microsoft.com/office/drawing/2014/main" id="{3C89615C-BC1D-47BB-8011-FEFBFD9B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Evidencia del modulo: flujo de productividad optimizado con controles y entregable profesional.</a:t>
            </a:r>
          </a:p>
        </p:txBody>
      </p:sp>
    </p:spTree>
    <p:extLst>
      <p:ext uri="{BB962C8B-B14F-4D97-AF65-F5344CB8AC3E}">
        <p14:creationId xmlns:p14="http://schemas.microsoft.com/office/powerpoint/2010/main" val="2064368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C306E8A-9F9C-42DD-AC9C-72C4BD5C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1BA7D78-243E-4CA1-94A4-79DF2A6C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04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E96129-3F72-483D-A776-C9EA1043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Productividad aumentada en 4 niveles</a:t>
            </a:r>
          </a:p>
        </p:txBody>
      </p:sp>
      <p:sp>
        <p:nvSpPr>
          <p:cNvPr id="4" name="concept-box-0">
            <a:extLst xmlns:a="http://schemas.openxmlformats.org/drawingml/2006/main">
              <a:ext uri="{FF2B5EF4-FFF2-40B4-BE49-F238E27FC236}">
                <a16:creationId xmlns:a16="http://schemas.microsoft.com/office/drawing/2014/main" id="{0250DB16-764A-49B2-BDD5-E066BB52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C3783AC9-4908-44FA-9252-04FC45B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Asistir</a:t>
            </a:r>
          </a:p>
        </p:txBody>
      </p:sp>
      <p:sp>
        <p:nvSpPr>
          <p:cNvPr id="6" name="concept-desc-0">
            <a:extLst xmlns:a="http://schemas.openxmlformats.org/drawingml/2006/main">
              <a:ext uri="{FF2B5EF4-FFF2-40B4-BE49-F238E27FC236}">
                <a16:creationId xmlns:a16="http://schemas.microsoft.com/office/drawing/2014/main" id="{6E7ED07E-B9E6-4E20-A816-58961CF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240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La IA sugiere, resume, redacta o transforma contenido bajo supervision.</a:t>
            </a:r>
          </a:p>
        </p:txBody>
      </p:sp>
      <p:sp>
        <p:nvSpPr>
          <p:cNvPr id="7" name="concept-box-1">
            <a:extLst xmlns:a="http://schemas.openxmlformats.org/drawingml/2006/main">
              <a:ext uri="{FF2B5EF4-FFF2-40B4-BE49-F238E27FC236}">
                <a16:creationId xmlns:a16="http://schemas.microsoft.com/office/drawing/2014/main" id="{4630C6B8-94D2-4FFF-AEB4-18F182C3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26211734-B6BB-4307-A465-A212B874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Estandarizar</a:t>
            </a:r>
          </a:p>
        </p:txBody>
      </p:sp>
      <p:sp>
        <p:nvSpPr>
          <p:cNvPr id="9" name="concept-desc-1">
            <a:extLst xmlns:a="http://schemas.openxmlformats.org/drawingml/2006/main">
              <a:ext uri="{FF2B5EF4-FFF2-40B4-BE49-F238E27FC236}">
                <a16:creationId xmlns:a16="http://schemas.microsoft.com/office/drawing/2014/main" id="{210B5487-BA04-4E03-B3A9-690B036D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24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Plantillas, criterios y formatos reducen variacion entre personas.</a:t>
            </a:r>
          </a:p>
        </p:txBody>
      </p:sp>
      <p:sp>
        <p:nvSpPr>
          <p:cNvPr id="10" name="concept-box-2">
            <a:extLst xmlns:a="http://schemas.openxmlformats.org/drawingml/2006/main">
              <a:ext uri="{FF2B5EF4-FFF2-40B4-BE49-F238E27FC236}">
                <a16:creationId xmlns:a16="http://schemas.microsoft.com/office/drawing/2014/main" id="{1EEAA1AE-1F2F-4856-8633-B879545F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610996A6-4496-4399-BA39-28577FD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Automatizar</a:t>
            </a:r>
          </a:p>
        </p:txBody>
      </p:sp>
      <p:sp>
        <p:nvSpPr>
          <p:cNvPr id="12" name="concept-desc-2">
            <a:extLst xmlns:a="http://schemas.openxmlformats.org/drawingml/2006/main">
              <a:ext uri="{FF2B5EF4-FFF2-40B4-BE49-F238E27FC236}">
                <a16:creationId xmlns:a16="http://schemas.microsoft.com/office/drawing/2014/main" id="{F05B99BF-DE9D-43D3-B39B-95C3E74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Herramientas no-code conectan entradas, acciones y salidas repetibles.</a:t>
            </a:r>
          </a:p>
        </p:txBody>
      </p:sp>
      <p:sp>
        <p:nvSpPr>
          <p:cNvPr id="13" name="concept-box-3">
            <a:extLst xmlns:a="http://schemas.openxmlformats.org/drawingml/2006/main">
              <a:ext uri="{FF2B5EF4-FFF2-40B4-BE49-F238E27FC236}">
                <a16:creationId xmlns:a16="http://schemas.microsoft.com/office/drawing/2014/main" id="{C49C4C11-CAFF-46B0-B0AF-5B35C2E5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74C3C523-1625-4671-80EF-CD7C4289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Medir</a:t>
            </a:r>
          </a:p>
        </p:txBody>
      </p:sp>
      <p:sp>
        <p:nvSpPr>
          <p:cNvPr id="15" name="concept-desc-3">
            <a:extLst xmlns:a="http://schemas.openxmlformats.org/drawingml/2006/main">
              <a:ext uri="{FF2B5EF4-FFF2-40B4-BE49-F238E27FC236}">
                <a16:creationId xmlns:a16="http://schemas.microsoft.com/office/drawing/2014/main" id="{88EAA6AB-5A43-4567-A197-69C3C52B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243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Tiempo, retrabajo, calidad y satisfaccion muestran si el flujo agrega valor.</a:t>
            </a:r>
          </a:p>
        </p:txBody>
      </p:sp>
    </p:spTree>
    <p:extLst>
      <p:ext uri="{BB962C8B-B14F-4D97-AF65-F5344CB8AC3E}">
        <p14:creationId xmlns:p14="http://schemas.microsoft.com/office/powerpoint/2010/main" val="1256587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A41F1E-4A9E-4248-AB4E-A4DEDF6C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AA7F0FE-3B1F-403B-AA6E-F3451F93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05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17EF26-2071-4074-AC04-569A975D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Ejemplo aplicado: minuta a tareas</a:t>
            </a:r>
          </a:p>
        </p:txBody>
      </p:sp>
      <p:sp>
        <p:nvSpPr>
          <p:cNvPr id="4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7509244A-9E79-42B2-95EF-82D15524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Contexto</a:t>
            </a:r>
          </a:p>
        </p:txBody>
      </p:sp>
      <p:sp>
        <p:nvSpPr>
          <p:cNvPr id="5" name="context">
            <a:extLst xmlns:a="http://schemas.openxmlformats.org/drawingml/2006/main">
              <a:ext uri="{FF2B5EF4-FFF2-40B4-BE49-F238E27FC236}">
                <a16:creationId xmlns:a16="http://schemas.microsoft.com/office/drawing/2014/main" id="{F442D9B6-FEA5-4584-A047-4546E292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Un equipo tiene reuniones semanales, pero los acuerdos quedan dispersos en notas, chats y correos.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EF02DFB3-CDB9-4DB8-B20B-4375F03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81125"/>
            <a:ext cx="571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6A5FBAF6-371E-46D8-BE5A-315096F5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14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Como se aplica IA</a:t>
            </a:r>
          </a:p>
        </p:txBody>
      </p:sp>
      <p:sp>
        <p:nvSpPr>
          <p:cNvPr id="8" name="action-list">
            <a:extLst xmlns:a="http://schemas.openxmlformats.org/drawingml/2006/main">
              <a:ext uri="{FF2B5EF4-FFF2-40B4-BE49-F238E27FC236}">
                <a16:creationId xmlns:a16="http://schemas.microsoft.com/office/drawing/2014/main" id="{DD0C983E-9B99-401F-8B55-86CFF41F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05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Convertir notas en minuta estructurada.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Extraer acuerdos, responsables y fechas.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Crear tareas en Planner, Trello o Notion.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Enviar resumen validado al equipo.</a:t>
            </a:r>
          </a:p>
        </p:txBody>
      </p:sp>
      <p:sp>
        <p:nvSpPr>
          <p:cNvPr id="9" name="result">
            <a:extLst xmlns:a="http://schemas.openxmlformats.org/drawingml/2006/main">
              <a:ext uri="{FF2B5EF4-FFF2-40B4-BE49-F238E27FC236}">
                <a16:creationId xmlns:a16="http://schemas.microsoft.com/office/drawing/2014/main" id="{E39F099C-85C0-43D1-BFC7-74CDA600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Resultado esperado: menos perdida de acuerdos y mejor seguimiento semanal.</a:t>
            </a:r>
          </a:p>
        </p:txBody>
      </p:sp>
    </p:spTree>
    <p:extLst>
      <p:ext uri="{BB962C8B-B14F-4D97-AF65-F5344CB8AC3E}">
        <p14:creationId xmlns:p14="http://schemas.microsoft.com/office/powerpoint/2010/main" val="121746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53DA74-46F7-4618-A2E9-149C4B45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868E7B3-D8C9-46A6-91E6-F91AE0F2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06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5FF23B-EDB4-4496-9573-0265EC4F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Flujo recomendado para automatizar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943CBF0-6483-4382-994A-F153E603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5" name="step-rule-0">
            <a:extLst xmlns:a="http://schemas.openxmlformats.org/drawingml/2006/main">
              <a:ext uri="{FF2B5EF4-FFF2-40B4-BE49-F238E27FC236}">
                <a16:creationId xmlns:a16="http://schemas.microsoft.com/office/drawing/2014/main" id="{23B9F71B-8E7B-4678-BDBA-8554E063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05760533-3D84-4E74-B99C-C29016F9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Capturar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FA59D2C-F18E-4744-A401-D50F6676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Reunir texto, correo, formulario, audio o documento de entrada.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01F44E4-1AE0-4913-9C21-31769204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9" name="step-rule-1">
            <a:extLst xmlns:a="http://schemas.openxmlformats.org/drawingml/2006/main">
              <a:ext uri="{FF2B5EF4-FFF2-40B4-BE49-F238E27FC236}">
                <a16:creationId xmlns:a16="http://schemas.microsoft.com/office/drawing/2014/main" id="{434D03AB-1ED5-41C5-A04F-A93FAD49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33700B9E-046A-4E62-924E-7AFF56D8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Transformar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D14A0C2D-D1AB-498B-9E94-C08D0EA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Usar IA para resumir, clasificar, corregir o convertir formato.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913C4CB-6D72-4B47-800B-54C31A8E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step-rule-2">
            <a:extLst xmlns:a="http://schemas.openxmlformats.org/drawingml/2006/main">
              <a:ext uri="{FF2B5EF4-FFF2-40B4-BE49-F238E27FC236}">
                <a16:creationId xmlns:a16="http://schemas.microsoft.com/office/drawing/2014/main" id="{F195E42B-1FC8-4D9E-8370-CDBF914E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8B5ED3FD-2E91-4663-9EAE-3E6F7C80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Validar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9089245F-26B8-4C46-AAE5-D4C4A2A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Revisar exactitud, tono, destinatario, datos y excepciones.</a:t>
            </a:r>
          </a:p>
        </p:txBody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CF72F38-DB23-473A-AA10-A2B3D380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7" name="step-rule-3">
            <a:extLst xmlns:a="http://schemas.openxmlformats.org/drawingml/2006/main">
              <a:ext uri="{FF2B5EF4-FFF2-40B4-BE49-F238E27FC236}">
                <a16:creationId xmlns:a16="http://schemas.microsoft.com/office/drawing/2014/main" id="{7100AAA0-9021-4914-94A2-CF62E912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540F665-FF5B-4C9E-A1FD-00BB47E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Distribuir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0DA2964-148D-44F2-B55A-8A7BA299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Guardar, notificar, crear tarea o enviar solo tras aprobacion.</a:t>
            </a:r>
          </a:p>
        </p:txBody>
      </p:sp>
      <p:sp>
        <p:nvSpPr>
          <p:cNvPr id="20" name="control">
            <a:extLst xmlns:a="http://schemas.openxmlformats.org/drawingml/2006/main">
              <a:ext uri="{FF2B5EF4-FFF2-40B4-BE49-F238E27FC236}">
                <a16:creationId xmlns:a16="http://schemas.microsoft.com/office/drawing/2014/main" id="{C6447357-AC6C-43A7-AD6B-3027E5E5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Regla practica: automatice acciones repetibles; mantenga aprobacion humana en decisiones sensibles.</a:t>
            </a:r>
          </a:p>
        </p:txBody>
      </p:sp>
    </p:spTree>
    <p:extLst>
      <p:ext uri="{BB962C8B-B14F-4D97-AF65-F5344CB8AC3E}">
        <p14:creationId xmlns:p14="http://schemas.microsoft.com/office/powerpoint/2010/main" val="1248913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FA2C7E-A786-47D9-AFE2-F905983C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5A0BDCC-5442-4987-B0FB-02061497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07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81987B-924B-4064-A6B0-22F0B8FE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Prompt de practica</a:t>
            </a:r>
          </a:p>
        </p:txBody>
      </p:sp>
      <p:sp>
        <p:nvSpPr>
          <p:cNvPr id="4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22C6CC31-BC43-478C-AF42-A7DF5A48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6858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E38CA129-A483-4FEF-BC56-6DD0C111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143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Actua como asistente ejecutivo. Convierte estas notas en una minuta profesional con: contexto, acuerdos, responsables, fechas, riesgos y pendientes. Marca cualquier punto ambiguo que requiera confirmacion.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Notas: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[pegar notas]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Formato: tabla de acuerdos y resumen ejecutivo breve.</a:t>
            </a:r>
          </a:p>
        </p:txBody>
      </p:sp>
      <p:sp>
        <p:nvSpPr>
          <p:cNvPr id="6" name="checks-title">
            <a:extLst xmlns:a="http://schemas.openxmlformats.org/drawingml/2006/main">
              <a:ext uri="{FF2B5EF4-FFF2-40B4-BE49-F238E27FC236}">
                <a16:creationId xmlns:a16="http://schemas.microsoft.com/office/drawing/2014/main" id="{72894AE2-00C4-4BFB-9652-005FD84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Criterios de revision</a:t>
            </a:r>
          </a:p>
        </p:txBody>
      </p:sp>
      <p:sp>
        <p:nvSpPr>
          <p:cNvPr id="7" name="checks">
            <a:extLst xmlns:a="http://schemas.openxmlformats.org/drawingml/2006/main">
              <a:ext uri="{FF2B5EF4-FFF2-40B4-BE49-F238E27FC236}">
                <a16:creationId xmlns:a16="http://schemas.microsoft.com/office/drawing/2014/main" id="{02974F2A-C7FC-41E6-BBA5-3178F513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Extrae responsables y fechas.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Distingue acuerdo de comentario.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Marca dudas sin inventar datos.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Produce salida util para seguimiento.</a:t>
            </a:r>
          </a:p>
        </p:txBody>
      </p:sp>
      <p:sp>
        <p:nvSpPr>
          <p:cNvPr id="8" name="tip">
            <a:extLst xmlns:a="http://schemas.openxmlformats.org/drawingml/2006/main">
              <a:ext uri="{FF2B5EF4-FFF2-40B4-BE49-F238E27FC236}">
                <a16:creationId xmlns:a16="http://schemas.microsoft.com/office/drawing/2014/main" id="{52DD1D1F-8056-4632-8360-8AD47CF7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Pedir ambiguedades evita tareas falsas.</a:t>
            </a:r>
          </a:p>
        </p:txBody>
      </p:sp>
    </p:spTree>
    <p:extLst>
      <p:ext uri="{BB962C8B-B14F-4D97-AF65-F5344CB8AC3E}">
        <p14:creationId xmlns:p14="http://schemas.microsoft.com/office/powerpoint/2010/main" val="333735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5301D3-DA6E-4BB3-A430-8E9A4835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5658E6-23C9-4C57-8B92-4823F8B1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08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9CF979-B8C8-47D2-83B0-12176A20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Practica: flujo de productividad</a:t>
            </a:r>
          </a:p>
        </p:txBody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8610B983-7747-4C5C-8FEB-4DDE57C1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Redisenar una tarea repetitiva para reducir pasos manuales y mejorar trazabilidad.</a:t>
            </a:r>
          </a:p>
        </p:txBody>
      </p:sp>
      <p:sp>
        <p:nvSpPr>
          <p:cNvPr id="5" name="practice-num-0">
            <a:extLst xmlns:a="http://schemas.openxmlformats.org/drawingml/2006/main">
              <a:ext uri="{FF2B5EF4-FFF2-40B4-BE49-F238E27FC236}">
                <a16:creationId xmlns:a16="http://schemas.microsoft.com/office/drawing/2014/main" id="{8521A2D8-8392-4B48-A418-B31CA85B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actice-num-text-0">
            <a:extLst xmlns:a="http://schemas.openxmlformats.org/drawingml/2006/main">
              <a:ext uri="{FF2B5EF4-FFF2-40B4-BE49-F238E27FC236}">
                <a16:creationId xmlns:a16="http://schemas.microsoft.com/office/drawing/2014/main" id="{A6522737-6BE6-42BB-A02D-D6ADC513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02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79836379-1C3C-4A6B-A521-4F65E179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12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Describir el proceso actual en 5 a 8 pasos.</a:t>
            </a:r>
          </a:p>
        </p:txBody>
      </p:sp>
      <p:sp>
        <p:nvSpPr>
          <p:cNvPr id="8" name="practice-num-1">
            <a:extLst xmlns:a="http://schemas.openxmlformats.org/drawingml/2006/main">
              <a:ext uri="{FF2B5EF4-FFF2-40B4-BE49-F238E27FC236}">
                <a16:creationId xmlns:a16="http://schemas.microsoft.com/office/drawing/2014/main" id="{7FA3608E-173A-4567-9107-1284A6E2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actice-num-text-1">
            <a:extLst xmlns:a="http://schemas.openxmlformats.org/drawingml/2006/main">
              <a:ext uri="{FF2B5EF4-FFF2-40B4-BE49-F238E27FC236}">
                <a16:creationId xmlns:a16="http://schemas.microsoft.com/office/drawing/2014/main" id="{949BA9F6-EDFC-410C-8C2A-D86D817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F7837654-AA08-4385-82DF-0BD04542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289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Marcar donde IA ayuda a transformar informacion.</a:t>
            </a:r>
          </a:p>
        </p:txBody>
      </p:sp>
      <p:sp>
        <p:nvSpPr>
          <p:cNvPr id="11" name="practice-num-2">
            <a:extLst xmlns:a="http://schemas.openxmlformats.org/drawingml/2006/main">
              <a:ext uri="{FF2B5EF4-FFF2-40B4-BE49-F238E27FC236}">
                <a16:creationId xmlns:a16="http://schemas.microsoft.com/office/drawing/2014/main" id="{ED1B2317-BA8B-4D57-AD2E-0B5612F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actice-num-text-2">
            <a:extLst xmlns:a="http://schemas.openxmlformats.org/drawingml/2006/main">
              <a:ext uri="{FF2B5EF4-FFF2-40B4-BE49-F238E27FC236}">
                <a16:creationId xmlns:a16="http://schemas.microsoft.com/office/drawing/2014/main" id="{675B39E6-202F-459A-8A65-E10CC7D9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B026E487-02AC-499A-9792-B0FEAFAF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Definir herramienta, responsable y control por paso.</a:t>
            </a:r>
          </a:p>
        </p:txBody>
      </p:sp>
      <p:sp>
        <p:nvSpPr>
          <p:cNvPr id="14" name="practice-num-3">
            <a:extLst xmlns:a="http://schemas.openxmlformats.org/drawingml/2006/main">
              <a:ext uri="{FF2B5EF4-FFF2-40B4-BE49-F238E27FC236}">
                <a16:creationId xmlns:a16="http://schemas.microsoft.com/office/drawing/2014/main" id="{1ECCDBB5-F2F2-4AE2-926B-9AC814F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actice-num-text-3">
            <a:extLst xmlns:a="http://schemas.openxmlformats.org/drawingml/2006/main">
              <a:ext uri="{FF2B5EF4-FFF2-40B4-BE49-F238E27FC236}">
                <a16:creationId xmlns:a16="http://schemas.microsoft.com/office/drawing/2014/main" id="{F3961849-A74A-47B8-B330-853CD30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DCC37DD9-AB98-422B-9F92-DA62C55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Estimar metrica de mejora: tiempo, errores o consistencia.</a:t>
            </a:r>
          </a:p>
        </p:txBody>
      </p:sp>
      <p:sp>
        <p:nvSpPr>
          <p:cNvPr id="17" name="deliverable-panel">
            <a:extLst xmlns:a="http://schemas.openxmlformats.org/drawingml/2006/main">
              <a:ext uri="{FF2B5EF4-FFF2-40B4-BE49-F238E27FC236}">
                <a16:creationId xmlns:a16="http://schemas.microsoft.com/office/drawing/2014/main" id="{B0CA702C-EA66-406A-BEA8-F87E13C7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liverable-label">
            <a:extLst xmlns:a="http://schemas.openxmlformats.org/drawingml/2006/main">
              <a:ext uri="{FF2B5EF4-FFF2-40B4-BE49-F238E27FC236}">
                <a16:creationId xmlns:a16="http://schemas.microsoft.com/office/drawing/2014/main" id="{37A90EDD-C7B7-4708-9360-8CB54B6A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Entregable</a:t>
            </a:r>
          </a:p>
        </p:txBody>
      </p:sp>
      <p:sp>
        <p:nvSpPr>
          <p:cNvPr id="19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13EB32A-06C5-4820-BDC6-43F02799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Diagrama o tabla del flujo futuro.</a:t>
            </a:r>
          </a:p>
        </p:txBody>
      </p:sp>
    </p:spTree>
    <p:extLst>
      <p:ext uri="{BB962C8B-B14F-4D97-AF65-F5344CB8AC3E}">
        <p14:creationId xmlns:p14="http://schemas.microsoft.com/office/powerpoint/2010/main" val="1679513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B55063F-3C14-4C06-9B63-5884C34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FD8741-EBDE-4AD1-AE95-D34B49AC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09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D70914-E00A-4C1D-A4B5-D737311C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Tareas de oficina y tipo de apoyo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05727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2964"/>
                <a:gridCol w="3020786"/>
                <a:gridCol w="1678214"/>
                <a:gridCol w="3020786"/>
              </a:tblGrid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Tarea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IA aporta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Automatizar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Correo de respuesta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Borrador y tono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Revision antes de enviar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Minuta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Sintesis y acuerdos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Confirmar responsables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Informe mensual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Estructura y narrativa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Validar cifras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Archivo documental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Clasificacion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Revisar permisos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able-note">
            <a:extLst xmlns:a="http://schemas.openxmlformats.org/drawingml/2006/main">
              <a:ext uri="{FF2B5EF4-FFF2-40B4-BE49-F238E27FC236}">
                <a16:creationId xmlns:a16="http://schemas.microsoft.com/office/drawing/2014/main" id="{876D5664-CF44-4044-872D-0348A68D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 IA no elimina el diseno del proceso; lo vuelve mas importante.</a:t>
            </a:r>
          </a:p>
        </p:txBody>
      </p:sp>
    </p:spTree>
    <p:extLst>
      <p:ext uri="{BB962C8B-B14F-4D97-AF65-F5344CB8AC3E}">
        <p14:creationId xmlns:p14="http://schemas.microsoft.com/office/powerpoint/2010/main" val="15955121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1AE82E-C0F9-439A-963E-5F2451C8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339FACE-E35F-479E-B0D4-8E0801E4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10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7AFF56-8966-47A5-9B5A-2EDF9D12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Donde suele aparecer ahorro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56477b6b78497f"/>
          </a:graphicData>
        </a:graphic>
      </p:graphicFrame>
      <p:sp>
        <p:nvSpPr>
          <p:cNvPr id="5" name="chart-insight-title">
            <a:extLst xmlns:a="http://schemas.openxmlformats.org/drawingml/2006/main">
              <a:ext uri="{FF2B5EF4-FFF2-40B4-BE49-F238E27FC236}">
                <a16:creationId xmlns:a16="http://schemas.microsoft.com/office/drawing/2014/main" id="{CFDEC6C9-2154-4195-8CD4-2B00A07A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Lectura ejecutiva</a:t>
            </a:r>
          </a:p>
        </p:txBody>
      </p:sp>
      <p:sp>
        <p:nvSpPr>
          <p:cNvPr id="6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98CFA80A-4607-4EE5-8677-58931AA9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Mayor valor en sintesis y redaccion estructurada.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Seguimiento mejora cuando hay responsables claros.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Aprobacion sigue siendo humana.</a:t>
            </a:r>
          </a:p>
        </p:txBody>
      </p:sp>
      <p:sp>
        <p:nvSpPr>
          <p:cNvPr id="7" name="chart-warning">
            <a:extLst xmlns:a="http://schemas.openxmlformats.org/drawingml/2006/main">
              <a:ext uri="{FF2B5EF4-FFF2-40B4-BE49-F238E27FC236}">
                <a16:creationId xmlns:a16="http://schemas.microsoft.com/office/drawing/2014/main" id="{301F7EE4-A33E-4532-A044-BAFF3692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No medir ahorro puede convertir la automatizacion en ruido.</a:t>
            </a:r>
          </a:p>
        </p:txBody>
      </p:sp>
    </p:spTree>
    <p:extLst>
      <p:ext uri="{BB962C8B-B14F-4D97-AF65-F5344CB8AC3E}">
        <p14:creationId xmlns:p14="http://schemas.microsoft.com/office/powerpoint/2010/main" val="12642408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D5EF1A-FA28-47E2-B635-54F5F977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8A4263A-CF2D-4F47-AF32-1909E17D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11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646DB2-9776-4E50-9E36-D8CDEC48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Controles para flujos con IA</a:t>
            </a:r>
          </a:p>
        </p:txBody>
      </p:sp>
      <p:sp>
        <p:nvSpPr>
          <p:cNvPr id="4" name="check-box-0">
            <a:extLst xmlns:a="http://schemas.openxmlformats.org/drawingml/2006/main">
              <a:ext uri="{FF2B5EF4-FFF2-40B4-BE49-F238E27FC236}">
                <a16:creationId xmlns:a16="http://schemas.microsoft.com/office/drawing/2014/main" id="{DA1FC08E-87B2-43FA-A0B3-EA4B5E56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391478F9-406D-4A31-A436-E68DD74F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Entrada</a:t>
            </a:r>
          </a:p>
        </p:txBody>
      </p:sp>
      <p:sp>
        <p:nvSpPr>
          <p:cNvPr id="6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8FC31CE4-CC5A-49B4-8D58-A03A9890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Definir que datos entran y que datos nunca entran.</a:t>
            </a:r>
          </a:p>
        </p:txBody>
      </p:sp>
      <p:sp>
        <p:nvSpPr>
          <p:cNvPr id="7" name="check-box-1">
            <a:extLst xmlns:a="http://schemas.openxmlformats.org/drawingml/2006/main">
              <a:ext uri="{FF2B5EF4-FFF2-40B4-BE49-F238E27FC236}">
                <a16:creationId xmlns:a16="http://schemas.microsoft.com/office/drawing/2014/main" id="{1DE60FD7-37DB-4F4E-9985-80F6D732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C743D689-A366-446F-ABEA-FDB86EC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Formato</a:t>
            </a:r>
          </a:p>
        </p:txBody>
      </p:sp>
      <p:sp>
        <p:nvSpPr>
          <p:cNvPr id="9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8FF66A3B-492B-4468-91CE-EB422E78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Estandarizar la salida para que sea revisable.</a:t>
            </a:r>
          </a:p>
        </p:txBody>
      </p:sp>
      <p:sp>
        <p:nvSpPr>
          <p:cNvPr id="10" name="check-box-2">
            <a:extLst xmlns:a="http://schemas.openxmlformats.org/drawingml/2006/main">
              <a:ext uri="{FF2B5EF4-FFF2-40B4-BE49-F238E27FC236}">
                <a16:creationId xmlns:a16="http://schemas.microsoft.com/office/drawing/2014/main" id="{F241EE14-A82B-4871-B3F6-0CEA3B96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86DF1263-07C0-4794-904A-C9C9A0B8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Excepciones</a:t>
            </a:r>
          </a:p>
        </p:txBody>
      </p:sp>
      <p:sp>
        <p:nvSpPr>
          <p:cNvPr id="12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00786163-5CD7-4820-8970-DCFDF21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Definir que casos no se procesan automaticamente.</a:t>
            </a:r>
          </a:p>
        </p:txBody>
      </p:sp>
      <p:sp>
        <p:nvSpPr>
          <p:cNvPr id="13" name="check-box-3">
            <a:extLst xmlns:a="http://schemas.openxmlformats.org/drawingml/2006/main">
              <a:ext uri="{FF2B5EF4-FFF2-40B4-BE49-F238E27FC236}">
                <a16:creationId xmlns:a16="http://schemas.microsoft.com/office/drawing/2014/main" id="{78D49886-624D-48A7-83A3-71F5EA3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ABA48CC2-003E-4B98-BFC0-282DDE5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Aprobacion</a:t>
            </a:r>
          </a:p>
        </p:txBody>
      </p:sp>
      <p:sp>
        <p:nvSpPr>
          <p:cNvPr id="15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2448EA5D-8182-40F3-9E5F-57F1DFBC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Asignar responsable antes de enviar o publicar.</a:t>
            </a:r>
          </a:p>
        </p:txBody>
      </p:sp>
      <p:sp>
        <p:nvSpPr>
          <p:cNvPr id="16" name="check-box-4">
            <a:extLst xmlns:a="http://schemas.openxmlformats.org/drawingml/2006/main">
              <a:ext uri="{FF2B5EF4-FFF2-40B4-BE49-F238E27FC236}">
                <a16:creationId xmlns:a16="http://schemas.microsoft.com/office/drawing/2014/main" id="{6C65C626-B5D2-439F-A490-43D35500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eck-title-4">
            <a:extLst xmlns:a="http://schemas.openxmlformats.org/drawingml/2006/main">
              <a:ext uri="{FF2B5EF4-FFF2-40B4-BE49-F238E27FC236}">
                <a16:creationId xmlns:a16="http://schemas.microsoft.com/office/drawing/2014/main" id="{09EF8C62-D672-4555-BDFC-072FCA8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Registro</a:t>
            </a:r>
          </a:p>
        </p:txBody>
      </p:sp>
      <p:sp>
        <p:nvSpPr>
          <p:cNvPr id="18" name="check-body-4">
            <a:extLst xmlns:a="http://schemas.openxmlformats.org/drawingml/2006/main">
              <a:ext uri="{FF2B5EF4-FFF2-40B4-BE49-F238E27FC236}">
                <a16:creationId xmlns:a16="http://schemas.microsoft.com/office/drawing/2014/main" id="{217C1DDD-DA9C-447A-9A44-DD78CB72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Guardar versiones, prompts y cambios relevantes.</a:t>
            </a:r>
          </a:p>
        </p:txBody>
      </p:sp>
      <p:sp>
        <p:nvSpPr>
          <p:cNvPr id="19" name="check-box-5">
            <a:extLst xmlns:a="http://schemas.openxmlformats.org/drawingml/2006/main">
              <a:ext uri="{FF2B5EF4-FFF2-40B4-BE49-F238E27FC236}">
                <a16:creationId xmlns:a16="http://schemas.microsoft.com/office/drawing/2014/main" id="{1AAF5700-AB6B-43FA-B6D5-99840BEB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-title-5">
            <a:extLst xmlns:a="http://schemas.openxmlformats.org/drawingml/2006/main">
              <a:ext uri="{FF2B5EF4-FFF2-40B4-BE49-F238E27FC236}">
                <a16:creationId xmlns:a16="http://schemas.microsoft.com/office/drawing/2014/main" id="{05E74421-FE81-466B-86D9-5D075A6C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Metricas</a:t>
            </a:r>
          </a:p>
        </p:txBody>
      </p:sp>
      <p:sp>
        <p:nvSpPr>
          <p:cNvPr id="21" name="check-body-5">
            <a:extLst xmlns:a="http://schemas.openxmlformats.org/drawingml/2006/main">
              <a:ext uri="{FF2B5EF4-FFF2-40B4-BE49-F238E27FC236}">
                <a16:creationId xmlns:a16="http://schemas.microsoft.com/office/drawing/2014/main" id="{D1DF1D5C-D08A-4E62-BF5C-42BB1D9B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Comparar antes y despues con evidencia simple.</a:t>
            </a:r>
          </a:p>
        </p:txBody>
      </p:sp>
    </p:spTree>
    <p:extLst>
      <p:ext uri="{BB962C8B-B14F-4D97-AF65-F5344CB8AC3E}">
        <p14:creationId xmlns:p14="http://schemas.microsoft.com/office/powerpoint/2010/main" val="11081253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4F504B-8852-4E9C-846A-6C92F78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90B1DFA-5F45-40DD-B333-1D3A5B8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5B4B23-4DDD-48D3-ACB8-0BEA2A80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Errores frecuentes</a:t>
            </a:r>
          </a:p>
        </p:txBody>
      </p:sp>
      <p:sp>
        <p:nvSpPr>
          <p:cNvPr id="4" name="mistake-number-0">
            <a:extLst xmlns:a="http://schemas.openxmlformats.org/drawingml/2006/main">
              <a:ext uri="{FF2B5EF4-FFF2-40B4-BE49-F238E27FC236}">
                <a16:creationId xmlns:a16="http://schemas.microsoft.com/office/drawing/2014/main" id="{5ECB582B-44B5-40B7-A520-5CBA4621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mistake-title-0">
            <a:extLst xmlns:a="http://schemas.openxmlformats.org/drawingml/2006/main">
              <a:ext uri="{FF2B5EF4-FFF2-40B4-BE49-F238E27FC236}">
                <a16:creationId xmlns:a16="http://schemas.microsoft.com/office/drawing/2014/main" id="{4EE5960B-F207-4262-AB4A-0180DF13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Automatizar ruido</a:t>
            </a:r>
          </a:p>
        </p:txBody>
      </p:sp>
      <p:sp>
        <p:nvSpPr>
          <p:cNvPr id="6" name="mistake-fix-0">
            <a:extLst xmlns:a="http://schemas.openxmlformats.org/drawingml/2006/main">
              <a:ext uri="{FF2B5EF4-FFF2-40B4-BE49-F238E27FC236}">
                <a16:creationId xmlns:a16="http://schemas.microsoft.com/office/drawing/2014/main" id="{6999A4C0-A38B-4496-9358-829E812B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Si el proceso esta mal definido, la IA escala el desorden.</a:t>
            </a:r>
          </a:p>
        </p:txBody>
      </p:sp>
      <p:sp>
        <p:nvSpPr>
          <p:cNvPr id="7" name="mistake-number-1">
            <a:extLst xmlns:a="http://schemas.openxmlformats.org/drawingml/2006/main">
              <a:ext uri="{FF2B5EF4-FFF2-40B4-BE49-F238E27FC236}">
                <a16:creationId xmlns:a16="http://schemas.microsoft.com/office/drawing/2014/main" id="{E28CF2AF-5A17-4AF4-B441-941582CE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8" name="mistake-title-1">
            <a:extLst xmlns:a="http://schemas.openxmlformats.org/drawingml/2006/main">
              <a:ext uri="{FF2B5EF4-FFF2-40B4-BE49-F238E27FC236}">
                <a16:creationId xmlns:a16="http://schemas.microsoft.com/office/drawing/2014/main" id="{453976DD-6CB1-477F-889F-A07A666B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Enviar sin revisar</a:t>
            </a:r>
          </a:p>
        </p:txBody>
      </p:sp>
      <p:sp>
        <p:nvSpPr>
          <p:cNvPr id="9" name="mistake-fix-1">
            <a:extLst xmlns:a="http://schemas.openxmlformats.org/drawingml/2006/main">
              <a:ext uri="{FF2B5EF4-FFF2-40B4-BE49-F238E27FC236}">
                <a16:creationId xmlns:a16="http://schemas.microsoft.com/office/drawing/2014/main" id="{E1A92CC5-8C2A-4252-8C70-7D34AACD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Todo mensaje externo requiere validacion de tono, hechos y destinatario.</a:t>
            </a:r>
          </a:p>
        </p:txBody>
      </p:sp>
      <p:sp>
        <p:nvSpPr>
          <p:cNvPr id="10" name="mistake-number-2">
            <a:extLst xmlns:a="http://schemas.openxmlformats.org/drawingml/2006/main">
              <a:ext uri="{FF2B5EF4-FFF2-40B4-BE49-F238E27FC236}">
                <a16:creationId xmlns:a16="http://schemas.microsoft.com/office/drawing/2014/main" id="{8D6C21EB-C51C-42B3-9A72-A5BB3E49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1" name="mistake-title-2">
            <a:extLst xmlns:a="http://schemas.openxmlformats.org/drawingml/2006/main">
              <a:ext uri="{FF2B5EF4-FFF2-40B4-BE49-F238E27FC236}">
                <a16:creationId xmlns:a16="http://schemas.microsoft.com/office/drawing/2014/main" id="{D3114775-772E-48D7-A195-AE4B42BC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No medir impacto</a:t>
            </a:r>
          </a:p>
        </p:txBody>
      </p:sp>
      <p:sp>
        <p:nvSpPr>
          <p:cNvPr id="12" name="mistake-fix-2">
            <a:extLst xmlns:a="http://schemas.openxmlformats.org/drawingml/2006/main">
              <a:ext uri="{FF2B5EF4-FFF2-40B4-BE49-F238E27FC236}">
                <a16:creationId xmlns:a16="http://schemas.microsoft.com/office/drawing/2014/main" id="{99493660-83E5-48E3-8E9A-290EC4F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Defina una metrica simple antes del piloto.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5849F891-9709-46E6-B9AC-8C1A9171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La meta no es usar IA en todo: es usarla donde mejora una decision, un proceso o una entrega.</a:t>
            </a:r>
          </a:p>
        </p:txBody>
      </p:sp>
    </p:spTree>
    <p:extLst>
      <p:ext uri="{BB962C8B-B14F-4D97-AF65-F5344CB8AC3E}">
        <p14:creationId xmlns:p14="http://schemas.microsoft.com/office/powerpoint/2010/main" val="13806417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7798F8-0FE1-45FC-8939-8DBCC714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II - Productividad y automatizacion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1E82643-364C-47D1-AF50-E0FCD903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3D813A-CCA3-4876-886D-9B969DD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Cierre del modulo</a:t>
            </a:r>
          </a:p>
        </p:txBody>
      </p:sp>
      <p:sp>
        <p:nvSpPr>
          <p:cNvPr id="4" name="next">
            <a:extLst xmlns:a="http://schemas.openxmlformats.org/drawingml/2006/main">
              <a:ext uri="{FF2B5EF4-FFF2-40B4-BE49-F238E27FC236}">
                <a16:creationId xmlns:a16="http://schemas.microsoft.com/office/drawing/2014/main" id="{BEC3B761-A715-41AE-B701-2121113D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Documenta tu flujo futuro.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Prueba un prompt con datos no sensibles.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Trae un antes y despues al Modulo III.</a:t>
            </a:r>
          </a:p>
        </p:txBody>
      </p:sp>
      <p:sp>
        <p:nvSpPr>
          <p:cNvPr id="5" name="final-panel">
            <a:extLst xmlns:a="http://schemas.openxmlformats.org/drawingml/2006/main">
              <a:ext uri="{FF2B5EF4-FFF2-40B4-BE49-F238E27FC236}">
                <a16:creationId xmlns:a16="http://schemas.microsoft.com/office/drawing/2014/main" id="{616D5475-3F71-44E4-BE03-DFF478FA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714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nal-panel-title">
            <a:extLst xmlns:a="http://schemas.openxmlformats.org/drawingml/2006/main">
              <a:ext uri="{FF2B5EF4-FFF2-40B4-BE49-F238E27FC236}">
                <a16:creationId xmlns:a16="http://schemas.microsoft.com/office/drawing/2014/main" id="{C50935EA-A74F-4C51-9D05-5A16A803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86000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Producto listo</a:t>
            </a:r>
          </a:p>
        </p:txBody>
      </p:sp>
      <p:sp>
        <p:nvSpPr>
          <p:cNvPr id="7" name="final-panel-body">
            <a:extLst xmlns:a="http://schemas.openxmlformats.org/drawingml/2006/main">
              <a:ext uri="{FF2B5EF4-FFF2-40B4-BE49-F238E27FC236}">
                <a16:creationId xmlns:a16="http://schemas.microsoft.com/office/drawing/2014/main" id="{3C52BFE8-7298-41B6-BF1A-4B3363BC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Flujo profesional asistido por IA con controles y metrica.</a:t>
            </a:r>
          </a:p>
        </p:txBody>
      </p:sp>
    </p:spTree>
    <p:extLst>
      <p:ext uri="{BB962C8B-B14F-4D97-AF65-F5344CB8AC3E}">
        <p14:creationId xmlns:p14="http://schemas.microsoft.com/office/powerpoint/2010/main" val="686334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2026-06-26T12:30:33.0840000Z</dcterms:created>
  <dcterms:modified xsi:type="dcterms:W3CDTF">2026-06-26T12:30:33.0840000Z</dcterms:modified>
</coreProperties>
</file>
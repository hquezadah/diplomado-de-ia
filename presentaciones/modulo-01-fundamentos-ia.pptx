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1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2a1478556364500" /><Relationship Type="http://schemas.openxmlformats.org/officeDocument/2006/relationships/extended-properties" Target="/docProps/app.xml" Id="R40885f344b234ce6" /><Relationship Type="http://schemas.openxmlformats.org/officeDocument/2006/relationships/officeDocument" Target="/ppt/presentation.xml" Id="R4fa33d13ac194bd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8426b82b4914f9b"/>
  </p:sldMasterIdLst>
  <p:notesMasterIdLst>
    <p:notesMasterId xmlns:r="http://schemas.openxmlformats.org/officeDocument/2006/relationships" r:id="Rb37bb14adb25432f"/>
  </p:notesMasterIdLst>
  <p:sldIdLst>
    <p:sldId xmlns:r="http://schemas.openxmlformats.org/officeDocument/2006/relationships" id="256" r:id="R3494de12f06a4d5d"/>
    <p:sldId xmlns:r="http://schemas.openxmlformats.org/officeDocument/2006/relationships" id="257" r:id="R685de19ba59d49b1"/>
    <p:sldId xmlns:r="http://schemas.openxmlformats.org/officeDocument/2006/relationships" id="258" r:id="R2813a22392e94d33"/>
    <p:sldId xmlns:r="http://schemas.openxmlformats.org/officeDocument/2006/relationships" id="259" r:id="R2eb05b6e6242459e"/>
    <p:sldId xmlns:r="http://schemas.openxmlformats.org/officeDocument/2006/relationships" id="260" r:id="Rb61f609bbe9b42a6"/>
    <p:sldId xmlns:r="http://schemas.openxmlformats.org/officeDocument/2006/relationships" id="261" r:id="R8e4043bcab0b4037"/>
    <p:sldId xmlns:r="http://schemas.openxmlformats.org/officeDocument/2006/relationships" id="262" r:id="R424e6f041b0a4f0f"/>
    <p:sldId xmlns:r="http://schemas.openxmlformats.org/officeDocument/2006/relationships" id="263" r:id="R72853ae6f7134e9e"/>
    <p:sldId xmlns:r="http://schemas.openxmlformats.org/officeDocument/2006/relationships" id="264" r:id="Redfb4f8dbc98484f"/>
    <p:sldId xmlns:r="http://schemas.openxmlformats.org/officeDocument/2006/relationships" id="265" r:id="Re5df7334bc5c4b7e"/>
    <p:sldId xmlns:r="http://schemas.openxmlformats.org/officeDocument/2006/relationships" id="266" r:id="R0f9ce784b88c4bb4"/>
    <p:sldId xmlns:r="http://schemas.openxmlformats.org/officeDocument/2006/relationships" id="267" r:id="Rfe2ea6b20a0241f8"/>
    <p:sldId xmlns:r="http://schemas.openxmlformats.org/officeDocument/2006/relationships" id="268" r:id="Rcec28f6cdf7a491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85b5eebf1cd40a2" /><Relationship Type="http://schemas.openxmlformats.org/officeDocument/2006/relationships/slideMaster" Target="/ppt/slideMasters/slideMaster1.xml" Id="R28426b82b4914f9b" /><Relationship Type="http://schemas.openxmlformats.org/officeDocument/2006/relationships/notesMaster" Target="/ppt/notesMasters/notesMaster1.xml" Id="Rb37bb14adb25432f" /><Relationship Type="http://schemas.openxmlformats.org/officeDocument/2006/relationships/presProps" Target="/ppt/presProps.xml" Id="R4e4c7e1836bb4bdc" /><Relationship Type="http://schemas.openxmlformats.org/officeDocument/2006/relationships/tableStyles" Target="/ppt/tableStyles.xml" Id="R614159df32f54c0d" /><Relationship Type="http://schemas.openxmlformats.org/officeDocument/2006/relationships/slide" Target="/ppt/slides/slide1.xml" Id="R3494de12f06a4d5d" /><Relationship Type="http://schemas.openxmlformats.org/officeDocument/2006/relationships/slide" Target="/ppt/slides/slide2.xml" Id="R685de19ba59d49b1" /><Relationship Type="http://schemas.openxmlformats.org/officeDocument/2006/relationships/slide" Target="/ppt/slides/slide3.xml" Id="R2813a22392e94d33" /><Relationship Type="http://schemas.openxmlformats.org/officeDocument/2006/relationships/slide" Target="/ppt/slides/slide4.xml" Id="R2eb05b6e6242459e" /><Relationship Type="http://schemas.openxmlformats.org/officeDocument/2006/relationships/slide" Target="/ppt/slides/slide5.xml" Id="Rb61f609bbe9b42a6" /><Relationship Type="http://schemas.openxmlformats.org/officeDocument/2006/relationships/slide" Target="/ppt/slides/slide6.xml" Id="R8e4043bcab0b4037" /><Relationship Type="http://schemas.openxmlformats.org/officeDocument/2006/relationships/slide" Target="/ppt/slides/slide7.xml" Id="R424e6f041b0a4f0f" /><Relationship Type="http://schemas.openxmlformats.org/officeDocument/2006/relationships/slide" Target="/ppt/slides/slide8.xml" Id="R72853ae6f7134e9e" /><Relationship Type="http://schemas.openxmlformats.org/officeDocument/2006/relationships/slide" Target="/ppt/slides/slide9.xml" Id="Redfb4f8dbc98484f" /><Relationship Type="http://schemas.openxmlformats.org/officeDocument/2006/relationships/slide" Target="/ppt/slides/slide10.xml" Id="Re5df7334bc5c4b7e" /><Relationship Type="http://schemas.openxmlformats.org/officeDocument/2006/relationships/slide" Target="/ppt/slides/slide11.xml" Id="R0f9ce784b88c4bb4" /><Relationship Type="http://schemas.openxmlformats.org/officeDocument/2006/relationships/slide" Target="/ppt/slides/slide12.xml" Id="Rfe2ea6b20a0241f8" /><Relationship Type="http://schemas.openxmlformats.org/officeDocument/2006/relationships/slide" Target="/ppt/slides/slide13.xml" Id="Rcec28f6cdf7a491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b1a059d83234af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36f55211d4d40ac" /><Relationship Type="http://schemas.openxmlformats.org/officeDocument/2006/relationships/notesMaster" Target="/ppt/notesMasters/notesMaster1.xml" Id="R9dc6a6a37409436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27cad73fd664e09" /><Relationship Type="http://schemas.openxmlformats.org/officeDocument/2006/relationships/notesMaster" Target="/ppt/notesMasters/notesMaster1.xml" Id="Re00fd6e3846d4c7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e84e00e5a2b4f8e" /><Relationship Type="http://schemas.openxmlformats.org/officeDocument/2006/relationships/notesMaster" Target="/ppt/notesMasters/notesMaster1.xml" Id="R19a331adef244f7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5f3dc4f73ac41af" /><Relationship Type="http://schemas.openxmlformats.org/officeDocument/2006/relationships/notesMaster" Target="/ppt/notesMasters/notesMaster1.xml" Id="R0f309588c5254e6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97569cd9cfe4faf" /><Relationship Type="http://schemas.openxmlformats.org/officeDocument/2006/relationships/notesMaster" Target="/ppt/notesMasters/notesMaster1.xml" Id="R5f501e648b1b498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423ecc6f70941e1" /><Relationship Type="http://schemas.openxmlformats.org/officeDocument/2006/relationships/notesMaster" Target="/ppt/notesMasters/notesMaster1.xml" Id="R856fb380c26f424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f92896a207841c5" /><Relationship Type="http://schemas.openxmlformats.org/officeDocument/2006/relationships/notesMaster" Target="/ppt/notesMasters/notesMaster1.xml" Id="Rfe0cbd5702b043d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c406fb2b48a4544" /><Relationship Type="http://schemas.openxmlformats.org/officeDocument/2006/relationships/notesMaster" Target="/ppt/notesMasters/notesMaster1.xml" Id="Rddfc3947540747e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6945357573d400e" /><Relationship Type="http://schemas.openxmlformats.org/officeDocument/2006/relationships/notesMaster" Target="/ppt/notesMasters/notesMaster1.xml" Id="Rd46ae580bc8c497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5aeddd4b6794ff9" /><Relationship Type="http://schemas.openxmlformats.org/officeDocument/2006/relationships/notesMaster" Target="/ppt/notesMasters/notesMaster1.xml" Id="R4bcf9dbddf914d1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076af06fcd14700" /><Relationship Type="http://schemas.openxmlformats.org/officeDocument/2006/relationships/notesMaster" Target="/ppt/notesMasters/notesMaster1.xml" Id="R00304947acf6443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cee19bc627e4b8f" /><Relationship Type="http://schemas.openxmlformats.org/officeDocument/2006/relationships/notesMaster" Target="/ppt/notesMasters/notesMaster1.xml" Id="R79ca342fd3fb4d4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d99b04d619046fa" /><Relationship Type="http://schemas.openxmlformats.org/officeDocument/2006/relationships/notesMaster" Target="/ppt/notesMasters/notesMaster1.xml" Id="R882ac40f2f79422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Abra con una pregunta: que tarea repetitiva les consume mas energia cada semana. Use sus respuestas para conectar con el resto del modulo.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esta diapositiva para mostrar que la sesion no sera teorica solamente. Anticipe los productos que el participante ira construyendo.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Conecte cada resultado con una accion observable. Pida que los participantes identifiquen cual resultado les parece mas valioso para su trabajo.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 convierta esta parte en historia larga. El objetivo es que puedan clasificar herramientas y entender limites.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Invite al grupo a identificar que parte del caso si automatizarian y que parte conservarian con supervision humana.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Pida ejemplos concretos. Si un caso requiere datos sensibles desde el inicio, marque el riesgo y proponga una version sintetica.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Haga una demostracion en vivo si hay conexion. Compare una respuesta inicial con una version mejorada.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Trabaje en parejas. Una persona describe el proceso y otra cuestiona riesgos y datos.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la tabla para discutir que no siempre gana el caso mas atractivo.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Explique que esta escala es pedagogica. El objetivo es visualizar priorizacion, no presentar una metrica absoluta.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Convierta el checklist en habito: antes de usar IA, revisar datos, proposito, supervision y trazabilidad.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Cierre con humildad tecnologica: IA ayuda mucho, pero necesita criterio humano.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Pida que documenten su oportunidad porque sera insumo para los proximos modulos.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303911467e441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27d4b4f907943d1" /><Relationship Type="http://schemas.openxmlformats.org/officeDocument/2006/relationships/slideLayout" Target="/ppt/slideLayouts/slideLayout1.xml" Id="R4dbd2ab6afea435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dbd2ab6afea435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b902e8ea394be2" /><Relationship Type="http://schemas.openxmlformats.org/officeDocument/2006/relationships/notesSlide" Target="/ppt/notesSlides/notesSlide1.xml" Id="Ra55054181f2a4bd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2644e2c00f45f0" /><Relationship Type="http://schemas.openxmlformats.org/officeDocument/2006/relationships/notesSlide" Target="/ppt/notesSlides/notesSlide2.xml" Id="R52440386d3e64bd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2e10b7bc9e4cfd" /><Relationship Type="http://schemas.openxmlformats.org/officeDocument/2006/relationships/notesSlide" Target="/ppt/notesSlides/notesSlide3.xml" Id="R489d5f07537844d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a50ac46e0a440b" /><Relationship Type="http://schemas.openxmlformats.org/officeDocument/2006/relationships/notesSlide" Target="/ppt/notesSlides/notesSlide4.xml" Id="R0039aa9fc6cd4fe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a2ee7921f84a0e" /><Relationship Type="http://schemas.openxmlformats.org/officeDocument/2006/relationships/notesSlide" Target="/ppt/notesSlides/notesSlide5.xml" Id="Rf22087bec6d34cb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f030b8138d48cf" /><Relationship Type="http://schemas.openxmlformats.org/officeDocument/2006/relationships/notesSlide" Target="/ppt/notesSlides/notesSlide6.xml" Id="R710f0dadb70e44f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388e47248c4744" /><Relationship Type="http://schemas.openxmlformats.org/officeDocument/2006/relationships/notesSlide" Target="/ppt/notesSlides/notesSlide7.xml" Id="Rc14b52c4dace44d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3e6e93ca964278" /><Relationship Type="http://schemas.openxmlformats.org/officeDocument/2006/relationships/notesSlide" Target="/ppt/notesSlides/notesSlide8.xml" Id="R8e9c72778a5e425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e2a76fa75a4b5e" /><Relationship Type="http://schemas.openxmlformats.org/officeDocument/2006/relationships/notesSlide" Target="/ppt/notesSlides/notesSlide9.xml" Id="R1c6afb6b2a2a467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19acf3d34d42ad" /><Relationship Type="http://schemas.openxmlformats.org/officeDocument/2006/relationships/chart" Target="/ppt/slides/charts/chart1.xml" Id="R63c03b47d9f44cd2" /><Relationship Type="http://schemas.openxmlformats.org/officeDocument/2006/relationships/notesSlide" Target="/ppt/notesSlides/notesSlide10.xml" Id="R4fa36ef4245548e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b0e431915f47b0" /><Relationship Type="http://schemas.openxmlformats.org/officeDocument/2006/relationships/notesSlide" Target="/ppt/notesSlides/notesSlide11.xml" Id="R296daf10b5fc4e3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1a79f4099a43ee" /><Relationship Type="http://schemas.openxmlformats.org/officeDocument/2006/relationships/notesSlide" Target="/ppt/notesSlides/notesSlide12.xml" Id="R743d73d7dba5493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66a3f95fed45c2" /><Relationship Type="http://schemas.openxmlformats.org/officeDocument/2006/relationships/notesSlide" Target="/ppt/notesSlides/notesSlide13.xml" Id="R58d4acf092a84f87" /></Relationships>
</file>

<file path=ppt/slides/charts/chart1.xml><?xml version="1.0" encoding="utf-8"?>
<c:chartSpace xmlns:c="http://schemas.openxmlformats.org/drawingml/2006/chart">
  <c:lang val="en-US"/>
  <c:roundedCorners val="0"/>
  <c:chart>
    <c:plotArea>
      <c:layout/>
      <c:barChart>
        <c:barDir val="bar"/>
        <c:grouping val="clustered"/>
        <c:varyColors val="0"/>
        <c:ser>
          <c:idx val="0"/>
          <c:order val="0"/>
          <c:tx>
            <c:v>Viabilidad</c:v>
          </c:tx>
          <c:spPr>
            <a:solidFill xmlns:a="http://schemas.openxmlformats.org/drawingml/2006/main">
              <a:srgbClr val="FF6B35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4"/>
              <c:pt idx="0">
                <c:v>Resumir reuniones</c:v>
              </c:pt>
              <c:pt idx="1">
                <c:v>Crear reportes</c:v>
              </c:pt>
              <c:pt idx="2">
                <c:v>Responder solicitudes</c:v>
              </c:pt>
              <c:pt idx="3">
                <c:v>Evaluar candidatos</c:v>
              </c:pt>
            </c:strLit>
          </c:cat>
          <c:val>
            <c:numLit>
              <c:formatCode>General</c:formatCode>
              <c:ptCount val="4"/>
              <c:pt idx="0">
                <c:v>88</c:v>
              </c:pt>
              <c:pt idx="1">
                <c:v>76</c:v>
              </c:pt>
              <c:pt idx="2">
                <c:v>64</c:v>
              </c:pt>
              <c:pt idx="3">
                <c:v>36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00000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8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55555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footer-left">
            <a:extLst xmlns:a="http://schemas.openxmlformats.org/drawingml/2006/main">
              <a:ext uri="{FF2B5EF4-FFF2-40B4-BE49-F238E27FC236}">
                <a16:creationId xmlns:a16="http://schemas.microsoft.com/office/drawing/2014/main" id="{DD5900EE-71D5-4006-AF98-56DE9DA31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Modulo I - Fundamentos de IA</a:t>
            </a:r>
          </a:p>
        </p:txBody>
      </p:sp>
      <p:sp>
        <p:nvSpPr>
          <p:cNvPr id="2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E2BC008F-DF46-4CE9-A34B-143425F94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28650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01 / 13</a:t>
            </a:r>
          </a:p>
        </p:txBody>
      </p:sp>
      <p:sp>
        <p:nvSpPr>
          <p:cNvPr id="3" name="accent-bar">
            <a:extLst xmlns:a="http://schemas.openxmlformats.org/drawingml/2006/main">
              <a:ext uri="{FF2B5EF4-FFF2-40B4-BE49-F238E27FC236}">
                <a16:creationId xmlns:a16="http://schemas.microsoft.com/office/drawing/2014/main" id="{1A35A21D-AA4A-495C-817E-23CECE06C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71450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module-label">
            <a:extLst xmlns:a="http://schemas.openxmlformats.org/drawingml/2006/main">
              <a:ext uri="{FF2B5EF4-FFF2-40B4-BE49-F238E27FC236}">
                <a16:creationId xmlns:a16="http://schemas.microsoft.com/office/drawing/2014/main" id="{694887AD-8D4E-4952-A656-2E97D2A1D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34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55555"/>
                </a:solidFill>
              </a:defRPr>
            </a:pPr>
            <a:r>
              <a:rPr sz="1350" b="1">
                <a:solidFill>
                  <a:srgbClr val="555555"/>
                </a:solidFill>
              </a:rPr>
              <a:t>Modulo 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D989B422-FC6D-45AD-9D3A-A0A1C6F7B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57300"/>
            <a:ext cx="7239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000000"/>
                </a:solidFill>
              </a:defRPr>
            </a:pPr>
            <a:r>
              <a:rPr sz="4650" b="1">
                <a:solidFill>
                  <a:srgbClr val="000000"/>
                </a:solidFill>
              </a:rPr>
              <a:t>Introduccion y potencial aplicado de la IA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DF735E0A-CEC0-496A-8D66-DDEEC0BD0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81375"/>
            <a:ext cx="6572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55555"/>
                </a:solidFill>
              </a:defRPr>
            </a:pPr>
            <a:r>
              <a:rPr sz="1875" b="0">
                <a:solidFill>
                  <a:srgbClr val="555555"/>
                </a:solidFill>
              </a:rPr>
              <a:t>Fundamentos, casos de uso, limites, riesgos y criterios de aplicacion en el trabajo.</a:t>
            </a:r>
          </a:p>
        </p:txBody>
      </p:sp>
      <p:sp>
        <p:nvSpPr>
          <p:cNvPr id="7" name="right-field">
            <a:extLst xmlns:a="http://schemas.openxmlformats.org/drawingml/2006/main">
              <a:ext uri="{FF2B5EF4-FFF2-40B4-BE49-F238E27FC236}">
                <a16:creationId xmlns:a16="http://schemas.microsoft.com/office/drawing/2014/main" id="{FBAFE3E8-78DD-449C-B8A5-E9A5A596D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762000"/>
            <a:ext cx="314325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right-field-title">
            <a:extLst xmlns:a="http://schemas.openxmlformats.org/drawingml/2006/main">
              <a:ext uri="{FF2B5EF4-FFF2-40B4-BE49-F238E27FC236}">
                <a16:creationId xmlns:a16="http://schemas.microsoft.com/office/drawing/2014/main" id="{AC0A774F-E465-485B-B086-D7340E324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333500"/>
            <a:ext cx="2333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0000"/>
                </a:solidFill>
              </a:defRPr>
            </a:pPr>
            <a:r>
              <a:rPr sz="2700" b="1">
                <a:solidFill>
                  <a:srgbClr val="000000"/>
                </a:solidFill>
              </a:rPr>
              <a:t>Pensar antes de automatizar</a:t>
            </a:r>
          </a:p>
        </p:txBody>
      </p:sp>
      <p:sp>
        <p:nvSpPr>
          <p:cNvPr id="9" name="right-field-body">
            <a:extLst xmlns:a="http://schemas.openxmlformats.org/drawingml/2006/main">
              <a:ext uri="{FF2B5EF4-FFF2-40B4-BE49-F238E27FC236}">
                <a16:creationId xmlns:a16="http://schemas.microsoft.com/office/drawing/2014/main" id="{1854FEFB-D68B-4B49-A293-136D59638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476500"/>
            <a:ext cx="22669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El valor surge cuando conectamos tecnologia, proceso, datos y juicio profesional.</a:t>
            </a:r>
          </a:p>
        </p:txBody>
      </p:sp>
    </p:spTree>
    <p:extLst>
      <p:ext uri="{BB962C8B-B14F-4D97-AF65-F5344CB8AC3E}">
        <p14:creationId xmlns:p14="http://schemas.microsoft.com/office/powerpoint/2010/main" val="114364115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footer-left">
            <a:extLst xmlns:a="http://schemas.openxmlformats.org/drawingml/2006/main">
              <a:ext uri="{FF2B5EF4-FFF2-40B4-BE49-F238E27FC236}">
                <a16:creationId xmlns:a16="http://schemas.microsoft.com/office/drawing/2014/main" id="{1542BA36-7717-4894-8ECF-9B5C9AF80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Modulo I - Fundamentos de IA</a:t>
            </a:r>
          </a:p>
        </p:txBody>
      </p:sp>
      <p:sp>
        <p:nvSpPr>
          <p:cNvPr id="2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CC6319E6-2743-4E86-909B-7B486AB37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28650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02 / 13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248546E-F0DE-4E6D-BAC9-76B51DF94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4095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</a:defRPr>
            </a:pPr>
            <a:r>
              <a:rPr sz="3300" b="1">
                <a:solidFill>
                  <a:srgbClr val="000000"/>
                </a:solidFill>
              </a:rPr>
              <a:t>Ruta de aprendizaje</a:t>
            </a:r>
          </a:p>
        </p:txBody>
      </p:sp>
      <p:sp>
        <p:nvSpPr>
          <p:cNvPr id="4" name="agenda">
            <a:extLst xmlns:a="http://schemas.openxmlformats.org/drawingml/2006/main">
              <a:ext uri="{FF2B5EF4-FFF2-40B4-BE49-F238E27FC236}">
                <a16:creationId xmlns:a16="http://schemas.microsoft.com/office/drawing/2014/main" id="{3D0E60A1-148F-4A99-95AB-0396607C0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57200"/>
            <a:ext cx="5334000" cy="433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000000"/>
                </a:solidFill>
              </a:defRPr>
            </a:pPr>
            <a:r>
              <a:rPr sz="2550" b="0">
                <a:solidFill>
                  <a:srgbClr val="000000"/>
                </a:solidFill>
              </a:rPr>
              <a:t>1. Que es IA y que no es</a:t>
            </a:r>
          </a:p>
          <a:p xmlns:a="http://schemas.openxmlformats.org/drawingml/2006/main">
            <a:pPr algn="l">
              <a:defRPr sz="2550" b="0">
                <a:solidFill>
                  <a:srgbClr val="000000"/>
                </a:solidFill>
              </a:defRPr>
            </a:pPr>
            <a:r>
              <a:rPr sz="2550" b="0">
                <a:solidFill>
                  <a:srgbClr val="000000"/>
                </a:solidFill>
              </a:rPr>
              <a:t>2. De machine learning a IA generativa</a:t>
            </a:r>
          </a:p>
          <a:p xmlns:a="http://schemas.openxmlformats.org/drawingml/2006/main">
            <a:pPr algn="l">
              <a:defRPr sz="2550" b="0">
                <a:solidFill>
                  <a:srgbClr val="000000"/>
                </a:solidFill>
              </a:defRPr>
            </a:pPr>
            <a:r>
              <a:rPr sz="2550" b="0">
                <a:solidFill>
                  <a:srgbClr val="000000"/>
                </a:solidFill>
              </a:rPr>
              <a:t>3. Casos de uso laborales</a:t>
            </a:r>
          </a:p>
          <a:p xmlns:a="http://schemas.openxmlformats.org/drawingml/2006/main">
            <a:pPr algn="l">
              <a:defRPr sz="2550" b="0">
                <a:solidFill>
                  <a:srgbClr val="000000"/>
                </a:solidFill>
              </a:defRPr>
            </a:pPr>
            <a:r>
              <a:rPr sz="2550" b="0">
                <a:solidFill>
                  <a:srgbClr val="000000"/>
                </a:solidFill>
              </a:rPr>
              <a:t>4. Riesgos, limites y privacidad</a:t>
            </a:r>
          </a:p>
          <a:p xmlns:a="http://schemas.openxmlformats.org/drawingml/2006/main">
            <a:pPr algn="l">
              <a:defRPr sz="2550" b="0">
                <a:solidFill>
                  <a:srgbClr val="000000"/>
                </a:solidFill>
              </a:defRPr>
            </a:pPr>
            <a:r>
              <a:rPr sz="2550" b="0">
                <a:solidFill>
                  <a:srgbClr val="000000"/>
                </a:solidFill>
              </a:rPr>
              <a:t>5. Mapa de oportunidades</a:t>
            </a:r>
          </a:p>
          <a:p xmlns:a="http://schemas.openxmlformats.org/drawingml/2006/main">
            <a:pPr algn="l">
              <a:defRPr sz="2550" b="0">
                <a:solidFill>
                  <a:srgbClr val="000000"/>
                </a:solidFill>
              </a:defRPr>
            </a:pPr>
            <a:r>
              <a:rPr sz="2550" b="0">
                <a:solidFill>
                  <a:srgbClr val="000000"/>
                </a:solidFill>
              </a:rPr>
              <a:t>6. Practica guiada</a:t>
            </a:r>
          </a:p>
        </p:txBody>
      </p:sp>
      <p:sp>
        <p:nvSpPr>
          <p:cNvPr id="5" name="rhythm">
            <a:extLst xmlns:a="http://schemas.openxmlformats.org/drawingml/2006/main">
              <a:ext uri="{FF2B5EF4-FFF2-40B4-BE49-F238E27FC236}">
                <a16:creationId xmlns:a16="http://schemas.microsoft.com/office/drawing/2014/main" id="{7A2984DD-218C-40FE-9EE1-D57075B02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10125"/>
            <a:ext cx="4953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Cada bloque combina concepto, demostracion, practica y reflexion.</a:t>
            </a:r>
          </a:p>
        </p:txBody>
      </p:sp>
    </p:spTree>
    <p:extLst>
      <p:ext uri="{BB962C8B-B14F-4D97-AF65-F5344CB8AC3E}">
        <p14:creationId xmlns:p14="http://schemas.microsoft.com/office/powerpoint/2010/main" val="113242760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footer-left">
            <a:extLst xmlns:a="http://schemas.openxmlformats.org/drawingml/2006/main">
              <a:ext uri="{FF2B5EF4-FFF2-40B4-BE49-F238E27FC236}">
                <a16:creationId xmlns:a16="http://schemas.microsoft.com/office/drawing/2014/main" id="{6EB6949D-4736-4F7E-B69D-BA81AE4EE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Modulo I - Fundamentos de IA</a:t>
            </a:r>
          </a:p>
        </p:txBody>
      </p:sp>
      <p:sp>
        <p:nvSpPr>
          <p:cNvPr id="2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60EF1902-D4EF-45C8-AF8F-E6921CEE5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28650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03 / 13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E031A53-3299-480E-A4F7-3CF99DC2F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781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</a:defRPr>
            </a:pPr>
            <a:r>
              <a:rPr sz="3300" b="1">
                <a:solidFill>
                  <a:srgbClr val="000000"/>
                </a:solidFill>
              </a:rPr>
              <a:t>Al finalizar podras</a:t>
            </a:r>
          </a:p>
        </p:txBody>
      </p:sp>
      <p:sp>
        <p:nvSpPr>
          <p:cNvPr id="4" name="outcome-box-0">
            <a:extLst xmlns:a="http://schemas.openxmlformats.org/drawingml/2006/main">
              <a:ext uri="{FF2B5EF4-FFF2-40B4-BE49-F238E27FC236}">
                <a16:creationId xmlns:a16="http://schemas.microsoft.com/office/drawing/2014/main" id="{6D038680-17B7-4C12-92C5-443C8E4BC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71625"/>
            <a:ext cx="247650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outcome-num-0">
            <a:extLst xmlns:a="http://schemas.openxmlformats.org/drawingml/2006/main">
              <a:ext uri="{FF2B5EF4-FFF2-40B4-BE49-F238E27FC236}">
                <a16:creationId xmlns:a16="http://schemas.microsoft.com/office/drawing/2014/main" id="{4B55022B-4D54-4053-9E73-E4DCD51AF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819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0000"/>
                </a:solidFill>
              </a:defRPr>
            </a:pPr>
            <a:r>
              <a:rPr sz="2550" b="1">
                <a:solidFill>
                  <a:srgbClr val="000000"/>
                </a:solidFill>
              </a:rPr>
              <a:t>01</a:t>
            </a:r>
          </a:p>
        </p:txBody>
      </p:sp>
      <p:sp>
        <p:nvSpPr>
          <p:cNvPr id="6" name="outcome-0">
            <a:extLst xmlns:a="http://schemas.openxmlformats.org/drawingml/2006/main">
              <a:ext uri="{FF2B5EF4-FFF2-40B4-BE49-F238E27FC236}">
                <a16:creationId xmlns:a16="http://schemas.microsoft.com/office/drawing/2014/main" id="{3DF62787-73A5-42C2-B367-E07DD4541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20002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</a:defRPr>
            </a:pPr>
            <a:r>
              <a:rPr sz="1800" b="0">
                <a:solidFill>
                  <a:srgbClr val="000000"/>
                </a:solidFill>
              </a:rPr>
              <a:t>Distinguir IA, ML, deep learning e IA generativa.</a:t>
            </a:r>
          </a:p>
        </p:txBody>
      </p:sp>
      <p:sp>
        <p:nvSpPr>
          <p:cNvPr id="7" name="outcome-box-1">
            <a:extLst xmlns:a="http://schemas.openxmlformats.org/drawingml/2006/main">
              <a:ext uri="{FF2B5EF4-FFF2-40B4-BE49-F238E27FC236}">
                <a16:creationId xmlns:a16="http://schemas.microsoft.com/office/drawing/2014/main" id="{36E2DAB5-856D-4F1B-AADE-0A778DC98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571625"/>
            <a:ext cx="247650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outcome-num-1">
            <a:extLst xmlns:a="http://schemas.openxmlformats.org/drawingml/2006/main">
              <a:ext uri="{FF2B5EF4-FFF2-40B4-BE49-F238E27FC236}">
                <a16:creationId xmlns:a16="http://schemas.microsoft.com/office/drawing/2014/main" id="{B67644C7-2D9A-4416-9BA5-28BD8796B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809750"/>
            <a:ext cx="819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6B35"/>
                </a:solidFill>
              </a:defRPr>
            </a:pPr>
            <a:r>
              <a:rPr sz="2550" b="1">
                <a:solidFill>
                  <a:srgbClr val="FF6B35"/>
                </a:solidFill>
              </a:rPr>
              <a:t>02</a:t>
            </a:r>
          </a:p>
        </p:txBody>
      </p:sp>
      <p:sp>
        <p:nvSpPr>
          <p:cNvPr id="9" name="outcome-1">
            <a:extLst xmlns:a="http://schemas.openxmlformats.org/drawingml/2006/main">
              <a:ext uri="{FF2B5EF4-FFF2-40B4-BE49-F238E27FC236}">
                <a16:creationId xmlns:a16="http://schemas.microsoft.com/office/drawing/2014/main" id="{8B2DF641-237C-4EA1-A1E2-59FFF29F4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476500"/>
            <a:ext cx="20002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Identificar procesos con potencial real de mejora.</a:t>
            </a:r>
          </a:p>
        </p:txBody>
      </p:sp>
      <p:sp>
        <p:nvSpPr>
          <p:cNvPr id="10" name="outcome-box-2">
            <a:extLst xmlns:a="http://schemas.openxmlformats.org/drawingml/2006/main">
              <a:ext uri="{FF2B5EF4-FFF2-40B4-BE49-F238E27FC236}">
                <a16:creationId xmlns:a16="http://schemas.microsoft.com/office/drawing/2014/main" id="{464EEE06-F6FC-456F-917E-866B1413E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571625"/>
            <a:ext cx="247650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outcome-num-2">
            <a:extLst xmlns:a="http://schemas.openxmlformats.org/drawingml/2006/main">
              <a:ext uri="{FF2B5EF4-FFF2-40B4-BE49-F238E27FC236}">
                <a16:creationId xmlns:a16="http://schemas.microsoft.com/office/drawing/2014/main" id="{A1FE9599-A852-4EC6-BC05-5375FECD9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09750"/>
            <a:ext cx="819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0000"/>
                </a:solidFill>
              </a:defRPr>
            </a:pPr>
            <a:r>
              <a:rPr sz="2550" b="1">
                <a:solidFill>
                  <a:srgbClr val="000000"/>
                </a:solidFill>
              </a:rPr>
              <a:t>03</a:t>
            </a:r>
          </a:p>
        </p:txBody>
      </p:sp>
      <p:sp>
        <p:nvSpPr>
          <p:cNvPr id="12" name="outcome-2">
            <a:extLst xmlns:a="http://schemas.openxmlformats.org/drawingml/2006/main">
              <a:ext uri="{FF2B5EF4-FFF2-40B4-BE49-F238E27FC236}">
                <a16:creationId xmlns:a16="http://schemas.microsoft.com/office/drawing/2014/main" id="{555D30A9-42D9-4388-B3CD-65FB02A20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76500"/>
            <a:ext cx="20002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</a:defRPr>
            </a:pPr>
            <a:r>
              <a:rPr sz="1800" b="0">
                <a:solidFill>
                  <a:srgbClr val="000000"/>
                </a:solidFill>
              </a:rPr>
              <a:t>Reconocer riesgos y controles minimos.</a:t>
            </a:r>
          </a:p>
        </p:txBody>
      </p:sp>
      <p:sp>
        <p:nvSpPr>
          <p:cNvPr id="13" name="outcome-box-3">
            <a:extLst xmlns:a="http://schemas.openxmlformats.org/drawingml/2006/main">
              <a:ext uri="{FF2B5EF4-FFF2-40B4-BE49-F238E27FC236}">
                <a16:creationId xmlns:a16="http://schemas.microsoft.com/office/drawing/2014/main" id="{46A1D60B-2186-4B3B-AD53-72133EEC8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571625"/>
            <a:ext cx="247650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outcome-num-3">
            <a:extLst xmlns:a="http://schemas.openxmlformats.org/drawingml/2006/main">
              <a:ext uri="{FF2B5EF4-FFF2-40B4-BE49-F238E27FC236}">
                <a16:creationId xmlns:a16="http://schemas.microsoft.com/office/drawing/2014/main" id="{B6728811-698E-4DBD-B76F-3A97D091F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809750"/>
            <a:ext cx="819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0000"/>
                </a:solidFill>
              </a:defRPr>
            </a:pPr>
            <a:r>
              <a:rPr sz="2550" b="1">
                <a:solidFill>
                  <a:srgbClr val="000000"/>
                </a:solidFill>
              </a:rPr>
              <a:t>04</a:t>
            </a:r>
          </a:p>
        </p:txBody>
      </p:sp>
      <p:sp>
        <p:nvSpPr>
          <p:cNvPr id="15" name="outcome-3">
            <a:extLst xmlns:a="http://schemas.openxmlformats.org/drawingml/2006/main">
              <a:ext uri="{FF2B5EF4-FFF2-40B4-BE49-F238E27FC236}">
                <a16:creationId xmlns:a16="http://schemas.microsoft.com/office/drawing/2014/main" id="{88206386-BBF6-47B8-8F29-6EF91BA01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476500"/>
            <a:ext cx="20002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</a:defRPr>
            </a:pPr>
            <a:r>
              <a:rPr sz="1800" b="0">
                <a:solidFill>
                  <a:srgbClr val="000000"/>
                </a:solidFill>
              </a:rPr>
              <a:t>Priorizar oportunidades con impacto y esfuerzo.</a:t>
            </a:r>
          </a:p>
        </p:txBody>
      </p:sp>
      <p:sp>
        <p:nvSpPr>
          <p:cNvPr id="16" name="evidence">
            <a:extLst xmlns:a="http://schemas.openxmlformats.org/drawingml/2006/main">
              <a:ext uri="{FF2B5EF4-FFF2-40B4-BE49-F238E27FC236}">
                <a16:creationId xmlns:a16="http://schemas.microsoft.com/office/drawing/2014/main" id="{E88EB037-E495-41C9-A208-A796A2527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10125"/>
            <a:ext cx="914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</a:rPr>
              <a:t>Evidencia del modulo: matriz de oportunidades y riesgos para un proceso laboral.</a:t>
            </a:r>
          </a:p>
        </p:txBody>
      </p:sp>
    </p:spTree>
    <p:extLst>
      <p:ext uri="{BB962C8B-B14F-4D97-AF65-F5344CB8AC3E}">
        <p14:creationId xmlns:p14="http://schemas.microsoft.com/office/powerpoint/2010/main" val="117459161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footer-left">
            <a:extLst xmlns:a="http://schemas.openxmlformats.org/drawingml/2006/main">
              <a:ext uri="{FF2B5EF4-FFF2-40B4-BE49-F238E27FC236}">
                <a16:creationId xmlns:a16="http://schemas.microsoft.com/office/drawing/2014/main" id="{2AA9D1A2-CA12-4E85-B2F6-F2B728931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Modulo I - Fundamentos de IA</a:t>
            </a:r>
          </a:p>
        </p:txBody>
      </p:sp>
      <p:sp>
        <p:nvSpPr>
          <p:cNvPr id="2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6D976D74-A55E-4398-9735-583EE1909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28650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04 / 13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A136A09-804E-4F4F-BCD1-D37364A2D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</a:defRPr>
            </a:pPr>
            <a:r>
              <a:rPr sz="3300" b="1">
                <a:solidFill>
                  <a:srgbClr val="000000"/>
                </a:solidFill>
              </a:rPr>
              <a:t>Marco basico para entender IA</a:t>
            </a:r>
          </a:p>
        </p:txBody>
      </p:sp>
      <p:sp>
        <p:nvSpPr>
          <p:cNvPr id="4" name="concept-box-0">
            <a:extLst xmlns:a="http://schemas.openxmlformats.org/drawingml/2006/main">
              <a:ext uri="{FF2B5EF4-FFF2-40B4-BE49-F238E27FC236}">
                <a16:creationId xmlns:a16="http://schemas.microsoft.com/office/drawing/2014/main" id="{F6944DD9-3713-43EE-9CE1-8CC3BFD8C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3905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concept-title-0">
            <a:extLst xmlns:a="http://schemas.openxmlformats.org/drawingml/2006/main">
              <a:ext uri="{FF2B5EF4-FFF2-40B4-BE49-F238E27FC236}">
                <a16:creationId xmlns:a16="http://schemas.microsoft.com/office/drawing/2014/main" id="{1D2A4792-5F57-4288-9324-BC150736F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2400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6B35"/>
                </a:solidFill>
              </a:defRPr>
            </a:pPr>
            <a:r>
              <a:rPr sz="1875" b="1">
                <a:solidFill>
                  <a:srgbClr val="FF6B35"/>
                </a:solidFill>
              </a:rPr>
              <a:t>IA</a:t>
            </a:r>
          </a:p>
        </p:txBody>
      </p:sp>
      <p:sp>
        <p:nvSpPr>
          <p:cNvPr id="6" name="concept-desc-0">
            <a:extLst xmlns:a="http://schemas.openxmlformats.org/drawingml/2006/main">
              <a:ext uri="{FF2B5EF4-FFF2-40B4-BE49-F238E27FC236}">
                <a16:creationId xmlns:a16="http://schemas.microsoft.com/office/drawing/2014/main" id="{633B4300-A63F-4FC6-88CF-E8D3D0AC1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524000"/>
            <a:ext cx="809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Sistemas que ejecutan tareas asociadas a razonamiento, lenguaje, vision o decision.</a:t>
            </a:r>
          </a:p>
        </p:txBody>
      </p:sp>
      <p:sp>
        <p:nvSpPr>
          <p:cNvPr id="7" name="concept-box-1">
            <a:extLst xmlns:a="http://schemas.openxmlformats.org/drawingml/2006/main">
              <a:ext uri="{FF2B5EF4-FFF2-40B4-BE49-F238E27FC236}">
                <a16:creationId xmlns:a16="http://schemas.microsoft.com/office/drawing/2014/main" id="{EAFA0532-65F1-4E5F-AF4B-A77883009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81250"/>
            <a:ext cx="3905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concept-title-1">
            <a:extLst xmlns:a="http://schemas.openxmlformats.org/drawingml/2006/main">
              <a:ext uri="{FF2B5EF4-FFF2-40B4-BE49-F238E27FC236}">
                <a16:creationId xmlns:a16="http://schemas.microsoft.com/office/drawing/2014/main" id="{7B7E71E1-6EF3-49EC-A3E6-043F25CC7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24125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ML</a:t>
            </a:r>
          </a:p>
        </p:txBody>
      </p:sp>
      <p:sp>
        <p:nvSpPr>
          <p:cNvPr id="9" name="concept-desc-1">
            <a:extLst xmlns:a="http://schemas.openxmlformats.org/drawingml/2006/main">
              <a:ext uri="{FF2B5EF4-FFF2-40B4-BE49-F238E27FC236}">
                <a16:creationId xmlns:a16="http://schemas.microsoft.com/office/drawing/2014/main" id="{82595697-C935-4A31-9721-75AF645C1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524125"/>
            <a:ext cx="809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Modelos que aprenden patrones desde datos historicos para predecir o clasificar.</a:t>
            </a:r>
          </a:p>
        </p:txBody>
      </p:sp>
      <p:sp>
        <p:nvSpPr>
          <p:cNvPr id="10" name="concept-box-2">
            <a:extLst xmlns:a="http://schemas.openxmlformats.org/drawingml/2006/main">
              <a:ext uri="{FF2B5EF4-FFF2-40B4-BE49-F238E27FC236}">
                <a16:creationId xmlns:a16="http://schemas.microsoft.com/office/drawing/2014/main" id="{B735D270-31DF-4579-B547-C3B336D93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81375"/>
            <a:ext cx="3905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concept-title-2">
            <a:extLst xmlns:a="http://schemas.openxmlformats.org/drawingml/2006/main">
              <a:ext uri="{FF2B5EF4-FFF2-40B4-BE49-F238E27FC236}">
                <a16:creationId xmlns:a16="http://schemas.microsoft.com/office/drawing/2014/main" id="{E116DB7E-626E-4EDF-BF15-5EAABCBAA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2425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Deep learning</a:t>
            </a:r>
          </a:p>
        </p:txBody>
      </p:sp>
      <p:sp>
        <p:nvSpPr>
          <p:cNvPr id="12" name="concept-desc-2">
            <a:extLst xmlns:a="http://schemas.openxmlformats.org/drawingml/2006/main">
              <a:ext uri="{FF2B5EF4-FFF2-40B4-BE49-F238E27FC236}">
                <a16:creationId xmlns:a16="http://schemas.microsoft.com/office/drawing/2014/main" id="{BA04B302-7A61-4DA3-BE3C-B01BCD37A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524250"/>
            <a:ext cx="809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Redes neuronales profundas utiles para lenguaje, imagen, audio y patrones complejos.</a:t>
            </a:r>
          </a:p>
        </p:txBody>
      </p:sp>
      <p:sp>
        <p:nvSpPr>
          <p:cNvPr id="13" name="concept-box-3">
            <a:extLst xmlns:a="http://schemas.openxmlformats.org/drawingml/2006/main">
              <a:ext uri="{FF2B5EF4-FFF2-40B4-BE49-F238E27FC236}">
                <a16:creationId xmlns:a16="http://schemas.microsoft.com/office/drawing/2014/main" id="{9635B32A-502F-4700-90AF-6897E6652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81500"/>
            <a:ext cx="3905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concept-title-3">
            <a:extLst xmlns:a="http://schemas.openxmlformats.org/drawingml/2006/main">
              <a:ext uri="{FF2B5EF4-FFF2-40B4-BE49-F238E27FC236}">
                <a16:creationId xmlns:a16="http://schemas.microsoft.com/office/drawing/2014/main" id="{BA4E8C74-C3F2-41F5-9E1F-10754A7EF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24375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IA generativa</a:t>
            </a:r>
          </a:p>
        </p:txBody>
      </p:sp>
      <p:sp>
        <p:nvSpPr>
          <p:cNvPr id="15" name="concept-desc-3">
            <a:extLst xmlns:a="http://schemas.openxmlformats.org/drawingml/2006/main">
              <a:ext uri="{FF2B5EF4-FFF2-40B4-BE49-F238E27FC236}">
                <a16:creationId xmlns:a16="http://schemas.microsoft.com/office/drawing/2014/main" id="{8A6DDBE6-506C-4126-B169-8F47F6D4A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524375"/>
            <a:ext cx="809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Modelos que crean texto, codigo, imagenes o estructuras a partir de instrucciones.</a:t>
            </a:r>
          </a:p>
        </p:txBody>
      </p:sp>
    </p:spTree>
    <p:extLst>
      <p:ext uri="{BB962C8B-B14F-4D97-AF65-F5344CB8AC3E}">
        <p14:creationId xmlns:p14="http://schemas.microsoft.com/office/powerpoint/2010/main" val="170604102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footer-left">
            <a:extLst xmlns:a="http://schemas.openxmlformats.org/drawingml/2006/main">
              <a:ext uri="{FF2B5EF4-FFF2-40B4-BE49-F238E27FC236}">
                <a16:creationId xmlns:a16="http://schemas.microsoft.com/office/drawing/2014/main" id="{97FFA499-E137-4092-8D92-BE2192D2C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Modulo I - Fundamentos de IA</a:t>
            </a:r>
          </a:p>
        </p:txBody>
      </p:sp>
      <p:sp>
        <p:nvSpPr>
          <p:cNvPr id="2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153B1665-5F21-42AE-8B5B-39E0C8408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28650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05 / 13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ABCD49C-CE65-40AB-9343-4E29FFDA0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8191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</a:defRPr>
            </a:pPr>
            <a:r>
              <a:rPr sz="3300" b="1">
                <a:solidFill>
                  <a:srgbClr val="000000"/>
                </a:solidFill>
              </a:rPr>
              <a:t>Ejemplo aplicado: atencion ciudadana</a:t>
            </a:r>
          </a:p>
        </p:txBody>
      </p:sp>
      <p:sp>
        <p:nvSpPr>
          <p:cNvPr id="4" name="context-label">
            <a:extLst xmlns:a="http://schemas.openxmlformats.org/drawingml/2006/main">
              <a:ext uri="{FF2B5EF4-FFF2-40B4-BE49-F238E27FC236}">
                <a16:creationId xmlns:a16="http://schemas.microsoft.com/office/drawing/2014/main" id="{CB45C385-4FC6-41FB-8626-A82E494BA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Contexto</a:t>
            </a:r>
          </a:p>
        </p:txBody>
      </p:sp>
      <p:sp>
        <p:nvSpPr>
          <p:cNvPr id="5" name="context">
            <a:extLst xmlns:a="http://schemas.openxmlformats.org/drawingml/2006/main">
              <a:ext uri="{FF2B5EF4-FFF2-40B4-BE49-F238E27FC236}">
                <a16:creationId xmlns:a16="http://schemas.microsoft.com/office/drawing/2014/main" id="{D857CEEF-764A-4D80-B830-7D9688C5B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4476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55555"/>
                </a:solidFill>
              </a:defRPr>
            </a:pPr>
            <a:r>
              <a:rPr sz="1725" b="0">
                <a:solidFill>
                  <a:srgbClr val="555555"/>
                </a:solidFill>
              </a:rPr>
              <a:t>Una institucion recibe solicitudes repetitivas por correo y formularios. Los tiempos de respuesta varian segun area y persona.</a:t>
            </a:r>
          </a:p>
        </p:txBody>
      </p:sp>
      <p:sp>
        <p:nvSpPr>
          <p:cNvPr id="6" name="action-panel">
            <a:extLst xmlns:a="http://schemas.openxmlformats.org/drawingml/2006/main">
              <a:ext uri="{FF2B5EF4-FFF2-40B4-BE49-F238E27FC236}">
                <a16:creationId xmlns:a16="http://schemas.microsoft.com/office/drawing/2014/main" id="{010E98FC-D177-4BB1-8CD8-52A20035A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381125"/>
            <a:ext cx="57150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action-label">
            <a:extLst xmlns:a="http://schemas.openxmlformats.org/drawingml/2006/main">
              <a:ext uri="{FF2B5EF4-FFF2-40B4-BE49-F238E27FC236}">
                <a16:creationId xmlns:a16="http://schemas.microsoft.com/office/drawing/2014/main" id="{6F1F4B97-E09A-48CB-B252-756F15F46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7145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</a:rPr>
              <a:t>Como se aplica IA</a:t>
            </a:r>
          </a:p>
        </p:txBody>
      </p:sp>
      <p:sp>
        <p:nvSpPr>
          <p:cNvPr id="8" name="action-list">
            <a:extLst xmlns:a="http://schemas.openxmlformats.org/drawingml/2006/main">
              <a:ext uri="{FF2B5EF4-FFF2-40B4-BE49-F238E27FC236}">
                <a16:creationId xmlns:a16="http://schemas.microsoft.com/office/drawing/2014/main" id="{9361D9E3-B848-4CB1-AEEF-568DD9E09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305050"/>
            <a:ext cx="4953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</a:defRPr>
            </a:pPr>
            <a:r>
              <a:rPr sz="1800" b="0">
                <a:solidFill>
                  <a:srgbClr val="000000"/>
                </a:solidFill>
              </a:rPr>
              <a:t>- Clasificar solicitudes por tema y urgencia.</a:t>
            </a:r>
          </a:p>
          <a:p xmlns:a="http://schemas.openxmlformats.org/drawingml/2006/main">
            <a:pPr algn="l">
              <a:defRPr sz="1800" b="0">
                <a:solidFill>
                  <a:srgbClr val="000000"/>
                </a:solidFill>
              </a:defRPr>
            </a:pPr>
            <a:r>
              <a:rPr sz="1800" b="0">
                <a:solidFill>
                  <a:srgbClr val="000000"/>
                </a:solidFill>
              </a:rPr>
              <a:t>- Sugerir borradores de respuesta con base institucional.</a:t>
            </a:r>
          </a:p>
          <a:p xmlns:a="http://schemas.openxmlformats.org/drawingml/2006/main">
            <a:pPr algn="l">
              <a:defRPr sz="1800" b="0">
                <a:solidFill>
                  <a:srgbClr val="000000"/>
                </a:solidFill>
              </a:defRPr>
            </a:pPr>
            <a:r>
              <a:rPr sz="1800" b="0">
                <a:solidFill>
                  <a:srgbClr val="000000"/>
                </a:solidFill>
              </a:rPr>
              <a:t>- Detectar temas frecuentes para mejorar servicios.</a:t>
            </a:r>
          </a:p>
          <a:p xmlns:a="http://schemas.openxmlformats.org/drawingml/2006/main">
            <a:pPr algn="l">
              <a:defRPr sz="1800" b="0">
                <a:solidFill>
                  <a:srgbClr val="000000"/>
                </a:solidFill>
              </a:defRPr>
            </a:pPr>
            <a:r>
              <a:rPr sz="1800" b="0">
                <a:solidFill>
                  <a:srgbClr val="000000"/>
                </a:solidFill>
              </a:rPr>
              <a:t>- Mantener revision humana antes de enviar.</a:t>
            </a:r>
          </a:p>
        </p:txBody>
      </p:sp>
      <p:sp>
        <p:nvSpPr>
          <p:cNvPr id="9" name="result">
            <a:extLst xmlns:a="http://schemas.openxmlformats.org/drawingml/2006/main">
              <a:ext uri="{FF2B5EF4-FFF2-40B4-BE49-F238E27FC236}">
                <a16:creationId xmlns:a16="http://schemas.microsoft.com/office/drawing/2014/main" id="{3255FA6D-BEB8-4DB6-8200-2F8DD61CC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76750"/>
            <a:ext cx="4572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Resultado esperado: respuestas mas consistentes y trazables, sin delegar decisiones sensibles.</a:t>
            </a:r>
          </a:p>
        </p:txBody>
      </p:sp>
    </p:spTree>
    <p:extLst>
      <p:ext uri="{BB962C8B-B14F-4D97-AF65-F5344CB8AC3E}">
        <p14:creationId xmlns:p14="http://schemas.microsoft.com/office/powerpoint/2010/main" val="59210931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footer-left">
            <a:extLst xmlns:a="http://schemas.openxmlformats.org/drawingml/2006/main">
              <a:ext uri="{FF2B5EF4-FFF2-40B4-BE49-F238E27FC236}">
                <a16:creationId xmlns:a16="http://schemas.microsoft.com/office/drawing/2014/main" id="{2A74C159-033D-4887-A46F-1ADA1E488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Modulo I - Fundamentos de IA</a:t>
            </a:r>
          </a:p>
        </p:txBody>
      </p:sp>
      <p:sp>
        <p:nvSpPr>
          <p:cNvPr id="2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06F319CF-1317-4195-A5E0-E0CFAC2E7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28650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06 / 13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3B1CD9C-5E37-47E5-99A1-BDE34B31A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838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</a:defRPr>
            </a:pPr>
            <a:r>
              <a:rPr sz="3300" b="1">
                <a:solidFill>
                  <a:srgbClr val="000000"/>
                </a:solidFill>
              </a:rPr>
              <a:t>Metodo para seleccionar casos de uso</a:t>
            </a:r>
          </a:p>
        </p:txBody>
      </p:sp>
      <p:sp>
        <p:nvSpPr>
          <p:cNvPr id="4" name="step-number-0">
            <a:extLst xmlns:a="http://schemas.openxmlformats.org/drawingml/2006/main">
              <a:ext uri="{FF2B5EF4-FFF2-40B4-BE49-F238E27FC236}">
                <a16:creationId xmlns:a16="http://schemas.microsoft.com/office/drawing/2014/main" id="{5F741F14-771B-47CD-B7A3-FE3E58D58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876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01</a:t>
            </a:r>
          </a:p>
        </p:txBody>
      </p:sp>
      <p:sp>
        <p:nvSpPr>
          <p:cNvPr id="5" name="step-rule-0">
            <a:extLst xmlns:a="http://schemas.openxmlformats.org/drawingml/2006/main">
              <a:ext uri="{FF2B5EF4-FFF2-40B4-BE49-F238E27FC236}">
                <a16:creationId xmlns:a16="http://schemas.microsoft.com/office/drawing/2014/main" id="{B3814521-9D0D-4307-9C79-B517242E3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33600"/>
            <a:ext cx="2333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tep-title-0">
            <a:extLst xmlns:a="http://schemas.openxmlformats.org/drawingml/2006/main">
              <a:ext uri="{FF2B5EF4-FFF2-40B4-BE49-F238E27FC236}">
                <a16:creationId xmlns:a16="http://schemas.microsoft.com/office/drawing/2014/main" id="{25039D43-2B2B-4AEF-9C16-8D72D619A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81250"/>
            <a:ext cx="23336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0000"/>
                </a:solidFill>
              </a:defRPr>
            </a:pPr>
            <a:r>
              <a:rPr sz="2175" b="1">
                <a:solidFill>
                  <a:srgbClr val="000000"/>
                </a:solidFill>
              </a:rPr>
              <a:t>Describir</a:t>
            </a:r>
          </a:p>
        </p:txBody>
      </p:sp>
      <p:sp>
        <p:nvSpPr>
          <p:cNvPr id="7" name="step-body-0">
            <a:extLst xmlns:a="http://schemas.openxmlformats.org/drawingml/2006/main">
              <a:ext uri="{FF2B5EF4-FFF2-40B4-BE49-F238E27FC236}">
                <a16:creationId xmlns:a16="http://schemas.microsoft.com/office/drawing/2014/main" id="{53652916-3363-42A7-89F1-F0A0DC232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86125"/>
            <a:ext cx="23050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Nombre del proceso, frecuencia, entrada, salida y responsable.</a:t>
            </a:r>
          </a:p>
        </p:txBody>
      </p:sp>
      <p:sp>
        <p:nvSpPr>
          <p:cNvPr id="8" name="step-number-1">
            <a:extLst xmlns:a="http://schemas.openxmlformats.org/drawingml/2006/main">
              <a:ext uri="{FF2B5EF4-FFF2-40B4-BE49-F238E27FC236}">
                <a16:creationId xmlns:a16="http://schemas.microsoft.com/office/drawing/2014/main" id="{F07F99A2-F227-4FA9-ACEB-406B538C7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409700"/>
            <a:ext cx="876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02</a:t>
            </a:r>
          </a:p>
        </p:txBody>
      </p:sp>
      <p:sp>
        <p:nvSpPr>
          <p:cNvPr id="9" name="step-rule-1">
            <a:extLst xmlns:a="http://schemas.openxmlformats.org/drawingml/2006/main">
              <a:ext uri="{FF2B5EF4-FFF2-40B4-BE49-F238E27FC236}">
                <a16:creationId xmlns:a16="http://schemas.microsoft.com/office/drawing/2014/main" id="{F87AD76E-B2CA-4FB2-848A-2B1ACC046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133600"/>
            <a:ext cx="2333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tep-title-1">
            <a:extLst xmlns:a="http://schemas.openxmlformats.org/drawingml/2006/main">
              <a:ext uri="{FF2B5EF4-FFF2-40B4-BE49-F238E27FC236}">
                <a16:creationId xmlns:a16="http://schemas.microsoft.com/office/drawing/2014/main" id="{77F9BA1E-C64B-4BCC-9DA8-053EBE753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381250"/>
            <a:ext cx="23336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0000"/>
                </a:solidFill>
              </a:defRPr>
            </a:pPr>
            <a:r>
              <a:rPr sz="2175" b="1">
                <a:solidFill>
                  <a:srgbClr val="000000"/>
                </a:solidFill>
              </a:rPr>
              <a:t>Medir</a:t>
            </a:r>
          </a:p>
        </p:txBody>
      </p:sp>
      <p:sp>
        <p:nvSpPr>
          <p:cNvPr id="11" name="step-body-1">
            <a:extLst xmlns:a="http://schemas.openxmlformats.org/drawingml/2006/main">
              <a:ext uri="{FF2B5EF4-FFF2-40B4-BE49-F238E27FC236}">
                <a16:creationId xmlns:a16="http://schemas.microsoft.com/office/drawing/2014/main" id="{A9B758DC-0BA2-4A6F-B418-BE9A6D926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286125"/>
            <a:ext cx="23050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Tiempo, costo, errores, volumen o impacto percibido.</a:t>
            </a:r>
          </a:p>
        </p:txBody>
      </p:sp>
      <p:sp>
        <p:nvSpPr>
          <p:cNvPr id="12" name="step-number-2">
            <a:extLst xmlns:a="http://schemas.openxmlformats.org/drawingml/2006/main">
              <a:ext uri="{FF2B5EF4-FFF2-40B4-BE49-F238E27FC236}">
                <a16:creationId xmlns:a16="http://schemas.microsoft.com/office/drawing/2014/main" id="{A9F7EC3B-04A3-4131-87FA-1458CCB43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409700"/>
            <a:ext cx="876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6B35"/>
                </a:solidFill>
              </a:defRPr>
            </a:pPr>
            <a:r>
              <a:rPr sz="3150" b="1">
                <a:solidFill>
                  <a:srgbClr val="FF6B35"/>
                </a:solidFill>
              </a:rPr>
              <a:t>03</a:t>
            </a:r>
          </a:p>
        </p:txBody>
      </p:sp>
      <p:sp>
        <p:nvSpPr>
          <p:cNvPr id="13" name="step-rule-2">
            <a:extLst xmlns:a="http://schemas.openxmlformats.org/drawingml/2006/main">
              <a:ext uri="{FF2B5EF4-FFF2-40B4-BE49-F238E27FC236}">
                <a16:creationId xmlns:a16="http://schemas.microsoft.com/office/drawing/2014/main" id="{E49485F5-F78D-46DB-8AE8-B539B73C6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133600"/>
            <a:ext cx="2333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tep-title-2">
            <a:extLst xmlns:a="http://schemas.openxmlformats.org/drawingml/2006/main">
              <a:ext uri="{FF2B5EF4-FFF2-40B4-BE49-F238E27FC236}">
                <a16:creationId xmlns:a16="http://schemas.microsoft.com/office/drawing/2014/main" id="{CB05AA9A-2CB1-40A7-A05B-32C0D8F57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381250"/>
            <a:ext cx="23336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0000"/>
                </a:solidFill>
              </a:defRPr>
            </a:pPr>
            <a:r>
              <a:rPr sz="2175" b="1">
                <a:solidFill>
                  <a:srgbClr val="000000"/>
                </a:solidFill>
              </a:rPr>
              <a:t>Evaluar</a:t>
            </a:r>
          </a:p>
        </p:txBody>
      </p:sp>
      <p:sp>
        <p:nvSpPr>
          <p:cNvPr id="15" name="step-body-2">
            <a:extLst xmlns:a="http://schemas.openxmlformats.org/drawingml/2006/main">
              <a:ext uri="{FF2B5EF4-FFF2-40B4-BE49-F238E27FC236}">
                <a16:creationId xmlns:a16="http://schemas.microsoft.com/office/drawing/2014/main" id="{C6B7664E-1F0D-4C54-8EAA-93A1E269B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286125"/>
            <a:ext cx="23050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Datos disponibles, privacidad, riesgo y necesidad de supervision.</a:t>
            </a:r>
          </a:p>
        </p:txBody>
      </p:sp>
      <p:sp>
        <p:nvSpPr>
          <p:cNvPr id="16" name="step-number-3">
            <a:extLst xmlns:a="http://schemas.openxmlformats.org/drawingml/2006/main">
              <a:ext uri="{FF2B5EF4-FFF2-40B4-BE49-F238E27FC236}">
                <a16:creationId xmlns:a16="http://schemas.microsoft.com/office/drawing/2014/main" id="{6CB083D5-22B1-438F-9430-EB0906FB1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409700"/>
            <a:ext cx="876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04</a:t>
            </a:r>
          </a:p>
        </p:txBody>
      </p:sp>
      <p:sp>
        <p:nvSpPr>
          <p:cNvPr id="17" name="step-rule-3">
            <a:extLst xmlns:a="http://schemas.openxmlformats.org/drawingml/2006/main">
              <a:ext uri="{FF2B5EF4-FFF2-40B4-BE49-F238E27FC236}">
                <a16:creationId xmlns:a16="http://schemas.microsoft.com/office/drawing/2014/main" id="{AD660374-3498-4960-A56D-CA5177115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133600"/>
            <a:ext cx="2333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tep-title-3">
            <a:extLst xmlns:a="http://schemas.openxmlformats.org/drawingml/2006/main">
              <a:ext uri="{FF2B5EF4-FFF2-40B4-BE49-F238E27FC236}">
                <a16:creationId xmlns:a16="http://schemas.microsoft.com/office/drawing/2014/main" id="{C138EFFF-63A9-4739-9311-05C97F365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381250"/>
            <a:ext cx="23336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0000"/>
                </a:solidFill>
              </a:defRPr>
            </a:pPr>
            <a:r>
              <a:rPr sz="2175" b="1">
                <a:solidFill>
                  <a:srgbClr val="000000"/>
                </a:solidFill>
              </a:rPr>
              <a:t>Priorizar</a:t>
            </a:r>
          </a:p>
        </p:txBody>
      </p:sp>
      <p:sp>
        <p:nvSpPr>
          <p:cNvPr id="19" name="step-body-3">
            <a:extLst xmlns:a="http://schemas.openxmlformats.org/drawingml/2006/main">
              <a:ext uri="{FF2B5EF4-FFF2-40B4-BE49-F238E27FC236}">
                <a16:creationId xmlns:a16="http://schemas.microsoft.com/office/drawing/2014/main" id="{F66646CE-BD81-456A-B440-4FC228AEE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286125"/>
            <a:ext cx="23050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Elegir el caso con alto valor, bajo riesgo y aprendizaje rapido.</a:t>
            </a:r>
          </a:p>
        </p:txBody>
      </p:sp>
      <p:sp>
        <p:nvSpPr>
          <p:cNvPr id="20" name="control">
            <a:extLst xmlns:a="http://schemas.openxmlformats.org/drawingml/2006/main">
              <a:ext uri="{FF2B5EF4-FFF2-40B4-BE49-F238E27FC236}">
                <a16:creationId xmlns:a16="http://schemas.microsoft.com/office/drawing/2014/main" id="{625D8111-D507-4EE5-A8DF-CAB870335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95875"/>
            <a:ext cx="971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Control clave: ninguna salida de IA debe usarse sin validacion cuando afecta derechos, dinero o reputacion.</a:t>
            </a:r>
          </a:p>
        </p:txBody>
      </p:sp>
    </p:spTree>
    <p:extLst>
      <p:ext uri="{BB962C8B-B14F-4D97-AF65-F5344CB8AC3E}">
        <p14:creationId xmlns:p14="http://schemas.microsoft.com/office/powerpoint/2010/main" val="122887401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footer-left">
            <a:extLst xmlns:a="http://schemas.openxmlformats.org/drawingml/2006/main">
              <a:ext uri="{FF2B5EF4-FFF2-40B4-BE49-F238E27FC236}">
                <a16:creationId xmlns:a16="http://schemas.microsoft.com/office/drawing/2014/main" id="{D8C7CB95-937E-4333-9499-3ADBF8EB5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Modulo I - Fundamentos de IA</a:t>
            </a:r>
          </a:p>
        </p:txBody>
      </p:sp>
      <p:sp>
        <p:nvSpPr>
          <p:cNvPr id="2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22D1F652-BB93-40A7-92BB-665B8F235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28650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07 / 13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4DA6C78-740B-4DD8-8186-FDA5C95E7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8191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</a:defRPr>
            </a:pPr>
            <a:r>
              <a:rPr sz="3300" b="1">
                <a:solidFill>
                  <a:srgbClr val="000000"/>
                </a:solidFill>
              </a:rPr>
              <a:t>Prompt de practica</a:t>
            </a:r>
          </a:p>
        </p:txBody>
      </p:sp>
      <p:sp>
        <p:nvSpPr>
          <p:cNvPr id="4" name="prompt-panel">
            <a:extLst xmlns:a="http://schemas.openxmlformats.org/drawingml/2006/main">
              <a:ext uri="{FF2B5EF4-FFF2-40B4-BE49-F238E27FC236}">
                <a16:creationId xmlns:a16="http://schemas.microsoft.com/office/drawing/2014/main" id="{1E6E0EFD-FA86-4871-85C8-CCEE5EFCD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68580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prompt">
            <a:extLst xmlns:a="http://schemas.openxmlformats.org/drawingml/2006/main">
              <a:ext uri="{FF2B5EF4-FFF2-40B4-BE49-F238E27FC236}">
                <a16:creationId xmlns:a16="http://schemas.microsoft.com/office/drawing/2014/main" id="{C5E3C2B3-11A5-47DD-973E-238A143FF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6143625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Actua como consultor de transformacion digital. Analiza estos procesos y prioriza oportunidades de uso de IA considerando impacto, esfuerzo, riesgos, datos requeridos y supervision humana.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Procesos:</a:t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[pegar lista]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Entrega una tabla con puntuacion de 1 a 5, justificacion breve y recomendacion.</a:t>
            </a:r>
          </a:p>
        </p:txBody>
      </p:sp>
      <p:sp>
        <p:nvSpPr>
          <p:cNvPr id="6" name="checks-title">
            <a:extLst xmlns:a="http://schemas.openxmlformats.org/drawingml/2006/main">
              <a:ext uri="{FF2B5EF4-FFF2-40B4-BE49-F238E27FC236}">
                <a16:creationId xmlns:a16="http://schemas.microsoft.com/office/drawing/2014/main" id="{325F375E-1A21-4FA8-8D1C-EBC62CD94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42875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Criterios de revision</a:t>
            </a:r>
          </a:p>
        </p:txBody>
      </p:sp>
      <p:sp>
        <p:nvSpPr>
          <p:cNvPr id="7" name="checks">
            <a:extLst xmlns:a="http://schemas.openxmlformats.org/drawingml/2006/main">
              <a:ext uri="{FF2B5EF4-FFF2-40B4-BE49-F238E27FC236}">
                <a16:creationId xmlns:a16="http://schemas.microsoft.com/office/drawing/2014/main" id="{9D868CE3-0FC0-4A77-9380-686D3739E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047875"/>
            <a:ext cx="3238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55555"/>
                </a:solidFill>
              </a:defRPr>
            </a:pPr>
            <a:r>
              <a:rPr sz="1725" b="0">
                <a:solidFill>
                  <a:srgbClr val="555555"/>
                </a:solidFill>
              </a:rPr>
              <a:t>- El prompt define rol y objetivo.</a:t>
            </a:r>
          </a:p>
          <a:p xmlns:a="http://schemas.openxmlformats.org/drawingml/2006/main">
            <a:pPr algn="l">
              <a:defRPr sz="1725" b="0">
                <a:solidFill>
                  <a:srgbClr val="555555"/>
                </a:solidFill>
              </a:defRPr>
            </a:pPr>
            <a:r>
              <a:rPr sz="1725" b="0">
                <a:solidFill>
                  <a:srgbClr val="555555"/>
                </a:solidFill>
              </a:rPr>
              <a:t>- Incluye criterios de priorizacion.</a:t>
            </a:r>
          </a:p>
          <a:p xmlns:a="http://schemas.openxmlformats.org/drawingml/2006/main">
            <a:pPr algn="l">
              <a:defRPr sz="1725" b="0">
                <a:solidFill>
                  <a:srgbClr val="555555"/>
                </a:solidFill>
              </a:defRPr>
            </a:pPr>
            <a:r>
              <a:rPr sz="1725" b="0">
                <a:solidFill>
                  <a:srgbClr val="555555"/>
                </a:solidFill>
              </a:rPr>
              <a:t>- Pide riesgos y supervision.</a:t>
            </a:r>
          </a:p>
          <a:p xmlns:a="http://schemas.openxmlformats.org/drawingml/2006/main">
            <a:pPr algn="l">
              <a:defRPr sz="1725" b="0">
                <a:solidFill>
                  <a:srgbClr val="555555"/>
                </a:solidFill>
              </a:defRPr>
            </a:pPr>
            <a:r>
              <a:rPr sz="1725" b="0">
                <a:solidFill>
                  <a:srgbClr val="555555"/>
                </a:solidFill>
              </a:rPr>
              <a:t>- La salida es una tabla comparable.</a:t>
            </a:r>
          </a:p>
        </p:txBody>
      </p:sp>
      <p:sp>
        <p:nvSpPr>
          <p:cNvPr id="8" name="tip">
            <a:extLst xmlns:a="http://schemas.openxmlformats.org/drawingml/2006/main">
              <a:ext uri="{FF2B5EF4-FFF2-40B4-BE49-F238E27FC236}">
                <a16:creationId xmlns:a16="http://schemas.microsoft.com/office/drawing/2014/main" id="{C5E6BDF5-B863-42C0-887F-33B012EEB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686300"/>
            <a:ext cx="323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6B35"/>
                </a:solidFill>
              </a:defRPr>
            </a:pPr>
            <a:r>
              <a:rPr sz="1800" b="1">
                <a:solidFill>
                  <a:srgbClr val="FF6B35"/>
                </a:solidFill>
              </a:rPr>
              <a:t>Mejor prompt = mejor criterio, no mas palabras.</a:t>
            </a:r>
          </a:p>
        </p:txBody>
      </p:sp>
    </p:spTree>
    <p:extLst>
      <p:ext uri="{BB962C8B-B14F-4D97-AF65-F5344CB8AC3E}">
        <p14:creationId xmlns:p14="http://schemas.microsoft.com/office/powerpoint/2010/main" val="78209268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footer-left">
            <a:extLst xmlns:a="http://schemas.openxmlformats.org/drawingml/2006/main">
              <a:ext uri="{FF2B5EF4-FFF2-40B4-BE49-F238E27FC236}">
                <a16:creationId xmlns:a16="http://schemas.microsoft.com/office/drawing/2014/main" id="{DE1CC40C-D22E-4B3A-9D86-25925CA50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Modulo I - Fundamentos de IA</a:t>
            </a:r>
          </a:p>
        </p:txBody>
      </p:sp>
      <p:sp>
        <p:nvSpPr>
          <p:cNvPr id="2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412D828E-B8EA-4EBE-85D6-490B97BAE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28650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08 / 13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C0D23CC-91BD-4689-8FF2-1B2E26962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</a:defRPr>
            </a:pPr>
            <a:r>
              <a:rPr sz="3300" b="1">
                <a:solidFill>
                  <a:srgbClr val="000000"/>
                </a:solidFill>
              </a:rPr>
              <a:t>Practica: mapa de oportunidades</a:t>
            </a:r>
          </a:p>
        </p:txBody>
      </p:sp>
      <p:sp>
        <p:nvSpPr>
          <p:cNvPr id="4" name="objective">
            <a:extLst xmlns:a="http://schemas.openxmlformats.org/drawingml/2006/main">
              <a:ext uri="{FF2B5EF4-FFF2-40B4-BE49-F238E27FC236}">
                <a16:creationId xmlns:a16="http://schemas.microsoft.com/office/drawing/2014/main" id="{150E610B-0FD4-43F8-8995-AE99A61F8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55555"/>
                </a:solidFill>
              </a:defRPr>
            </a:pPr>
            <a:r>
              <a:rPr sz="1950" b="0">
                <a:solidFill>
                  <a:srgbClr val="555555"/>
                </a:solidFill>
              </a:rPr>
              <a:t>Convertir tareas reales del participante en una cartera inicial de casos de uso.</a:t>
            </a:r>
          </a:p>
        </p:txBody>
      </p:sp>
      <p:sp>
        <p:nvSpPr>
          <p:cNvPr id="5" name="practice-num-0">
            <a:extLst xmlns:a="http://schemas.openxmlformats.org/drawingml/2006/main">
              <a:ext uri="{FF2B5EF4-FFF2-40B4-BE49-F238E27FC236}">
                <a16:creationId xmlns:a16="http://schemas.microsoft.com/office/drawing/2014/main" id="{F3C567DE-E632-497E-92F2-556002628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431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ractice-num-text-0">
            <a:extLst xmlns:a="http://schemas.openxmlformats.org/drawingml/2006/main">
              <a:ext uri="{FF2B5EF4-FFF2-40B4-BE49-F238E27FC236}">
                <a16:creationId xmlns:a16="http://schemas.microsoft.com/office/drawing/2014/main" id="{5CBFA3B7-4516-429A-8759-95B2E300F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00275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practice-step-0">
            <a:extLst xmlns:a="http://schemas.openxmlformats.org/drawingml/2006/main">
              <a:ext uri="{FF2B5EF4-FFF2-40B4-BE49-F238E27FC236}">
                <a16:creationId xmlns:a16="http://schemas.microsoft.com/office/drawing/2014/main" id="{E7189BF8-8804-4FFA-BC08-DEC9785CF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181225"/>
            <a:ext cx="8334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00000"/>
                </a:solidFill>
              </a:defRPr>
            </a:pPr>
            <a:r>
              <a:rPr sz="1875" b="0">
                <a:solidFill>
                  <a:srgbClr val="000000"/>
                </a:solidFill>
              </a:rPr>
              <a:t>Listar 5 procesos repetitivos o intensivos en informacion.</a:t>
            </a:r>
          </a:p>
        </p:txBody>
      </p:sp>
      <p:sp>
        <p:nvSpPr>
          <p:cNvPr id="8" name="practice-num-1">
            <a:extLst xmlns:a="http://schemas.openxmlformats.org/drawingml/2006/main">
              <a:ext uri="{FF2B5EF4-FFF2-40B4-BE49-F238E27FC236}">
                <a16:creationId xmlns:a16="http://schemas.microsoft.com/office/drawing/2014/main" id="{649466EA-D7B6-4234-A835-0D8C67D46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908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ractice-num-text-1">
            <a:extLst xmlns:a="http://schemas.openxmlformats.org/drawingml/2006/main">
              <a:ext uri="{FF2B5EF4-FFF2-40B4-BE49-F238E27FC236}">
                <a16:creationId xmlns:a16="http://schemas.microsoft.com/office/drawing/2014/main" id="{5C019481-E76B-4C13-ADFA-9E8487ECC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47975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practice-step-1">
            <a:extLst xmlns:a="http://schemas.openxmlformats.org/drawingml/2006/main">
              <a:ext uri="{FF2B5EF4-FFF2-40B4-BE49-F238E27FC236}">
                <a16:creationId xmlns:a16="http://schemas.microsoft.com/office/drawing/2014/main" id="{D15360CA-E36F-4411-B3EA-DF8B2BDC5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28925"/>
            <a:ext cx="8334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00000"/>
                </a:solidFill>
              </a:defRPr>
            </a:pPr>
            <a:r>
              <a:rPr sz="1875" b="0">
                <a:solidFill>
                  <a:srgbClr val="000000"/>
                </a:solidFill>
              </a:rPr>
              <a:t>Describir dolor, datos, responsable y salida esperada.</a:t>
            </a:r>
          </a:p>
        </p:txBody>
      </p:sp>
      <p:sp>
        <p:nvSpPr>
          <p:cNvPr id="11" name="practice-num-2">
            <a:extLst xmlns:a="http://schemas.openxmlformats.org/drawingml/2006/main">
              <a:ext uri="{FF2B5EF4-FFF2-40B4-BE49-F238E27FC236}">
                <a16:creationId xmlns:a16="http://schemas.microsoft.com/office/drawing/2014/main" id="{B6D82065-E890-4674-BFA4-95C819462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385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ractice-num-text-2">
            <a:extLst xmlns:a="http://schemas.openxmlformats.org/drawingml/2006/main">
              <a:ext uri="{FF2B5EF4-FFF2-40B4-BE49-F238E27FC236}">
                <a16:creationId xmlns:a16="http://schemas.microsoft.com/office/drawing/2014/main" id="{0C4D7D45-F45B-4289-9E19-2DE95001D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95675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practice-step-2">
            <a:extLst xmlns:a="http://schemas.openxmlformats.org/drawingml/2006/main">
              <a:ext uri="{FF2B5EF4-FFF2-40B4-BE49-F238E27FC236}">
                <a16:creationId xmlns:a16="http://schemas.microsoft.com/office/drawing/2014/main" id="{92E77474-691A-4C30-AB72-07055F71E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76625"/>
            <a:ext cx="8334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00000"/>
                </a:solidFill>
              </a:defRPr>
            </a:pPr>
            <a:r>
              <a:rPr sz="1875" b="0">
                <a:solidFill>
                  <a:srgbClr val="000000"/>
                </a:solidFill>
              </a:rPr>
              <a:t>Puntuar impacto, esfuerzo, riesgo y frecuencia.</a:t>
            </a:r>
          </a:p>
        </p:txBody>
      </p:sp>
      <p:sp>
        <p:nvSpPr>
          <p:cNvPr id="14" name="practice-num-3">
            <a:extLst xmlns:a="http://schemas.openxmlformats.org/drawingml/2006/main">
              <a:ext uri="{FF2B5EF4-FFF2-40B4-BE49-F238E27FC236}">
                <a16:creationId xmlns:a16="http://schemas.microsoft.com/office/drawing/2014/main" id="{32EBF6AC-8649-4899-A330-4A9D151E3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862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ractice-num-text-3">
            <a:extLst xmlns:a="http://schemas.openxmlformats.org/drawingml/2006/main">
              <a:ext uri="{FF2B5EF4-FFF2-40B4-BE49-F238E27FC236}">
                <a16:creationId xmlns:a16="http://schemas.microsoft.com/office/drawing/2014/main" id="{4925B831-3173-41D7-8E9F-474E4D7DF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43375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practice-step-3">
            <a:extLst xmlns:a="http://schemas.openxmlformats.org/drawingml/2006/main">
              <a:ext uri="{FF2B5EF4-FFF2-40B4-BE49-F238E27FC236}">
                <a16:creationId xmlns:a16="http://schemas.microsoft.com/office/drawing/2014/main" id="{896AA074-385F-46B1-9F42-48107200C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24325"/>
            <a:ext cx="8334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00000"/>
                </a:solidFill>
              </a:defRPr>
            </a:pPr>
            <a:r>
              <a:rPr sz="1875" b="0">
                <a:solidFill>
                  <a:srgbClr val="000000"/>
                </a:solidFill>
              </a:rPr>
              <a:t>Elegir una oportunidad para explorar durante el diplomado.</a:t>
            </a:r>
          </a:p>
        </p:txBody>
      </p:sp>
      <p:sp>
        <p:nvSpPr>
          <p:cNvPr id="17" name="deliverable-panel">
            <a:extLst xmlns:a="http://schemas.openxmlformats.org/drawingml/2006/main">
              <a:ext uri="{FF2B5EF4-FFF2-40B4-BE49-F238E27FC236}">
                <a16:creationId xmlns:a16="http://schemas.microsoft.com/office/drawing/2014/main" id="{903B67AB-2502-4FBF-ADDF-5A5356617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171950"/>
            <a:ext cx="3143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deliverable-label">
            <a:extLst xmlns:a="http://schemas.openxmlformats.org/drawingml/2006/main">
              <a:ext uri="{FF2B5EF4-FFF2-40B4-BE49-F238E27FC236}">
                <a16:creationId xmlns:a16="http://schemas.microsoft.com/office/drawing/2014/main" id="{8F830B30-922E-4D2A-9A67-DDB72B6E8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3815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6B35"/>
                </a:solidFill>
              </a:defRPr>
            </a:pPr>
            <a:r>
              <a:rPr sz="1800" b="1">
                <a:solidFill>
                  <a:srgbClr val="FF6B35"/>
                </a:solidFill>
              </a:rPr>
              <a:t>Entregable</a:t>
            </a:r>
          </a:p>
        </p:txBody>
      </p:sp>
      <p:sp>
        <p:nvSpPr>
          <p:cNvPr id="19" name="deliverable">
            <a:extLst xmlns:a="http://schemas.openxmlformats.org/drawingml/2006/main">
              <a:ext uri="{FF2B5EF4-FFF2-40B4-BE49-F238E27FC236}">
                <a16:creationId xmlns:a16="http://schemas.microsoft.com/office/drawing/2014/main" id="{D6CEE2F0-2111-46A9-A086-B9CD69B6B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762500"/>
            <a:ext cx="2457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Matriz priorizada con controles minimos.</a:t>
            </a:r>
          </a:p>
        </p:txBody>
      </p:sp>
    </p:spTree>
    <p:extLst>
      <p:ext uri="{BB962C8B-B14F-4D97-AF65-F5344CB8AC3E}">
        <p14:creationId xmlns:p14="http://schemas.microsoft.com/office/powerpoint/2010/main" val="110708743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footer-left">
            <a:extLst xmlns:a="http://schemas.openxmlformats.org/drawingml/2006/main">
              <a:ext uri="{FF2B5EF4-FFF2-40B4-BE49-F238E27FC236}">
                <a16:creationId xmlns:a16="http://schemas.microsoft.com/office/drawing/2014/main" id="{CD8D9545-951F-4AD8-9D22-527E72AE0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Modulo I - Fundamentos de IA</a:t>
            </a:r>
          </a:p>
        </p:txBody>
      </p:sp>
      <p:sp>
        <p:nvSpPr>
          <p:cNvPr id="2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1B9CDF9D-1F2A-4254-8157-A99119249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28650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09 / 13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DE9AD4C-9B0A-469C-BAC5-EFBD9DB9F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971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</a:defRPr>
            </a:pPr>
            <a:r>
              <a:rPr sz="3300" b="1">
                <a:solidFill>
                  <a:srgbClr val="000000"/>
                </a:solidFill>
              </a:rPr>
              <a:t>Matriz de priorizacion inicial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400050" y="1428750"/>
          <a:ext xmlns:a="http://schemas.openxmlformats.org/drawingml/2006/main" cx="10572750" cy="3476625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364057"/>
                <a:gridCol w="1601932"/>
                <a:gridCol w="1601932"/>
                <a:gridCol w="1601932"/>
                <a:gridCol w="2402898"/>
              </a:tblGrid>
              <a:tr h="69532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</a:rPr>
                        <a:t>Proceso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</a:rPr>
                        <a:t>Impacto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</a:rPr>
                        <a:t>Esfuerzo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</a:rPr>
                        <a:t>Riesgo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</a:rPr>
                        <a:t>Decision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t>Responder solicitudes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Alto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Medio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Medio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Piloto controlado</a:t>
                      </a:r>
                    </a:p>
                  </a:txBody>
                  <a:tcPr marL="91440" marR="91440" marT="45720" marB="45720"/>
                </a:tc>
              </a:tr>
              <a:tr h="695325">
                <a:tc>
                  <a:txBody>
                    <a:bodyPr/>
                    <a:lstStyle/>
                    <a:p>
                      <a:r>
                        <a:t>Resumir reuniones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Medio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Bajo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Bajo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Implementar</a:t>
                      </a:r>
                    </a:p>
                  </a:txBody>
                  <a:tcPr marL="91440" marR="91440" marT="45720" marB="45720"/>
                </a:tc>
              </a:tr>
              <a:tr h="695325">
                <a:tc>
                  <a:txBody>
                    <a:bodyPr/>
                    <a:lstStyle/>
                    <a:p>
                      <a:r>
                        <a:t>Evaluar candidatos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Alto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Alto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Alto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Solo apoyo documental</a:t>
                      </a:r>
                    </a:p>
                  </a:txBody>
                  <a:tcPr marL="91440" marR="91440" marT="45720" marB="45720"/>
                </a:tc>
              </a:tr>
              <a:tr h="695325">
                <a:tc>
                  <a:txBody>
                    <a:bodyPr/>
                    <a:lstStyle/>
                    <a:p>
                      <a:r>
                        <a:t>Crear reportes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Alto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Medio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Medio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Probar con datos sinteticos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table-note">
            <a:extLst xmlns:a="http://schemas.openxmlformats.org/drawingml/2006/main">
              <a:ext uri="{FF2B5EF4-FFF2-40B4-BE49-F238E27FC236}">
                <a16:creationId xmlns:a16="http://schemas.microsoft.com/office/drawing/2014/main" id="{F4EE750C-4784-429B-83BC-2B726C193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9334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La decision no depende solo del impacto: el riesgo cambia la ruta de implementacion.</a:t>
            </a:r>
          </a:p>
        </p:txBody>
      </p:sp>
    </p:spTree>
    <p:extLst>
      <p:ext uri="{BB962C8B-B14F-4D97-AF65-F5344CB8AC3E}">
        <p14:creationId xmlns:p14="http://schemas.microsoft.com/office/powerpoint/2010/main" val="91409732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footer-left">
            <a:extLst xmlns:a="http://schemas.openxmlformats.org/drawingml/2006/main">
              <a:ext uri="{FF2B5EF4-FFF2-40B4-BE49-F238E27FC236}">
                <a16:creationId xmlns:a16="http://schemas.microsoft.com/office/drawing/2014/main" id="{29F2F96C-49D1-45C1-BEEA-4326A6D59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Modulo I - Fundamentos de IA</a:t>
            </a:r>
          </a:p>
        </p:txBody>
      </p:sp>
      <p:sp>
        <p:nvSpPr>
          <p:cNvPr id="2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3B90DBD5-1950-4915-A17D-BC62F39B1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28650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10 / 13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5DE1ABD-A04E-4B87-9357-116B71080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</a:defRPr>
            </a:pPr>
            <a:r>
              <a:rPr sz="3300" b="1">
                <a:solidFill>
                  <a:srgbClr val="000000"/>
                </a:solidFill>
              </a:rPr>
              <a:t>Priorizacion visual del grupo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400050" y="1428750"/>
          <a:ext xmlns:a="http://schemas.openxmlformats.org/drawingml/2006/main" cx="6762750" cy="3524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3c03b47d9f44cd2"/>
          </a:graphicData>
        </a:graphic>
      </p:graphicFrame>
      <p:sp>
        <p:nvSpPr>
          <p:cNvPr id="5" name="chart-insight-title">
            <a:extLst xmlns:a="http://schemas.openxmlformats.org/drawingml/2006/main">
              <a:ext uri="{FF2B5EF4-FFF2-40B4-BE49-F238E27FC236}">
                <a16:creationId xmlns:a16="http://schemas.microsoft.com/office/drawing/2014/main" id="{107159C1-71D9-46BE-85F7-CD1C22B6A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4287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Lectura ejecutiva</a:t>
            </a:r>
          </a:p>
        </p:txBody>
      </p:sp>
      <p:sp>
        <p:nvSpPr>
          <p:cNvPr id="6" name="chart-insight">
            <a:extLst xmlns:a="http://schemas.openxmlformats.org/drawingml/2006/main">
              <a:ext uri="{FF2B5EF4-FFF2-40B4-BE49-F238E27FC236}">
                <a16:creationId xmlns:a16="http://schemas.microsoft.com/office/drawing/2014/main" id="{84B5D012-3F40-49DF-AD48-2317687FA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047875"/>
            <a:ext cx="33337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- Empezar con tareas reversibles y de bajo riesgo.</a:t>
            </a:r>
          </a:p>
          <a:p xmlns:a="http://schemas.openxmlformats.org/drawingml/2006/main">
            <a:pPr algn="l">
              <a:defRPr sz="1800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- Subir complejidad cuando exista evidencia.</a:t>
            </a:r>
          </a:p>
          <a:p xmlns:a="http://schemas.openxmlformats.org/drawingml/2006/main">
            <a:pPr algn="l">
              <a:defRPr sz="1800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- Separar automatizacion de decision final.</a:t>
            </a:r>
          </a:p>
        </p:txBody>
      </p:sp>
      <p:sp>
        <p:nvSpPr>
          <p:cNvPr id="7" name="chart-warning">
            <a:extLst xmlns:a="http://schemas.openxmlformats.org/drawingml/2006/main">
              <a:ext uri="{FF2B5EF4-FFF2-40B4-BE49-F238E27FC236}">
                <a16:creationId xmlns:a16="http://schemas.microsoft.com/office/drawing/2014/main" id="{41C099A7-EB56-405B-BCA0-50BB413D0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648200"/>
            <a:ext cx="3257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6B35"/>
                </a:solidFill>
              </a:defRPr>
            </a:pPr>
            <a:r>
              <a:rPr sz="1650" b="1">
                <a:solidFill>
                  <a:srgbClr val="FF6B35"/>
                </a:solidFill>
              </a:rPr>
              <a:t>Alta viabilidad no elimina la obligacion de revisar.</a:t>
            </a:r>
          </a:p>
        </p:txBody>
      </p:sp>
    </p:spTree>
    <p:extLst>
      <p:ext uri="{BB962C8B-B14F-4D97-AF65-F5344CB8AC3E}">
        <p14:creationId xmlns:p14="http://schemas.microsoft.com/office/powerpoint/2010/main" val="58764560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footer-left">
            <a:extLst xmlns:a="http://schemas.openxmlformats.org/drawingml/2006/main">
              <a:ext uri="{FF2B5EF4-FFF2-40B4-BE49-F238E27FC236}">
                <a16:creationId xmlns:a16="http://schemas.microsoft.com/office/drawing/2014/main" id="{29AA2C8E-F626-417A-AE8A-3806D53DE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Modulo I - Fundamentos de IA</a:t>
            </a:r>
          </a:p>
        </p:txBody>
      </p:sp>
      <p:sp>
        <p:nvSpPr>
          <p:cNvPr id="2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047AFE0C-80E9-4407-8BFF-60855986C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28650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11 / 13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FDC0F1F-A9CA-4917-9678-A7A42487B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9144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</a:defRPr>
            </a:pPr>
            <a:r>
              <a:rPr sz="3300" b="1">
                <a:solidFill>
                  <a:srgbClr val="000000"/>
                </a:solidFill>
              </a:rPr>
              <a:t>Checklist de uso responsable</a:t>
            </a:r>
          </a:p>
        </p:txBody>
      </p:sp>
      <p:sp>
        <p:nvSpPr>
          <p:cNvPr id="4" name="check-box-0">
            <a:extLst xmlns:a="http://schemas.openxmlformats.org/drawingml/2006/main">
              <a:ext uri="{FF2B5EF4-FFF2-40B4-BE49-F238E27FC236}">
                <a16:creationId xmlns:a16="http://schemas.microsoft.com/office/drawing/2014/main" id="{01ECCBCA-8CF1-4E80-81F7-011B5E51E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heck-title-0">
            <a:extLst xmlns:a="http://schemas.openxmlformats.org/drawingml/2006/main">
              <a:ext uri="{FF2B5EF4-FFF2-40B4-BE49-F238E27FC236}">
                <a16:creationId xmlns:a16="http://schemas.microsoft.com/office/drawing/2014/main" id="{9C5E2CD5-43E6-4E8C-8979-3A61EFD15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0970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Datos</a:t>
            </a:r>
          </a:p>
        </p:txBody>
      </p:sp>
      <p:sp>
        <p:nvSpPr>
          <p:cNvPr id="6" name="check-body-0">
            <a:extLst xmlns:a="http://schemas.openxmlformats.org/drawingml/2006/main">
              <a:ext uri="{FF2B5EF4-FFF2-40B4-BE49-F238E27FC236}">
                <a16:creationId xmlns:a16="http://schemas.microsoft.com/office/drawing/2014/main" id="{F26E21BE-C6C4-4F2D-BB3F-E375F6A88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47850"/>
            <a:ext cx="433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No cargar informacion sensible sin autorizacion.</a:t>
            </a:r>
          </a:p>
        </p:txBody>
      </p:sp>
      <p:sp>
        <p:nvSpPr>
          <p:cNvPr id="7" name="check-box-1">
            <a:extLst xmlns:a="http://schemas.openxmlformats.org/drawingml/2006/main">
              <a:ext uri="{FF2B5EF4-FFF2-40B4-BE49-F238E27FC236}">
                <a16:creationId xmlns:a16="http://schemas.microsoft.com/office/drawing/2014/main" id="{8C8CE053-7C97-4C05-8E9E-EF9A9EFA6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42875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heck-title-1">
            <a:extLst xmlns:a="http://schemas.openxmlformats.org/drawingml/2006/main">
              <a:ext uri="{FF2B5EF4-FFF2-40B4-BE49-F238E27FC236}">
                <a16:creationId xmlns:a16="http://schemas.microsoft.com/office/drawing/2014/main" id="{7469A44F-06FD-40BC-B94F-70707E6E3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40970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Proposito</a:t>
            </a:r>
          </a:p>
        </p:txBody>
      </p:sp>
      <p:sp>
        <p:nvSpPr>
          <p:cNvPr id="9" name="check-body-1">
            <a:extLst xmlns:a="http://schemas.openxmlformats.org/drawingml/2006/main">
              <a:ext uri="{FF2B5EF4-FFF2-40B4-BE49-F238E27FC236}">
                <a16:creationId xmlns:a16="http://schemas.microsoft.com/office/drawing/2014/main" id="{26136A56-CFD8-446F-95B8-33DFEFA22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847850"/>
            <a:ext cx="433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Explicar para que se usa IA y que queda fuera.</a:t>
            </a:r>
          </a:p>
        </p:txBody>
      </p:sp>
      <p:sp>
        <p:nvSpPr>
          <p:cNvPr id="10" name="check-box-2">
            <a:extLst xmlns:a="http://schemas.openxmlformats.org/drawingml/2006/main">
              <a:ext uri="{FF2B5EF4-FFF2-40B4-BE49-F238E27FC236}">
                <a16:creationId xmlns:a16="http://schemas.microsoft.com/office/drawing/2014/main" id="{7D70D41A-A5AC-431A-B261-A0C95D2F4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9555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heck-title-2">
            <a:extLst xmlns:a="http://schemas.openxmlformats.org/drawingml/2006/main">
              <a:ext uri="{FF2B5EF4-FFF2-40B4-BE49-F238E27FC236}">
                <a16:creationId xmlns:a16="http://schemas.microsoft.com/office/drawing/2014/main" id="{2291DE5D-88C0-4324-BDB6-AE2303922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Revision</a:t>
            </a:r>
          </a:p>
        </p:txBody>
      </p:sp>
      <p:sp>
        <p:nvSpPr>
          <p:cNvPr id="12" name="check-body-2">
            <a:extLst xmlns:a="http://schemas.openxmlformats.org/drawingml/2006/main">
              <a:ext uri="{FF2B5EF4-FFF2-40B4-BE49-F238E27FC236}">
                <a16:creationId xmlns:a16="http://schemas.microsoft.com/office/drawing/2014/main" id="{43B59A2A-9C3C-4612-8BBB-B1F6C262A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14650"/>
            <a:ext cx="433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Validar hechos, calculos y tono antes de publicar.</a:t>
            </a:r>
          </a:p>
        </p:txBody>
      </p:sp>
      <p:sp>
        <p:nvSpPr>
          <p:cNvPr id="13" name="check-box-3">
            <a:extLst xmlns:a="http://schemas.openxmlformats.org/drawingml/2006/main">
              <a:ext uri="{FF2B5EF4-FFF2-40B4-BE49-F238E27FC236}">
                <a16:creationId xmlns:a16="http://schemas.microsoft.com/office/drawing/2014/main" id="{7D66B65D-AA91-45B1-91E0-B58D86BED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9555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heck-title-3">
            <a:extLst xmlns:a="http://schemas.openxmlformats.org/drawingml/2006/main">
              <a:ext uri="{FF2B5EF4-FFF2-40B4-BE49-F238E27FC236}">
                <a16:creationId xmlns:a16="http://schemas.microsoft.com/office/drawing/2014/main" id="{9F960CBC-BE16-4E4C-A918-35EA23E2D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47650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Trazabilidad</a:t>
            </a:r>
          </a:p>
        </p:txBody>
      </p:sp>
      <p:sp>
        <p:nvSpPr>
          <p:cNvPr id="15" name="check-body-3">
            <a:extLst xmlns:a="http://schemas.openxmlformats.org/drawingml/2006/main">
              <a:ext uri="{FF2B5EF4-FFF2-40B4-BE49-F238E27FC236}">
                <a16:creationId xmlns:a16="http://schemas.microsoft.com/office/drawing/2014/main" id="{AF9C4ABE-EA44-4FBD-8B5F-67814791C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914650"/>
            <a:ext cx="433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Guardar prompt, fuente y version del resultado.</a:t>
            </a:r>
          </a:p>
        </p:txBody>
      </p:sp>
      <p:sp>
        <p:nvSpPr>
          <p:cNvPr id="16" name="check-box-4">
            <a:extLst xmlns:a="http://schemas.openxmlformats.org/drawingml/2006/main">
              <a:ext uri="{FF2B5EF4-FFF2-40B4-BE49-F238E27FC236}">
                <a16:creationId xmlns:a16="http://schemas.microsoft.com/office/drawing/2014/main" id="{413AA3E7-3FE0-4451-85DB-E153ABF83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6235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check-title-4">
            <a:extLst xmlns:a="http://schemas.openxmlformats.org/drawingml/2006/main">
              <a:ext uri="{FF2B5EF4-FFF2-40B4-BE49-F238E27FC236}">
                <a16:creationId xmlns:a16="http://schemas.microsoft.com/office/drawing/2014/main" id="{960498C7-591E-48ED-B637-86E0A2EA6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4330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Sesgos</a:t>
            </a:r>
          </a:p>
        </p:txBody>
      </p:sp>
      <p:sp>
        <p:nvSpPr>
          <p:cNvPr id="18" name="check-body-4">
            <a:extLst xmlns:a="http://schemas.openxmlformats.org/drawingml/2006/main">
              <a:ext uri="{FF2B5EF4-FFF2-40B4-BE49-F238E27FC236}">
                <a16:creationId xmlns:a16="http://schemas.microsoft.com/office/drawing/2014/main" id="{144D7F1A-050D-4800-9535-962294794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81450"/>
            <a:ext cx="433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Preguntar quien podria quedar mal representado.</a:t>
            </a:r>
          </a:p>
        </p:txBody>
      </p:sp>
      <p:sp>
        <p:nvSpPr>
          <p:cNvPr id="19" name="check-box-5">
            <a:extLst xmlns:a="http://schemas.openxmlformats.org/drawingml/2006/main">
              <a:ext uri="{FF2B5EF4-FFF2-40B4-BE49-F238E27FC236}">
                <a16:creationId xmlns:a16="http://schemas.microsoft.com/office/drawing/2014/main" id="{4C3A0732-57C0-45F6-8208-664C97CDA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6235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check-title-5">
            <a:extLst xmlns:a="http://schemas.openxmlformats.org/drawingml/2006/main">
              <a:ext uri="{FF2B5EF4-FFF2-40B4-BE49-F238E27FC236}">
                <a16:creationId xmlns:a16="http://schemas.microsoft.com/office/drawing/2014/main" id="{755C64D3-C719-4820-9216-101E88AF0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54330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Escalamiento</a:t>
            </a:r>
          </a:p>
        </p:txBody>
      </p:sp>
      <p:sp>
        <p:nvSpPr>
          <p:cNvPr id="21" name="check-body-5">
            <a:extLst xmlns:a="http://schemas.openxmlformats.org/drawingml/2006/main">
              <a:ext uri="{FF2B5EF4-FFF2-40B4-BE49-F238E27FC236}">
                <a16:creationId xmlns:a16="http://schemas.microsoft.com/office/drawing/2014/main" id="{AC80B671-E83F-415D-AD16-77E5AFA8E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981450"/>
            <a:ext cx="433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Definir cuando interviene una persona responsable.</a:t>
            </a:r>
          </a:p>
        </p:txBody>
      </p:sp>
    </p:spTree>
    <p:extLst>
      <p:ext uri="{BB962C8B-B14F-4D97-AF65-F5344CB8AC3E}">
        <p14:creationId xmlns:p14="http://schemas.microsoft.com/office/powerpoint/2010/main" val="47721473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footer-left">
            <a:extLst xmlns:a="http://schemas.openxmlformats.org/drawingml/2006/main">
              <a:ext uri="{FF2B5EF4-FFF2-40B4-BE49-F238E27FC236}">
                <a16:creationId xmlns:a16="http://schemas.microsoft.com/office/drawing/2014/main" id="{78979012-E7DC-4161-925C-949518BAC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Modulo I - Fundamentos de IA</a:t>
            </a:r>
          </a:p>
        </p:txBody>
      </p:sp>
      <p:sp>
        <p:nvSpPr>
          <p:cNvPr id="2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1B129544-D0FC-471A-853C-BE782BB3E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28650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12 / 13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DD03ABE-E89D-4FD8-AF3B-86688C106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8096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</a:defRPr>
            </a:pPr>
            <a:r>
              <a:rPr sz="3300" b="1">
                <a:solidFill>
                  <a:srgbClr val="000000"/>
                </a:solidFill>
              </a:rPr>
              <a:t>Errores frecuentes</a:t>
            </a:r>
          </a:p>
        </p:txBody>
      </p:sp>
      <p:sp>
        <p:nvSpPr>
          <p:cNvPr id="4" name="mistake-number-0">
            <a:extLst xmlns:a="http://schemas.openxmlformats.org/drawingml/2006/main">
              <a:ext uri="{FF2B5EF4-FFF2-40B4-BE49-F238E27FC236}">
                <a16:creationId xmlns:a16="http://schemas.microsoft.com/office/drawing/2014/main" id="{8CCAA1FD-CE6F-404E-87FD-142319928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76375"/>
            <a:ext cx="876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6B35"/>
                </a:solidFill>
              </a:defRPr>
            </a:pPr>
            <a:r>
              <a:rPr sz="2850" b="1">
                <a:solidFill>
                  <a:srgbClr val="FF6B35"/>
                </a:solidFill>
              </a:rPr>
              <a:t>01</a:t>
            </a:r>
          </a:p>
        </p:txBody>
      </p:sp>
      <p:sp>
        <p:nvSpPr>
          <p:cNvPr id="5" name="mistake-title-0">
            <a:extLst xmlns:a="http://schemas.openxmlformats.org/drawingml/2006/main">
              <a:ext uri="{FF2B5EF4-FFF2-40B4-BE49-F238E27FC236}">
                <a16:creationId xmlns:a16="http://schemas.microsoft.com/office/drawing/2014/main" id="{8D91C6CA-17A6-4564-A996-B7D617482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0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0000"/>
                </a:solidFill>
              </a:defRPr>
            </a:pPr>
            <a:r>
              <a:rPr sz="2175" b="1">
                <a:solidFill>
                  <a:srgbClr val="000000"/>
                </a:solidFill>
              </a:rPr>
              <a:t>Confundir fluidez con verdad</a:t>
            </a:r>
          </a:p>
        </p:txBody>
      </p:sp>
      <p:sp>
        <p:nvSpPr>
          <p:cNvPr id="6" name="mistake-fix-0">
            <a:extLst xmlns:a="http://schemas.openxmlformats.org/drawingml/2006/main">
              <a:ext uri="{FF2B5EF4-FFF2-40B4-BE49-F238E27FC236}">
                <a16:creationId xmlns:a16="http://schemas.microsoft.com/office/drawing/2014/main" id="{869C1AB5-56E6-481B-AD70-09274C958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67050"/>
            <a:ext cx="2905125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Una respuesta bien redactada puede estar equivocada. Verifique fuentes y datos.</a:t>
            </a:r>
          </a:p>
        </p:txBody>
      </p:sp>
      <p:sp>
        <p:nvSpPr>
          <p:cNvPr id="7" name="mistake-number-1">
            <a:extLst xmlns:a="http://schemas.openxmlformats.org/drawingml/2006/main">
              <a:ext uri="{FF2B5EF4-FFF2-40B4-BE49-F238E27FC236}">
                <a16:creationId xmlns:a16="http://schemas.microsoft.com/office/drawing/2014/main" id="{C819FD0D-04F1-4473-B97A-DA4AB4B61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1476375"/>
            <a:ext cx="876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6B35"/>
                </a:solidFill>
              </a:defRPr>
            </a:pPr>
            <a:r>
              <a:rPr sz="2850" b="1">
                <a:solidFill>
                  <a:srgbClr val="FF6B35"/>
                </a:solidFill>
              </a:rPr>
              <a:t>02</a:t>
            </a:r>
          </a:p>
        </p:txBody>
      </p:sp>
      <p:sp>
        <p:nvSpPr>
          <p:cNvPr id="8" name="mistake-title-1">
            <a:extLst xmlns:a="http://schemas.openxmlformats.org/drawingml/2006/main">
              <a:ext uri="{FF2B5EF4-FFF2-40B4-BE49-F238E27FC236}">
                <a16:creationId xmlns:a16="http://schemas.microsoft.com/office/drawing/2014/main" id="{0D66DBD7-9F30-4C57-AF81-B6990122B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2190750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0000"/>
                </a:solidFill>
              </a:defRPr>
            </a:pPr>
            <a:r>
              <a:rPr sz="2175" b="1">
                <a:solidFill>
                  <a:srgbClr val="000000"/>
                </a:solidFill>
              </a:rPr>
              <a:t>Automatizar sin proceso</a:t>
            </a:r>
          </a:p>
        </p:txBody>
      </p:sp>
      <p:sp>
        <p:nvSpPr>
          <p:cNvPr id="9" name="mistake-fix-1">
            <a:extLst xmlns:a="http://schemas.openxmlformats.org/drawingml/2006/main">
              <a:ext uri="{FF2B5EF4-FFF2-40B4-BE49-F238E27FC236}">
                <a16:creationId xmlns:a16="http://schemas.microsoft.com/office/drawing/2014/main" id="{684FE456-B83A-4D47-9489-8AD748E06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3067050"/>
            <a:ext cx="2905125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Primero entienda entradas, reglas, responsables y excepciones.</a:t>
            </a:r>
          </a:p>
        </p:txBody>
      </p:sp>
      <p:sp>
        <p:nvSpPr>
          <p:cNvPr id="10" name="mistake-number-2">
            <a:extLst xmlns:a="http://schemas.openxmlformats.org/drawingml/2006/main">
              <a:ext uri="{FF2B5EF4-FFF2-40B4-BE49-F238E27FC236}">
                <a16:creationId xmlns:a16="http://schemas.microsoft.com/office/drawing/2014/main" id="{A36C1374-3FA2-4417-83C5-DBE0D1F7F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476375"/>
            <a:ext cx="876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6B35"/>
                </a:solidFill>
              </a:defRPr>
            </a:pPr>
            <a:r>
              <a:rPr sz="2850" b="1">
                <a:solidFill>
                  <a:srgbClr val="FF6B35"/>
                </a:solidFill>
              </a:rPr>
              <a:t>03</a:t>
            </a:r>
          </a:p>
        </p:txBody>
      </p:sp>
      <p:sp>
        <p:nvSpPr>
          <p:cNvPr id="11" name="mistake-title-2">
            <a:extLst xmlns:a="http://schemas.openxmlformats.org/drawingml/2006/main">
              <a:ext uri="{FF2B5EF4-FFF2-40B4-BE49-F238E27FC236}">
                <a16:creationId xmlns:a16="http://schemas.microsoft.com/office/drawing/2014/main" id="{71E647BF-FC10-4853-83EE-85AF1C0AB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190750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0000"/>
                </a:solidFill>
              </a:defRPr>
            </a:pPr>
            <a:r>
              <a:rPr sz="2175" b="1">
                <a:solidFill>
                  <a:srgbClr val="000000"/>
                </a:solidFill>
              </a:rPr>
              <a:t>Ignorar privacidad</a:t>
            </a:r>
          </a:p>
        </p:txBody>
      </p:sp>
      <p:sp>
        <p:nvSpPr>
          <p:cNvPr id="12" name="mistake-fix-2">
            <a:extLst xmlns:a="http://schemas.openxmlformats.org/drawingml/2006/main">
              <a:ext uri="{FF2B5EF4-FFF2-40B4-BE49-F238E27FC236}">
                <a16:creationId xmlns:a16="http://schemas.microsoft.com/office/drawing/2014/main" id="{0F74846A-FA67-4CDC-A15C-1DC2B5B24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067050"/>
            <a:ext cx="2905125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Use datos sinteticos o anonimizados para pruebas y demostraciones.</a:t>
            </a:r>
          </a:p>
        </p:txBody>
      </p:sp>
      <p:sp>
        <p:nvSpPr>
          <p:cNvPr id="13" name="closing-note">
            <a:extLst xmlns:a="http://schemas.openxmlformats.org/drawingml/2006/main">
              <a:ext uri="{FF2B5EF4-FFF2-40B4-BE49-F238E27FC236}">
                <a16:creationId xmlns:a16="http://schemas.microsoft.com/office/drawing/2014/main" id="{AC3342CD-7891-487D-84FF-E4DF253DB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48250"/>
            <a:ext cx="9620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</a:rPr>
              <a:t>La meta no es usar IA en todo: es usarla donde mejora una decision, un proceso o una entrega.</a:t>
            </a:r>
          </a:p>
        </p:txBody>
      </p:sp>
    </p:spTree>
    <p:extLst>
      <p:ext uri="{BB962C8B-B14F-4D97-AF65-F5344CB8AC3E}">
        <p14:creationId xmlns:p14="http://schemas.microsoft.com/office/powerpoint/2010/main" val="148406548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footer-left">
            <a:extLst xmlns:a="http://schemas.openxmlformats.org/drawingml/2006/main">
              <a:ext uri="{FF2B5EF4-FFF2-40B4-BE49-F238E27FC236}">
                <a16:creationId xmlns:a16="http://schemas.microsoft.com/office/drawing/2014/main" id="{5CCF7B8C-110A-4F6C-B824-9F8AB7AB5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Modulo I - Fundamentos de IA</a:t>
            </a:r>
          </a:p>
        </p:txBody>
      </p:sp>
      <p:sp>
        <p:nvSpPr>
          <p:cNvPr id="2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3BCA843E-85FD-4931-9AD3-5ADD412CA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28650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13 / 13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E6F4126-F413-4AA2-A5D1-8B81E79A4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9048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000000"/>
                </a:solidFill>
              </a:defRPr>
            </a:pPr>
            <a:r>
              <a:rPr sz="4050" b="1">
                <a:solidFill>
                  <a:srgbClr val="000000"/>
                </a:solidFill>
              </a:rPr>
              <a:t>Cierre del modulo</a:t>
            </a:r>
          </a:p>
        </p:txBody>
      </p:sp>
      <p:sp>
        <p:nvSpPr>
          <p:cNvPr id="4" name="next">
            <a:extLst xmlns:a="http://schemas.openxmlformats.org/drawingml/2006/main">
              <a:ext uri="{FF2B5EF4-FFF2-40B4-BE49-F238E27FC236}">
                <a16:creationId xmlns:a16="http://schemas.microsoft.com/office/drawing/2014/main" id="{EC126E81-BFD6-4CBE-AEB1-9501356D8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38375"/>
            <a:ext cx="6191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000000"/>
                </a:solidFill>
              </a:defRPr>
            </a:pPr>
            <a:r>
              <a:rPr sz="2250" b="0">
                <a:solidFill>
                  <a:srgbClr val="000000"/>
                </a:solidFill>
              </a:rPr>
              <a:t>- Selecciona un proceso real.</a:t>
            </a:r>
          </a:p>
          <a:p xmlns:a="http://schemas.openxmlformats.org/drawingml/2006/main">
            <a:pPr algn="l">
              <a:defRPr sz="2250" b="0">
                <a:solidFill>
                  <a:srgbClr val="000000"/>
                </a:solidFill>
              </a:defRPr>
            </a:pPr>
            <a:r>
              <a:rPr sz="2250" b="0">
                <a:solidFill>
                  <a:srgbClr val="000000"/>
                </a:solidFill>
              </a:rPr>
              <a:t>- Define impacto, datos y riesgos.</a:t>
            </a:r>
          </a:p>
          <a:p xmlns:a="http://schemas.openxmlformats.org/drawingml/2006/main">
            <a:pPr algn="l">
              <a:defRPr sz="2250" b="0">
                <a:solidFill>
                  <a:srgbClr val="000000"/>
                </a:solidFill>
              </a:defRPr>
            </a:pPr>
            <a:r>
              <a:rPr sz="2250" b="0">
                <a:solidFill>
                  <a:srgbClr val="000000"/>
                </a:solidFill>
              </a:rPr>
              <a:t>- Trae una oportunidad priorizada al Modulo II.</a:t>
            </a:r>
          </a:p>
        </p:txBody>
      </p:sp>
      <p:sp>
        <p:nvSpPr>
          <p:cNvPr id="5" name="final-panel">
            <a:extLst xmlns:a="http://schemas.openxmlformats.org/drawingml/2006/main">
              <a:ext uri="{FF2B5EF4-FFF2-40B4-BE49-F238E27FC236}">
                <a16:creationId xmlns:a16="http://schemas.microsoft.com/office/drawing/2014/main" id="{0599976B-77D1-4E56-BAD2-E2224EB54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809750"/>
            <a:ext cx="371475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inal-panel-title">
            <a:extLst xmlns:a="http://schemas.openxmlformats.org/drawingml/2006/main">
              <a:ext uri="{FF2B5EF4-FFF2-40B4-BE49-F238E27FC236}">
                <a16:creationId xmlns:a16="http://schemas.microsoft.com/office/drawing/2014/main" id="{98B6603E-C4E0-44E3-8140-9CC75F66D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286000"/>
            <a:ext cx="2905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0000"/>
                </a:solidFill>
              </a:defRPr>
            </a:pPr>
            <a:r>
              <a:rPr sz="2550" b="1">
                <a:solidFill>
                  <a:srgbClr val="000000"/>
                </a:solidFill>
              </a:rPr>
              <a:t>Producto listo</a:t>
            </a:r>
          </a:p>
        </p:txBody>
      </p:sp>
      <p:sp>
        <p:nvSpPr>
          <p:cNvPr id="7" name="final-panel-body">
            <a:extLst xmlns:a="http://schemas.openxmlformats.org/drawingml/2006/main">
              <a:ext uri="{FF2B5EF4-FFF2-40B4-BE49-F238E27FC236}">
                <a16:creationId xmlns:a16="http://schemas.microsoft.com/office/drawing/2014/main" id="{E1AF407D-3662-4668-BE6D-00D9483FA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3257550"/>
            <a:ext cx="2781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Mapa inicial de oportunidades de IA para tu entorno laboral.</a:t>
            </a:r>
          </a:p>
        </p:txBody>
      </p:sp>
    </p:spTree>
    <p:extLst>
      <p:ext uri="{BB962C8B-B14F-4D97-AF65-F5344CB8AC3E}">
        <p14:creationId xmlns:p14="http://schemas.microsoft.com/office/powerpoint/2010/main" val="10526783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2026-06-26T12:30:32.1900000Z</dcterms:created>
  <dcterms:modified xsi:type="dcterms:W3CDTF">2026-06-26T12:30:32.1900000Z</dcterms:modified>
</coreProperties>
</file>
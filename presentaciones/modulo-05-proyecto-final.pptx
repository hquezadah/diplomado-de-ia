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df0d33f2324ce0" /><Relationship Type="http://schemas.openxmlformats.org/officeDocument/2006/relationships/extended-properties" Target="/docProps/app.xml" Id="R74c675b41e384225" /><Relationship Type="http://schemas.openxmlformats.org/officeDocument/2006/relationships/officeDocument" Target="/ppt/presentation.xml" Id="Raedc973f060f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c647abc364d01"/>
  </p:sldMasterIdLst>
  <p:notesMasterIdLst>
    <p:notesMasterId xmlns:r="http://schemas.openxmlformats.org/officeDocument/2006/relationships" r:id="R65491f69f81f4dcb"/>
  </p:notesMasterIdLst>
  <p:sldIdLst>
    <p:sldId xmlns:r="http://schemas.openxmlformats.org/officeDocument/2006/relationships" id="256" r:id="R63dd0b8bb8a240f7"/>
    <p:sldId xmlns:r="http://schemas.openxmlformats.org/officeDocument/2006/relationships" id="257" r:id="R80f60f0bc41142b7"/>
    <p:sldId xmlns:r="http://schemas.openxmlformats.org/officeDocument/2006/relationships" id="258" r:id="R814f2a426046453f"/>
    <p:sldId xmlns:r="http://schemas.openxmlformats.org/officeDocument/2006/relationships" id="259" r:id="Rb248238647884dbe"/>
    <p:sldId xmlns:r="http://schemas.openxmlformats.org/officeDocument/2006/relationships" id="260" r:id="Rab7ae133698e4340"/>
    <p:sldId xmlns:r="http://schemas.openxmlformats.org/officeDocument/2006/relationships" id="261" r:id="R669dc9be1c144cdd"/>
    <p:sldId xmlns:r="http://schemas.openxmlformats.org/officeDocument/2006/relationships" id="262" r:id="Rb8dd1a87afe140f7"/>
    <p:sldId xmlns:r="http://schemas.openxmlformats.org/officeDocument/2006/relationships" id="263" r:id="Rc8e61e4c75f54bb0"/>
    <p:sldId xmlns:r="http://schemas.openxmlformats.org/officeDocument/2006/relationships" id="264" r:id="Rc02a447109244b66"/>
    <p:sldId xmlns:r="http://schemas.openxmlformats.org/officeDocument/2006/relationships" id="265" r:id="Ra69f1527e65c4886"/>
    <p:sldId xmlns:r="http://schemas.openxmlformats.org/officeDocument/2006/relationships" id="266" r:id="R1b3af5c18a5340cc"/>
    <p:sldId xmlns:r="http://schemas.openxmlformats.org/officeDocument/2006/relationships" id="267" r:id="R880c3cb2f2214105"/>
    <p:sldId xmlns:r="http://schemas.openxmlformats.org/officeDocument/2006/relationships" id="268" r:id="Ra2f1ac16248644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acdf590fac4670" /><Relationship Type="http://schemas.openxmlformats.org/officeDocument/2006/relationships/slideMaster" Target="/ppt/slideMasters/slideMaster1.xml" Id="R81bc647abc364d01" /><Relationship Type="http://schemas.openxmlformats.org/officeDocument/2006/relationships/notesMaster" Target="/ppt/notesMasters/notesMaster1.xml" Id="R65491f69f81f4dcb" /><Relationship Type="http://schemas.openxmlformats.org/officeDocument/2006/relationships/presProps" Target="/ppt/presProps.xml" Id="Rf6e93eeb0e3f474c" /><Relationship Type="http://schemas.openxmlformats.org/officeDocument/2006/relationships/tableStyles" Target="/ppt/tableStyles.xml" Id="Rb61e1288d8e54d30" /><Relationship Type="http://schemas.openxmlformats.org/officeDocument/2006/relationships/slide" Target="/ppt/slides/slide1.xml" Id="R63dd0b8bb8a240f7" /><Relationship Type="http://schemas.openxmlformats.org/officeDocument/2006/relationships/slide" Target="/ppt/slides/slide2.xml" Id="R80f60f0bc41142b7" /><Relationship Type="http://schemas.openxmlformats.org/officeDocument/2006/relationships/slide" Target="/ppt/slides/slide3.xml" Id="R814f2a426046453f" /><Relationship Type="http://schemas.openxmlformats.org/officeDocument/2006/relationships/slide" Target="/ppt/slides/slide4.xml" Id="Rb248238647884dbe" /><Relationship Type="http://schemas.openxmlformats.org/officeDocument/2006/relationships/slide" Target="/ppt/slides/slide5.xml" Id="Rab7ae133698e4340" /><Relationship Type="http://schemas.openxmlformats.org/officeDocument/2006/relationships/slide" Target="/ppt/slides/slide6.xml" Id="R669dc9be1c144cdd" /><Relationship Type="http://schemas.openxmlformats.org/officeDocument/2006/relationships/slide" Target="/ppt/slides/slide7.xml" Id="Rb8dd1a87afe140f7" /><Relationship Type="http://schemas.openxmlformats.org/officeDocument/2006/relationships/slide" Target="/ppt/slides/slide8.xml" Id="Rc8e61e4c75f54bb0" /><Relationship Type="http://schemas.openxmlformats.org/officeDocument/2006/relationships/slide" Target="/ppt/slides/slide9.xml" Id="Rc02a447109244b66" /><Relationship Type="http://schemas.openxmlformats.org/officeDocument/2006/relationships/slide" Target="/ppt/slides/slide10.xml" Id="Ra69f1527e65c4886" /><Relationship Type="http://schemas.openxmlformats.org/officeDocument/2006/relationships/slide" Target="/ppt/slides/slide11.xml" Id="R1b3af5c18a5340cc" /><Relationship Type="http://schemas.openxmlformats.org/officeDocument/2006/relationships/slide" Target="/ppt/slides/slide12.xml" Id="R880c3cb2f2214105" /><Relationship Type="http://schemas.openxmlformats.org/officeDocument/2006/relationships/slide" Target="/ppt/slides/slide13.xml" Id="Ra2f1ac16248644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b024c34709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3fd66d4154cc7" /><Relationship Type="http://schemas.openxmlformats.org/officeDocument/2006/relationships/notesMaster" Target="/ppt/notesMasters/notesMaster1.xml" Id="Rdebd65a1f0d2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c86b38c9e4bae" /><Relationship Type="http://schemas.openxmlformats.org/officeDocument/2006/relationships/notesMaster" Target="/ppt/notesMasters/notesMaster1.xml" Id="Rcd84445964c34f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2245734384a47" /><Relationship Type="http://schemas.openxmlformats.org/officeDocument/2006/relationships/notesMaster" Target="/ppt/notesMasters/notesMaster1.xml" Id="R1350db46222d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7b9d65e964521" /><Relationship Type="http://schemas.openxmlformats.org/officeDocument/2006/relationships/notesMaster" Target="/ppt/notesMasters/notesMaster1.xml" Id="R1a885500070f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371a6afd94230" /><Relationship Type="http://schemas.openxmlformats.org/officeDocument/2006/relationships/notesMaster" Target="/ppt/notesMasters/notesMaster1.xml" Id="Rb2d715fc485d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dee125b5804c3f" /><Relationship Type="http://schemas.openxmlformats.org/officeDocument/2006/relationships/notesMaster" Target="/ppt/notesMasters/notesMaster1.xml" Id="Rdfc86562643445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ed2864cef04991" /><Relationship Type="http://schemas.openxmlformats.org/officeDocument/2006/relationships/notesMaster" Target="/ppt/notesMasters/notesMaster1.xml" Id="R17dbca406142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268716e19443f" /><Relationship Type="http://schemas.openxmlformats.org/officeDocument/2006/relationships/notesMaster" Target="/ppt/notesMasters/notesMaster1.xml" Id="R6b490bb827804b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3de88a66e1431f" /><Relationship Type="http://schemas.openxmlformats.org/officeDocument/2006/relationships/notesMaster" Target="/ppt/notesMasters/notesMaster1.xml" Id="R7ecb5248a58d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9bbce56c154141" /><Relationship Type="http://schemas.openxmlformats.org/officeDocument/2006/relationships/notesMaster" Target="/ppt/notesMasters/notesMaster1.xml" Id="R9862cec5b69943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e9eda36e994642" /><Relationship Type="http://schemas.openxmlformats.org/officeDocument/2006/relationships/notesMaster" Target="/ppt/notesMasters/notesMaster1.xml" Id="R64e87a887e83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527d08a54247c0" /><Relationship Type="http://schemas.openxmlformats.org/officeDocument/2006/relationships/notesMaster" Target="/ppt/notesMasters/notesMaster1.xml" Id="R7d99b293c88c40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fb3167c91c4153" /><Relationship Type="http://schemas.openxmlformats.org/officeDocument/2006/relationships/notesMaster" Target="/ppt/notesMasters/notesMaster1.xml" Id="Re6515b53745c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 el modulo como integrador. Todo lo anterior alimenta el proyecto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para mostrar que la sesion no sera teorica solamente. Anticipe los productos que el participante ira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resultado con una accion observable. Pida que los participantes identifiquen cual resultado les parece mas valioso para su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que cada participante diga su problema en una frase. Si no cabe en una frase, aun falta delimitar.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ejemplo para mostrar como datos, productividad y comunicacion se integran.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Refuerce que prototipo no significa sistema completo. Una prueba controlada bien documentada basta.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el prompt como evaluador critico. Pida que el modelo haga preguntas incomodas.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Dedique tiempo de taller. El facilitador debe circular y ayudar a acotar proyectos.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la rubrica antes de que construyan la entrega, no solo al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grafico sugiere balance de esfuerzo. No abandonar riesgos ni impacto por enfocarse solo en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la lista como ensayo final antes de presentar.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Ayude a convertir ideas grandes en pilotos de 2 a 4 semanas.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celebrando que el valor no esta en usar muchas herramientas, sino en resolver un problema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f1fa0f7f548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036c227d148f1" /><Relationship Type="http://schemas.openxmlformats.org/officeDocument/2006/relationships/slideLayout" Target="/ppt/slideLayouts/slideLayout1.xml" Id="Rf825c4362e71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5c4362e71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d8f9de064298" /><Relationship Type="http://schemas.openxmlformats.org/officeDocument/2006/relationships/notesSlide" Target="/ppt/notesSlides/notesSlide1.xml" Id="R30557350bd424a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7bf96b59c4a6a" /><Relationship Type="http://schemas.openxmlformats.org/officeDocument/2006/relationships/notesSlide" Target="/ppt/notesSlides/notesSlide2.xml" Id="R3ef644496d2a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e9f1694a4332" /><Relationship Type="http://schemas.openxmlformats.org/officeDocument/2006/relationships/notesSlide" Target="/ppt/notesSlides/notesSlide3.xml" Id="Rcf2f1bbbf860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b0cf92fe74eb6" /><Relationship Type="http://schemas.openxmlformats.org/officeDocument/2006/relationships/notesSlide" Target="/ppt/notesSlides/notesSlide4.xml" Id="R487fdb638732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25c3faf334b56" /><Relationship Type="http://schemas.openxmlformats.org/officeDocument/2006/relationships/notesSlide" Target="/ppt/notesSlides/notesSlide5.xml" Id="Rd2a5a4d088c24f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aa5c02bba47b0" /><Relationship Type="http://schemas.openxmlformats.org/officeDocument/2006/relationships/notesSlide" Target="/ppt/notesSlides/notesSlide6.xml" Id="Rf18a795bb26344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98598d834bbc" /><Relationship Type="http://schemas.openxmlformats.org/officeDocument/2006/relationships/notesSlide" Target="/ppt/notesSlides/notesSlide7.xml" Id="R00ab4f2c2076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697793d984c5e" /><Relationship Type="http://schemas.openxmlformats.org/officeDocument/2006/relationships/notesSlide" Target="/ppt/notesSlides/notesSlide8.xml" Id="Rdd4fb516982540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7be6318d457c" /><Relationship Type="http://schemas.openxmlformats.org/officeDocument/2006/relationships/notesSlide" Target="/ppt/notesSlides/notesSlide9.xml" Id="Re76797df527f45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820ac630a459a" /><Relationship Type="http://schemas.openxmlformats.org/officeDocument/2006/relationships/chart" Target="/ppt/slides/charts/chart1.xml" Id="Rf915a57d05e54b07" /><Relationship Type="http://schemas.openxmlformats.org/officeDocument/2006/relationships/notesSlide" Target="/ppt/notesSlides/notesSlide10.xml" Id="Rf2a8d66756e741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7fdf870e347c0" /><Relationship Type="http://schemas.openxmlformats.org/officeDocument/2006/relationships/notesSlide" Target="/ppt/notesSlides/notesSlide11.xml" Id="R1f88d15e79c84e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2be9ffb5f4041" /><Relationship Type="http://schemas.openxmlformats.org/officeDocument/2006/relationships/notesSlide" Target="/ppt/notesSlides/notesSlide12.xml" Id="Rf7505529188d43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5df3314904249" /><Relationship Type="http://schemas.openxmlformats.org/officeDocument/2006/relationships/notesSlide" Target="/ppt/notesSlides/notesSlide13.xml" Id="R15a19396d99a4ddc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Atencion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Problema</c:v>
              </c:pt>
              <c:pt idx="1">
                <c:v>Diseno</c:v>
              </c:pt>
              <c:pt idx="2">
                <c:v>Prototipo</c:v>
              </c:pt>
              <c:pt idx="3">
                <c:v>Impacto</c:v>
              </c:pt>
              <c:pt idx="4">
                <c:v>Riesgos</c:v>
              </c:pt>
            </c:strLit>
          </c:cat>
          <c:val>
            <c:numLit>
              <c:formatCode>General</c:formatCode>
              <c:ptCount val="5"/>
              <c:pt idx="0">
                <c:v>22</c:v>
              </c:pt>
              <c:pt idx="1">
                <c:v>24</c:v>
              </c:pt>
              <c:pt idx="2">
                <c:v>24</c:v>
              </c:pt>
              <c:pt idx="3">
                <c:v>16</c:v>
              </c:pt>
              <c:pt idx="4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893291-6868-4C62-93C0-9461266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43939A-F79E-43CF-A06A-C5514EFA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01 / 13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F65666B5-B84C-4083-AE58-7493B9DD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71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098A5C2-61D8-4DDC-9E1E-39FBDCD6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Modulo V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FA88F1-E71B-48C6-B5F8-7E49EDA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Desarrollo y presentacion de un proyecto aplicado con IA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498EE50-4267-47D9-94E0-BDAB934E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Diagnostico, diseno, prototipo, evidencia, riesgos, implementacion y comunicacion ejecutiva.</a:t>
            </a:r>
          </a:p>
        </p:txBody>
      </p:sp>
      <p:sp>
        <p:nvSpPr>
          <p:cNvPr id="7" name="right-field">
            <a:extLst xmlns:a="http://schemas.openxmlformats.org/drawingml/2006/main">
              <a:ext uri="{FF2B5EF4-FFF2-40B4-BE49-F238E27FC236}">
                <a16:creationId xmlns:a16="http://schemas.microsoft.com/office/drawing/2014/main" id="{3FE013AE-64D3-4D3B-BB12-9E0C4066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field-title">
            <a:extLst xmlns:a="http://schemas.openxmlformats.org/drawingml/2006/main">
              <a:ext uri="{FF2B5EF4-FFF2-40B4-BE49-F238E27FC236}">
                <a16:creationId xmlns:a16="http://schemas.microsoft.com/office/drawing/2014/main" id="{5D471CD9-488A-47E3-8CD3-24DB3CE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33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De idea a solucion</a:t>
            </a:r>
          </a:p>
        </p:txBody>
      </p:sp>
      <p:sp>
        <p:nvSpPr>
          <p:cNvPr id="9" name="right-field-body">
            <a:extLst xmlns:a="http://schemas.openxmlformats.org/drawingml/2006/main">
              <a:ext uri="{FF2B5EF4-FFF2-40B4-BE49-F238E27FC236}">
                <a16:creationId xmlns:a16="http://schemas.microsoft.com/office/drawing/2014/main" id="{40206FE5-523F-4236-B07A-8B981F5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266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El proyecto final demuestra criterio: problema claro, IA pertinente y evidencia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24455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0D6315-8DC7-40ED-B321-94D93342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DA4973A-B3FF-421B-9EB3-695469D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012AD7-91C9-4F4B-81B0-141D6B3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 aprendizaje</a:t>
            </a:r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9E98BCC7-C311-4F7F-BBD4-72C2DFB9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"/>
            <a:ext cx="53340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1. Seleccion del problema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2. Alcance y objetivos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3. Flujo de trabajo con IA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4. Prototipo y evidencia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5. Riesgos e implementacion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6. Presentacion final</a:t>
            </a:r>
          </a:p>
        </p:txBody>
      </p:sp>
      <p:sp>
        <p:nvSpPr>
          <p:cNvPr id="5" name="rhythm">
            <a:extLst xmlns:a="http://schemas.openxmlformats.org/drawingml/2006/main">
              <a:ext uri="{FF2B5EF4-FFF2-40B4-BE49-F238E27FC236}">
                <a16:creationId xmlns:a16="http://schemas.microsoft.com/office/drawing/2014/main" id="{30B83F3F-3CF4-45FD-9E21-85D1CA9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Cada bloque combina concepto, demostracion, practica y reflexion.</a:t>
            </a:r>
          </a:p>
        </p:txBody>
      </p:sp>
    </p:spTree>
    <p:extLst>
      <p:ext uri="{BB962C8B-B14F-4D97-AF65-F5344CB8AC3E}">
        <p14:creationId xmlns:p14="http://schemas.microsoft.com/office/powerpoint/2010/main" val="976246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3EF802-81FC-477F-B3C6-D89D5731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9CF2352-0B21-4D3D-8BC6-6A1A851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27C2E4-2EE7-4304-812E-E42BD5F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 finalizar podras</a:t>
            </a:r>
          </a:p>
        </p:txBody>
      </p:sp>
      <p:sp>
        <p:nvSpPr>
          <p:cNvPr id="4" name="outcome-box-0">
            <a:extLst xmlns:a="http://schemas.openxmlformats.org/drawingml/2006/main">
              <a:ext uri="{FF2B5EF4-FFF2-40B4-BE49-F238E27FC236}">
                <a16:creationId xmlns:a16="http://schemas.microsoft.com/office/drawing/2014/main" id="{F60CEEDF-2606-4AF1-AE02-A01FEBA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A9F9BC4C-C53C-4750-950A-76839B91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outcome-0">
            <a:extLst xmlns:a="http://schemas.openxmlformats.org/drawingml/2006/main">
              <a:ext uri="{FF2B5EF4-FFF2-40B4-BE49-F238E27FC236}">
                <a16:creationId xmlns:a16="http://schemas.microsoft.com/office/drawing/2014/main" id="{C4E2FF52-9675-4F6D-97C4-4A38A13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Delimitar un problema laboral relevante.</a:t>
            </a:r>
          </a:p>
        </p:txBody>
      </p:sp>
      <p:sp>
        <p:nvSpPr>
          <p:cNvPr id="7" name="outcome-box-1">
            <a:extLst xmlns:a="http://schemas.openxmlformats.org/drawingml/2006/main">
              <a:ext uri="{FF2B5EF4-FFF2-40B4-BE49-F238E27FC236}">
                <a16:creationId xmlns:a16="http://schemas.microsoft.com/office/drawing/2014/main" id="{A6BF9F3D-DF00-4D2B-9675-00EE1B5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19A387E7-F0B3-4E0D-8155-D85AEE9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outcome-1">
            <a:extLst xmlns:a="http://schemas.openxmlformats.org/drawingml/2006/main">
              <a:ext uri="{FF2B5EF4-FFF2-40B4-BE49-F238E27FC236}">
                <a16:creationId xmlns:a16="http://schemas.microsoft.com/office/drawing/2014/main" id="{3BE1895D-A561-4D90-963F-563C9AB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Disenar una solucion asistida por IA.</a:t>
            </a:r>
          </a:p>
        </p:txBody>
      </p:sp>
      <p:sp>
        <p:nvSpPr>
          <p:cNvPr id="10" name="outcome-box-2">
            <a:extLst xmlns:a="http://schemas.openxmlformats.org/drawingml/2006/main">
              <a:ext uri="{FF2B5EF4-FFF2-40B4-BE49-F238E27FC236}">
                <a16:creationId xmlns:a16="http://schemas.microsoft.com/office/drawing/2014/main" id="{031467B5-317A-428B-88E4-5BD4D8A8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F8557AF5-9B5E-45EC-80E7-86FEF22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outcome-2">
            <a:extLst xmlns:a="http://schemas.openxmlformats.org/drawingml/2006/main">
              <a:ext uri="{FF2B5EF4-FFF2-40B4-BE49-F238E27FC236}">
                <a16:creationId xmlns:a16="http://schemas.microsoft.com/office/drawing/2014/main" id="{B389B5E2-F4DE-429D-BF81-47526253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Documentar evidencia y resultados.</a:t>
            </a:r>
          </a:p>
        </p:txBody>
      </p:sp>
      <p:sp>
        <p:nvSpPr>
          <p:cNvPr id="13" name="outcome-box-3">
            <a:extLst xmlns:a="http://schemas.openxmlformats.org/drawingml/2006/main">
              <a:ext uri="{FF2B5EF4-FFF2-40B4-BE49-F238E27FC236}">
                <a16:creationId xmlns:a16="http://schemas.microsoft.com/office/drawing/2014/main" id="{F12E396E-84DC-40CF-984A-F3432BEB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99B1A4C9-4D5E-47AB-96F3-333157E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5" name="outcome-3">
            <a:extLst xmlns:a="http://schemas.openxmlformats.org/drawingml/2006/main">
              <a:ext uri="{FF2B5EF4-FFF2-40B4-BE49-F238E27FC236}">
                <a16:creationId xmlns:a16="http://schemas.microsoft.com/office/drawing/2014/main" id="{8CB970F2-AFCE-4DBC-BC7A-239207B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Presentar impacto, riesgos y plan de accion.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30DDFBBC-7627-4983-99D4-CC69E623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Evidencia del modulo: proyecto aplicado completo con prototipo, documentacion y presentacion.</a:t>
            </a:r>
          </a:p>
        </p:txBody>
      </p:sp>
    </p:spTree>
    <p:extLst>
      <p:ext uri="{BB962C8B-B14F-4D97-AF65-F5344CB8AC3E}">
        <p14:creationId xmlns:p14="http://schemas.microsoft.com/office/powerpoint/2010/main" val="304666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C4074A-6E49-41A4-A70B-95761701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CEE7E1-7785-4F81-9124-84BE2AF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04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66B39-1030-4320-BE23-E058386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Anatomia de un buen proyecto final</a:t>
            </a:r>
          </a:p>
        </p:txBody>
      </p:sp>
      <p:sp>
        <p:nvSpPr>
          <p:cNvPr id="4" name="concept-box-0">
            <a:extLst xmlns:a="http://schemas.openxmlformats.org/drawingml/2006/main">
              <a:ext uri="{FF2B5EF4-FFF2-40B4-BE49-F238E27FC236}">
                <a16:creationId xmlns:a16="http://schemas.microsoft.com/office/drawing/2014/main" id="{42136BEE-4CFC-45FA-880B-46BD4172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4554121A-7FF9-4976-8BB1-6BF6F68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Problema</a:t>
            </a:r>
          </a:p>
        </p:txBody>
      </p:sp>
      <p:sp>
        <p:nvSpPr>
          <p:cNvPr id="6" name="concept-desc-0">
            <a:extLst xmlns:a="http://schemas.openxmlformats.org/drawingml/2006/main">
              <a:ext uri="{FF2B5EF4-FFF2-40B4-BE49-F238E27FC236}">
                <a16:creationId xmlns:a16="http://schemas.microsoft.com/office/drawing/2014/main" id="{54195A2F-7FC6-43A7-B1AE-5A58B18B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Debe doler, repetirse o afectar una decision, servicio o entrega.</a:t>
            </a:r>
          </a:p>
        </p:txBody>
      </p:sp>
      <p:sp>
        <p:nvSpPr>
          <p:cNvPr id="7" name="concept-box-1">
            <a:extLst xmlns:a="http://schemas.openxmlformats.org/drawingml/2006/main">
              <a:ext uri="{FF2B5EF4-FFF2-40B4-BE49-F238E27FC236}">
                <a16:creationId xmlns:a16="http://schemas.microsoft.com/office/drawing/2014/main" id="{D18D6800-43ED-4D5E-9A40-55C8DE90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1A4899DD-3283-4A08-ABFB-275335E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Solucion</a:t>
            </a:r>
          </a:p>
        </p:txBody>
      </p:sp>
      <p:sp>
        <p:nvSpPr>
          <p:cNvPr id="9" name="concept-desc-1">
            <a:extLst xmlns:a="http://schemas.openxmlformats.org/drawingml/2006/main">
              <a:ext uri="{FF2B5EF4-FFF2-40B4-BE49-F238E27FC236}">
                <a16:creationId xmlns:a16="http://schemas.microsoft.com/office/drawing/2014/main" id="{09D0545A-45EE-43E1-8674-DB9D55D2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Explica como IA mejora el flujo sin ocultar supervision humana.</a:t>
            </a:r>
          </a:p>
        </p:txBody>
      </p:sp>
      <p:sp>
        <p:nvSpPr>
          <p:cNvPr id="10" name="concept-box-2">
            <a:extLst xmlns:a="http://schemas.openxmlformats.org/drawingml/2006/main">
              <a:ext uri="{FF2B5EF4-FFF2-40B4-BE49-F238E27FC236}">
                <a16:creationId xmlns:a16="http://schemas.microsoft.com/office/drawing/2014/main" id="{F8BC8ED9-F64C-44B9-90EA-46DF54A8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A521EBA1-74F9-4E96-8A94-B818775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Evidencia</a:t>
            </a:r>
          </a:p>
        </p:txBody>
      </p:sp>
      <p:sp>
        <p:nvSpPr>
          <p:cNvPr id="12" name="concept-desc-2">
            <a:extLst xmlns:a="http://schemas.openxmlformats.org/drawingml/2006/main">
              <a:ext uri="{FF2B5EF4-FFF2-40B4-BE49-F238E27FC236}">
                <a16:creationId xmlns:a16="http://schemas.microsoft.com/office/drawing/2014/main" id="{1990511A-9750-46DE-B17E-1977CAB8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Muestra pruebas, versiones, resultados y limites.</a:t>
            </a:r>
          </a:p>
        </p:txBody>
      </p:sp>
      <p:sp>
        <p:nvSpPr>
          <p:cNvPr id="13" name="concept-box-3">
            <a:extLst xmlns:a="http://schemas.openxmlformats.org/drawingml/2006/main">
              <a:ext uri="{FF2B5EF4-FFF2-40B4-BE49-F238E27FC236}">
                <a16:creationId xmlns:a16="http://schemas.microsoft.com/office/drawing/2014/main" id="{DAB1A488-7736-4500-9C94-3CEE3A9A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C9E75407-F3E9-49B0-A6AF-1914BAC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Impacto</a:t>
            </a:r>
          </a:p>
        </p:txBody>
      </p:sp>
      <p:sp>
        <p:nvSpPr>
          <p:cNvPr id="15" name="concept-desc-3">
            <a:extLst xmlns:a="http://schemas.openxmlformats.org/drawingml/2006/main">
              <a:ext uri="{FF2B5EF4-FFF2-40B4-BE49-F238E27FC236}">
                <a16:creationId xmlns:a16="http://schemas.microsoft.com/office/drawing/2014/main" id="{59A80095-1E4B-45DA-A016-241ECD59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24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Traduce beneficios en tiempo, calidad, costo, riesgo o experiencia.</a:t>
            </a:r>
          </a:p>
        </p:txBody>
      </p:sp>
    </p:spTree>
    <p:extLst>
      <p:ext uri="{BB962C8B-B14F-4D97-AF65-F5344CB8AC3E}">
        <p14:creationId xmlns:p14="http://schemas.microsoft.com/office/powerpoint/2010/main" val="256334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C5AFA3-4F31-4C6C-8A84-38AAF82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303E53E-3714-423B-B37A-7C7C59C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05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1CF88D-2BB6-4D40-A337-A8B9977D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 aplicado: asistente de reportes</a:t>
            </a:r>
          </a:p>
        </p:txBody>
      </p:sp>
      <p:sp>
        <p:nvSpPr>
          <p:cNvPr id="4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2360A478-FC1D-4A62-A956-2B5A35C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Contexto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0ACE7EDC-854C-4315-8624-26EB723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Un area prepara reportes mensuales manualmente desde hojas de calculo y tarda varios dias en producir narrativa ejecutiva.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8C8D2431-77AA-4087-BEF1-2EDE4B03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8D041C56-C300-407D-B511-980E4DC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Como se aplica IA</a:t>
            </a:r>
          </a:p>
        </p:txBody>
      </p:sp>
      <p:sp>
        <p:nvSpPr>
          <p:cNvPr id="8" name="action-list">
            <a:extLst xmlns:a="http://schemas.openxmlformats.org/drawingml/2006/main">
              <a:ext uri="{FF2B5EF4-FFF2-40B4-BE49-F238E27FC236}">
                <a16:creationId xmlns:a16="http://schemas.microsoft.com/office/drawing/2014/main" id="{E845856F-8118-4B1B-94E9-8D8FD8A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Estandarizar dataset y metricas principales.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Usar IA para generar borrador de hallazgos.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Validar cifras contra calculos reproducibles.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Crear plantilla de informe y aprobacion.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9CA311E1-9BC6-4F94-A6D3-22C1A6AE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Resultado esperado: ciclo de reporte mas rapido, con control sobre datos y narrativa.</a:t>
            </a:r>
          </a:p>
        </p:txBody>
      </p:sp>
    </p:spTree>
    <p:extLst>
      <p:ext uri="{BB962C8B-B14F-4D97-AF65-F5344CB8AC3E}">
        <p14:creationId xmlns:p14="http://schemas.microsoft.com/office/powerpoint/2010/main" val="805807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C505BC-90A4-4F02-B9E3-CAEFA4A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3C14B2B-FEBA-44C4-A94B-03AACD0D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06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57BBA6-9D6C-40E3-A5DB-043E1E5E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del proyecto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2C02747-9803-41F8-8E26-004D5C56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step-rule-0">
            <a:extLst xmlns:a="http://schemas.openxmlformats.org/drawingml/2006/main">
              <a:ext uri="{FF2B5EF4-FFF2-40B4-BE49-F238E27FC236}">
                <a16:creationId xmlns:a16="http://schemas.microsoft.com/office/drawing/2014/main" id="{F21524FF-B586-443D-AD61-00A3E88C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224A38B-D9D4-4064-BA83-CE7B1A5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Diagnostico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120E94B-D440-4B66-804A-4DA1F1A5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Problema, actores, datos, restricciones y criterios de exito.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F403157-A854-4E3F-BCF8-BBE64A27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step-rule-1">
            <a:extLst xmlns:a="http://schemas.openxmlformats.org/drawingml/2006/main">
              <a:ext uri="{FF2B5EF4-FFF2-40B4-BE49-F238E27FC236}">
                <a16:creationId xmlns:a16="http://schemas.microsoft.com/office/drawing/2014/main" id="{2B819A57-BE1C-47D0-AEAF-869D3FF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21C63760-1697-4A3E-B4CF-DFB789EE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Diseno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BC33B44-87BA-450E-986E-4309739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Flujo futuro, herramientas, prompts, controles y roles.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9D6E5C3-74F1-4C05-8D6D-A177FE04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0E904C85-B6B5-4999-B3CC-04B8EF3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2E0E6A9-6A01-4BA0-BB16-D91E895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Prototipo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2ADF9F31-6F97-4CAD-9E8B-1C676A9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Prueba controlada con datos sinteticos o anonimizados.</a:t>
            </a:r>
          </a:p>
        </p:txBody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E39445F-CBCF-4218-A9F2-60B5A5B8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step-rule-3">
            <a:extLst xmlns:a="http://schemas.openxmlformats.org/drawingml/2006/main">
              <a:ext uri="{FF2B5EF4-FFF2-40B4-BE49-F238E27FC236}">
                <a16:creationId xmlns:a16="http://schemas.microsoft.com/office/drawing/2014/main" id="{75D5BEF6-12EE-4D6D-B166-4B8C52C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AC715D93-7301-49E2-BD11-973D4F0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Entrega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67AA248-FAB5-4FD4-9449-939BC3CD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Resultados, riesgos, recomendaciones y plan de implementacion.</a:t>
            </a:r>
          </a:p>
        </p:txBody>
      </p:sp>
      <p:sp>
        <p:nvSpPr>
          <p:cNvPr id="20" name="control">
            <a:extLst xmlns:a="http://schemas.openxmlformats.org/drawingml/2006/main">
              <a:ext uri="{FF2B5EF4-FFF2-40B4-BE49-F238E27FC236}">
                <a16:creationId xmlns:a16="http://schemas.microsoft.com/office/drawing/2014/main" id="{B668D520-5650-4848-9D2C-CAF5477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Regla practica: si no hay evidencia del proceso, el proyecto parece una idea, no una solucion.</a:t>
            </a:r>
          </a:p>
        </p:txBody>
      </p:sp>
    </p:spTree>
    <p:extLst>
      <p:ext uri="{BB962C8B-B14F-4D97-AF65-F5344CB8AC3E}">
        <p14:creationId xmlns:p14="http://schemas.microsoft.com/office/powerpoint/2010/main" val="801829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1CC5A96-DDEA-4091-BA93-C994D968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B7BF8DF-7EC7-4ED5-8505-02430ED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07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748707-BAA6-4F15-A667-4FBFB15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Prompt de practica</a:t>
            </a:r>
          </a:p>
        </p:txBody>
      </p:sp>
      <p:sp>
        <p:nvSpPr>
          <p:cNvPr id="4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F6639AB8-4DC3-4AD9-8AF0-C7664AE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6858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02EE21D4-98EC-4BE9-9FBD-0DB94C26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143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Actua como asesor de proyectos de IA aplicada. Revisa esta idea de proyecto y ayudame a mejorarla. Evalua problema, objetivo, alcance, flujo de trabajo, datos requeridos, riesgos, controles, metricas e implementacion.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Idea: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[describir proyecto]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Devuelve una tabla con mejoras y preguntas criticas.</a:t>
            </a:r>
          </a:p>
        </p:txBody>
      </p:sp>
      <p:sp>
        <p:nvSpPr>
          <p:cNvPr id="6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29E72068-FAB0-4B67-9CFA-EBD43D7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Criterios de revision</a:t>
            </a:r>
          </a:p>
        </p:txBody>
      </p:sp>
      <p:sp>
        <p:nvSpPr>
          <p:cNvPr id="7" name="checks">
            <a:extLst xmlns:a="http://schemas.openxmlformats.org/drawingml/2006/main">
              <a:ext uri="{FF2B5EF4-FFF2-40B4-BE49-F238E27FC236}">
                <a16:creationId xmlns:a16="http://schemas.microsoft.com/office/drawing/2014/main" id="{4531B92C-9A12-4E67-939A-C22F6AA8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Evalua problema y alcance.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Incluye datos, riesgos y controles.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Propone metricas de impacto.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Formula preguntas criticas.</a:t>
            </a:r>
          </a:p>
        </p:txBody>
      </p:sp>
      <p:sp>
        <p:nvSpPr>
          <p:cNvPr id="8" name="tip">
            <a:extLst xmlns:a="http://schemas.openxmlformats.org/drawingml/2006/main">
              <a:ext uri="{FF2B5EF4-FFF2-40B4-BE49-F238E27FC236}">
                <a16:creationId xmlns:a16="http://schemas.microsoft.com/office/drawing/2014/main" id="{4691DF66-D2DF-46DE-8C6B-9B2E665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Un buen proyecto resiste preguntas dificiles.</a:t>
            </a:r>
          </a:p>
        </p:txBody>
      </p:sp>
    </p:spTree>
    <p:extLst>
      <p:ext uri="{BB962C8B-B14F-4D97-AF65-F5344CB8AC3E}">
        <p14:creationId xmlns:p14="http://schemas.microsoft.com/office/powerpoint/2010/main" val="1637088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0D0ED7-D825-4844-A354-F3F04BC7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251934C-9B52-4997-B125-7B58FF9C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08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55571A-A536-45C7-9245-2FCB9C5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Practica: sprint de proyecto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0BD500B4-217D-4DC8-BE84-2F427D21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Convertir la oportunidad priorizada en una propuesta presentable y verificable.</a:t>
            </a:r>
          </a:p>
        </p:txBody>
      </p:sp>
      <p:sp>
        <p:nvSpPr>
          <p:cNvPr id="5" name="practice-num-0">
            <a:extLst xmlns:a="http://schemas.openxmlformats.org/drawingml/2006/main">
              <a:ext uri="{FF2B5EF4-FFF2-40B4-BE49-F238E27FC236}">
                <a16:creationId xmlns:a16="http://schemas.microsoft.com/office/drawing/2014/main" id="{C0D262AE-9947-4B66-BF22-8151C01C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actice-num-text-0">
            <a:extLst xmlns:a="http://schemas.openxmlformats.org/drawingml/2006/main">
              <a:ext uri="{FF2B5EF4-FFF2-40B4-BE49-F238E27FC236}">
                <a16:creationId xmlns:a16="http://schemas.microsoft.com/office/drawing/2014/main" id="{BBE2818B-66EB-42A7-8D82-EA027FA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377C91E8-5EA9-4616-A39E-3CCC48C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Redactar problema, objetivo general y alcance.</a:t>
            </a:r>
          </a:p>
        </p:txBody>
      </p:sp>
      <p:sp>
        <p:nvSpPr>
          <p:cNvPr id="8" name="practice-num-1">
            <a:extLst xmlns:a="http://schemas.openxmlformats.org/drawingml/2006/main">
              <a:ext uri="{FF2B5EF4-FFF2-40B4-BE49-F238E27FC236}">
                <a16:creationId xmlns:a16="http://schemas.microsoft.com/office/drawing/2014/main" id="{D28A76C2-066E-4FF4-9C2E-35B26309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num-text-1">
            <a:extLst xmlns:a="http://schemas.openxmlformats.org/drawingml/2006/main">
              <a:ext uri="{FF2B5EF4-FFF2-40B4-BE49-F238E27FC236}">
                <a16:creationId xmlns:a16="http://schemas.microsoft.com/office/drawing/2014/main" id="{595505D6-D681-445A-BE30-74CFBBF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9DA60873-622E-4F82-809A-213E307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Dibujar el flujo actual y el flujo futuro.</a:t>
            </a:r>
          </a:p>
        </p:txBody>
      </p:sp>
      <p:sp>
        <p:nvSpPr>
          <p:cNvPr id="11" name="practice-num-2">
            <a:extLst xmlns:a="http://schemas.openxmlformats.org/drawingml/2006/main">
              <a:ext uri="{FF2B5EF4-FFF2-40B4-BE49-F238E27FC236}">
                <a16:creationId xmlns:a16="http://schemas.microsoft.com/office/drawing/2014/main" id="{86855678-E285-4147-BAFE-7B3ED3DE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actice-num-text-2">
            <a:extLst xmlns:a="http://schemas.openxmlformats.org/drawingml/2006/main">
              <a:ext uri="{FF2B5EF4-FFF2-40B4-BE49-F238E27FC236}">
                <a16:creationId xmlns:a16="http://schemas.microsoft.com/office/drawing/2014/main" id="{53616CCF-7E77-4B72-B83F-44597AA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61321FC6-028E-49E8-A567-A5DEB7DE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Construir una prueba con un caso controlado.</a:t>
            </a:r>
          </a:p>
        </p:txBody>
      </p:sp>
      <p:sp>
        <p:nvSpPr>
          <p:cNvPr id="14" name="practice-num-3">
            <a:extLst xmlns:a="http://schemas.openxmlformats.org/drawingml/2006/main">
              <a:ext uri="{FF2B5EF4-FFF2-40B4-BE49-F238E27FC236}">
                <a16:creationId xmlns:a16="http://schemas.microsoft.com/office/drawing/2014/main" id="{EDCE647F-D6FD-44A0-8D38-34450C66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actice-num-text-3">
            <a:extLst xmlns:a="http://schemas.openxmlformats.org/drawingml/2006/main">
              <a:ext uri="{FF2B5EF4-FFF2-40B4-BE49-F238E27FC236}">
                <a16:creationId xmlns:a16="http://schemas.microsoft.com/office/drawing/2014/main" id="{F7E9E059-914A-4813-87C8-FB8C77C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E95109E1-02B6-4A3D-A6BD-CBCB3D57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Documentar evidencia, riesgos y recomendacion.</a:t>
            </a:r>
          </a:p>
        </p:txBody>
      </p:sp>
      <p:sp>
        <p:nvSpPr>
          <p:cNvPr id="17" name="deliverable-panel">
            <a:extLst xmlns:a="http://schemas.openxmlformats.org/drawingml/2006/main">
              <a:ext uri="{FF2B5EF4-FFF2-40B4-BE49-F238E27FC236}">
                <a16:creationId xmlns:a16="http://schemas.microsoft.com/office/drawing/2014/main" id="{6FC222E6-E34E-41E3-98B7-EC20621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label">
            <a:extLst xmlns:a="http://schemas.openxmlformats.org/drawingml/2006/main">
              <a:ext uri="{FF2B5EF4-FFF2-40B4-BE49-F238E27FC236}">
                <a16:creationId xmlns:a16="http://schemas.microsoft.com/office/drawing/2014/main" id="{27B9EA96-9111-4011-BF19-65C4EA0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Entregable</a:t>
            </a:r>
          </a:p>
        </p:txBody>
      </p:sp>
      <p:sp>
        <p:nvSpPr>
          <p:cNvPr id="19" name="deliverable">
            <a:extLst xmlns:a="http://schemas.openxmlformats.org/drawingml/2006/main">
              <a:ext uri="{FF2B5EF4-FFF2-40B4-BE49-F238E27FC236}">
                <a16:creationId xmlns:a16="http://schemas.microsoft.com/office/drawing/2014/main" id="{D930CF4D-6A53-4F21-887D-627AB3A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Plantilla de proyecto aplicada completa.</a:t>
            </a:r>
          </a:p>
        </p:txBody>
      </p:sp>
    </p:spTree>
    <p:extLst>
      <p:ext uri="{BB962C8B-B14F-4D97-AF65-F5344CB8AC3E}">
        <p14:creationId xmlns:p14="http://schemas.microsoft.com/office/powerpoint/2010/main" val="1474591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8934CB-123A-4844-9790-4847ED1B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55B109B-DFBA-4F99-AD31-86323B87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09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B8FEFF-6ACD-4638-B18B-F4990A0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Rúbrica ejecutiva del proyecto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06782"/>
                <a:gridCol w="3460173"/>
                <a:gridCol w="3460173"/>
                <a:gridCol w="1345623"/>
              </a:tblGrid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Pregunta guia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Evidencia esperada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Peso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Problema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Esta bien delimitado?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Contexto, dolor, usuarios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Solucion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IA aporta valor real?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Flujo, herramientas, controles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Prototipo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 puede observar?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Prueba, capturas, datos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Impacto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Vale la pena?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Metricas y recomendacion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DB145B84-731C-40C8-AAA9-74E82A42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presentacion final debe mostrar decision, no solo descripcion.</a:t>
            </a:r>
          </a:p>
        </p:txBody>
      </p:sp>
    </p:spTree>
    <p:extLst>
      <p:ext uri="{BB962C8B-B14F-4D97-AF65-F5344CB8AC3E}">
        <p14:creationId xmlns:p14="http://schemas.microsoft.com/office/powerpoint/2010/main" val="333060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457D2C-863B-4798-BABB-4EA2C81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81161D-2F23-48FD-AEB4-CD3FB8E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10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CAAFBA-323B-47AE-93E2-FB526107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Balance recomendado del proyecto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15a57d05e54b07"/>
          </a:graphicData>
        </a:graphic>
      </p:graphicFrame>
      <p:sp>
        <p:nvSpPr>
          <p:cNvPr id="5" name="chart-insight-title">
            <a:extLst xmlns:a="http://schemas.openxmlformats.org/drawingml/2006/main">
              <a:ext uri="{FF2B5EF4-FFF2-40B4-BE49-F238E27FC236}">
                <a16:creationId xmlns:a16="http://schemas.microsoft.com/office/drawing/2014/main" id="{D3B5018C-801D-4093-9F06-1A5C6D3A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ejecutiva</a:t>
            </a:r>
          </a:p>
        </p:txBody>
      </p:sp>
      <p:sp>
        <p:nvSpPr>
          <p:cNvPr id="6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C4B32F29-237E-4084-B407-0E57421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El prototipo pesa tanto como el diseno.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Riesgos deben estar integrados, no al final.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Impacto necesita metrica o evidencia.</a:t>
            </a:r>
          </a:p>
        </p:txBody>
      </p:sp>
      <p:sp>
        <p:nvSpPr>
          <p:cNvPr id="7" name="chart-warning">
            <a:extLst xmlns:a="http://schemas.openxmlformats.org/drawingml/2006/main">
              <a:ext uri="{FF2B5EF4-FFF2-40B4-BE49-F238E27FC236}">
                <a16:creationId xmlns:a16="http://schemas.microsoft.com/office/drawing/2014/main" id="{BC299301-4D38-48BE-B48A-9217CAF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Una demo sin control de riesgos queda incompleta.</a:t>
            </a:r>
          </a:p>
        </p:txBody>
      </p:sp>
    </p:spTree>
    <p:extLst>
      <p:ext uri="{BB962C8B-B14F-4D97-AF65-F5344CB8AC3E}">
        <p14:creationId xmlns:p14="http://schemas.microsoft.com/office/powerpoint/2010/main" val="668429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5B495E-69F4-49B4-A174-CE17B54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7A4D97E-0414-4E11-89E8-ADF28A9A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11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5D247A-5EE7-4981-9BC7-9CEA5C4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Checklist antes de presentar</a:t>
            </a:r>
          </a:p>
        </p:txBody>
      </p:sp>
      <p:sp>
        <p:nvSpPr>
          <p:cNvPr id="4" name="check-box-0">
            <a:extLst xmlns:a="http://schemas.openxmlformats.org/drawingml/2006/main">
              <a:ext uri="{FF2B5EF4-FFF2-40B4-BE49-F238E27FC236}">
                <a16:creationId xmlns:a16="http://schemas.microsoft.com/office/drawing/2014/main" id="{824B9502-F46D-4E1A-A70B-92E611E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1CB7CE4A-34D4-4E6D-85D9-968DDCA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Problema</a:t>
            </a:r>
          </a:p>
        </p:txBody>
      </p:sp>
      <p:sp>
        <p:nvSpPr>
          <p:cNvPr id="6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9854AFFB-F224-45EF-BA2D-CB5D542E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 entiende en menos de un minuto.</a:t>
            </a:r>
          </a:p>
        </p:txBody>
      </p:sp>
      <p:sp>
        <p:nvSpPr>
          <p:cNvPr id="7" name="check-box-1">
            <a:extLst xmlns:a="http://schemas.openxmlformats.org/drawingml/2006/main">
              <a:ext uri="{FF2B5EF4-FFF2-40B4-BE49-F238E27FC236}">
                <a16:creationId xmlns:a16="http://schemas.microsoft.com/office/drawing/2014/main" id="{C47AC8BB-BD09-4D45-8A1F-7E82DC8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6BFB4F71-5F77-4B9E-A703-E4D5D139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Alcance</a:t>
            </a:r>
          </a:p>
        </p:txBody>
      </p:sp>
      <p:sp>
        <p:nvSpPr>
          <p:cNvPr id="9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651E2347-CB46-4092-B5FB-1CFF615F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Queda claro que incluye y que no incluye.</a:t>
            </a:r>
          </a:p>
        </p:txBody>
      </p:sp>
      <p:sp>
        <p:nvSpPr>
          <p:cNvPr id="10" name="check-box-2">
            <a:extLst xmlns:a="http://schemas.openxmlformats.org/drawingml/2006/main">
              <a:ext uri="{FF2B5EF4-FFF2-40B4-BE49-F238E27FC236}">
                <a16:creationId xmlns:a16="http://schemas.microsoft.com/office/drawing/2014/main" id="{0535DAED-73D0-48E9-8B00-58AE950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95CD1D05-4A16-4104-AB57-BE6C3F3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Evidencia</a:t>
            </a:r>
          </a:p>
        </p:txBody>
      </p:sp>
      <p:sp>
        <p:nvSpPr>
          <p:cNvPr id="12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BCA98442-2C9A-4DB2-BEC0-6521C119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Hay pruebas visibles del prototipo.</a:t>
            </a:r>
          </a:p>
        </p:txBody>
      </p:sp>
      <p:sp>
        <p:nvSpPr>
          <p:cNvPr id="13" name="check-box-3">
            <a:extLst xmlns:a="http://schemas.openxmlformats.org/drawingml/2006/main">
              <a:ext uri="{FF2B5EF4-FFF2-40B4-BE49-F238E27FC236}">
                <a16:creationId xmlns:a16="http://schemas.microsoft.com/office/drawing/2014/main" id="{43DB22B2-F5D9-40D9-898C-7CDD70A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99CBE2D9-F9A6-46C0-ADC5-372D09E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Metricas</a:t>
            </a:r>
          </a:p>
        </p:txBody>
      </p:sp>
      <p:sp>
        <p:nvSpPr>
          <p:cNvPr id="15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D74EEEDC-EAB5-480A-8E8A-13304DC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 muestra beneficio esperado o medido.</a:t>
            </a:r>
          </a:p>
        </p:txBody>
      </p:sp>
      <p:sp>
        <p:nvSpPr>
          <p:cNvPr id="16" name="check-box-4">
            <a:extLst xmlns:a="http://schemas.openxmlformats.org/drawingml/2006/main">
              <a:ext uri="{FF2B5EF4-FFF2-40B4-BE49-F238E27FC236}">
                <a16:creationId xmlns:a16="http://schemas.microsoft.com/office/drawing/2014/main" id="{07605F0E-FA9D-4252-A1BF-29E73274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6612DB05-0B37-48FC-9CB1-59306CDE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Riesgos</a:t>
            </a:r>
          </a:p>
        </p:txBody>
      </p:sp>
      <p:sp>
        <p:nvSpPr>
          <p:cNvPr id="18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5A2C77D0-79C2-4B34-880E-6950397B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Incluye controles concretos y responsables.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43ABD1AA-6A5C-4C2B-85BF-DE8B2DE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98DDD8BC-8D0C-41F4-92B5-2F6D495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Siguiente paso</a:t>
            </a:r>
          </a:p>
        </p:txBody>
      </p:sp>
      <p:sp>
        <p:nvSpPr>
          <p:cNvPr id="21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972C9555-405D-43E8-8FD4-9542544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La audiencia sabe que aprobar o probar.</a:t>
            </a:r>
          </a:p>
        </p:txBody>
      </p:sp>
    </p:spTree>
    <p:extLst>
      <p:ext uri="{BB962C8B-B14F-4D97-AF65-F5344CB8AC3E}">
        <p14:creationId xmlns:p14="http://schemas.microsoft.com/office/powerpoint/2010/main" val="1470860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50E4C4-9865-4211-BF82-3D349E7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803888-D056-4FF0-9AED-E58730F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39508F-6561-4E01-8741-C4FB8CD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Errores frecuentes</a:t>
            </a:r>
          </a:p>
        </p:txBody>
      </p:sp>
      <p:sp>
        <p:nvSpPr>
          <p:cNvPr id="4" name="mistake-number-0">
            <a:extLst xmlns:a="http://schemas.openxmlformats.org/drawingml/2006/main">
              <a:ext uri="{FF2B5EF4-FFF2-40B4-BE49-F238E27FC236}">
                <a16:creationId xmlns:a16="http://schemas.microsoft.com/office/drawing/2014/main" id="{017F0B74-044E-4967-80C3-8287C00C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mistake-title-0">
            <a:extLst xmlns:a="http://schemas.openxmlformats.org/drawingml/2006/main">
              <a:ext uri="{FF2B5EF4-FFF2-40B4-BE49-F238E27FC236}">
                <a16:creationId xmlns:a16="http://schemas.microsoft.com/office/drawing/2014/main" id="{3E53E7AE-E640-4F1A-B330-00ECD499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Problema demasiado grande</a:t>
            </a:r>
          </a:p>
        </p:txBody>
      </p:sp>
      <p:sp>
        <p:nvSpPr>
          <p:cNvPr id="6" name="mistake-fix-0">
            <a:extLst xmlns:a="http://schemas.openxmlformats.org/drawingml/2006/main">
              <a:ext uri="{FF2B5EF4-FFF2-40B4-BE49-F238E27FC236}">
                <a16:creationId xmlns:a16="http://schemas.microsoft.com/office/drawing/2014/main" id="{24839698-F11A-4D61-AFB7-47789AC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Acote a un proceso, usuario y resultado medible.</a:t>
            </a:r>
          </a:p>
        </p:txBody>
      </p:sp>
      <p:sp>
        <p:nvSpPr>
          <p:cNvPr id="7" name="mistake-number-1">
            <a:extLst xmlns:a="http://schemas.openxmlformats.org/drawingml/2006/main">
              <a:ext uri="{FF2B5EF4-FFF2-40B4-BE49-F238E27FC236}">
                <a16:creationId xmlns:a16="http://schemas.microsoft.com/office/drawing/2014/main" id="{5001EF75-16D7-4D56-83F6-36F45876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mistake-title-1">
            <a:extLst xmlns:a="http://schemas.openxmlformats.org/drawingml/2006/main">
              <a:ext uri="{FF2B5EF4-FFF2-40B4-BE49-F238E27FC236}">
                <a16:creationId xmlns:a16="http://schemas.microsoft.com/office/drawing/2014/main" id="{359729AE-8F80-46FB-AEB0-D6F5742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Demo sin evidencia</a:t>
            </a:r>
          </a:p>
        </p:txBody>
      </p:sp>
      <p:sp>
        <p:nvSpPr>
          <p:cNvPr id="9" name="mistake-fix-1">
            <a:extLst xmlns:a="http://schemas.openxmlformats.org/drawingml/2006/main">
              <a:ext uri="{FF2B5EF4-FFF2-40B4-BE49-F238E27FC236}">
                <a16:creationId xmlns:a16="http://schemas.microsoft.com/office/drawing/2014/main" id="{078530B8-3CAD-4932-B876-42225523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Guarde capturas, prompts, datos y versiones.</a:t>
            </a:r>
          </a:p>
        </p:txBody>
      </p:sp>
      <p:sp>
        <p:nvSpPr>
          <p:cNvPr id="10" name="mistake-number-2">
            <a:extLst xmlns:a="http://schemas.openxmlformats.org/drawingml/2006/main">
              <a:ext uri="{FF2B5EF4-FFF2-40B4-BE49-F238E27FC236}">
                <a16:creationId xmlns:a16="http://schemas.microsoft.com/office/drawing/2014/main" id="{35535BD3-25B7-4921-8BBC-6CD4AC6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mistake-title-2">
            <a:extLst xmlns:a="http://schemas.openxmlformats.org/drawingml/2006/main">
              <a:ext uri="{FF2B5EF4-FFF2-40B4-BE49-F238E27FC236}">
                <a16:creationId xmlns:a16="http://schemas.microsoft.com/office/drawing/2014/main" id="{A793953C-0A08-4D4A-8A85-A68381D5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Ignorar implementacion</a:t>
            </a:r>
          </a:p>
        </p:txBody>
      </p:sp>
      <p:sp>
        <p:nvSpPr>
          <p:cNvPr id="12" name="mistake-fix-2">
            <a:extLst xmlns:a="http://schemas.openxmlformats.org/drawingml/2006/main">
              <a:ext uri="{FF2B5EF4-FFF2-40B4-BE49-F238E27FC236}">
                <a16:creationId xmlns:a16="http://schemas.microsoft.com/office/drawing/2014/main" id="{6D1338F6-E237-4E43-A61B-8262A49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Incluya responsables, plazos, riesgos y adopcion.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71AA92E-6FB6-447C-8467-40EC202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La meta no es usar IA en todo: es usarla donde mejora una decision, un proceso o una entrega.</a:t>
            </a:r>
          </a:p>
        </p:txBody>
      </p:sp>
    </p:spTree>
    <p:extLst>
      <p:ext uri="{BB962C8B-B14F-4D97-AF65-F5344CB8AC3E}">
        <p14:creationId xmlns:p14="http://schemas.microsoft.com/office/powerpoint/2010/main" val="9883109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70A51C-7D84-43A9-B2A4-8C79739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V - Proyecto aplicado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84A950F-3101-4841-B673-488209C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207AFF-4C8C-41FA-9C98-34CA3A4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Cierre del diplomado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1EA292D7-B1CF-4379-A14B-BE70AFD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Presenta problema, solucion y evidencia.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Explica riesgos y controles.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Propone un piloto realista.</a:t>
            </a:r>
          </a:p>
        </p:txBody>
      </p:sp>
      <p:sp>
        <p:nvSpPr>
          <p:cNvPr id="5" name="final-panel">
            <a:extLst xmlns:a="http://schemas.openxmlformats.org/drawingml/2006/main">
              <a:ext uri="{FF2B5EF4-FFF2-40B4-BE49-F238E27FC236}">
                <a16:creationId xmlns:a16="http://schemas.microsoft.com/office/drawing/2014/main" id="{92F7B86F-45C7-4B89-92DD-851F5C7C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14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panel-title">
            <a:extLst xmlns:a="http://schemas.openxmlformats.org/drawingml/2006/main">
              <a:ext uri="{FF2B5EF4-FFF2-40B4-BE49-F238E27FC236}">
                <a16:creationId xmlns:a16="http://schemas.microsoft.com/office/drawing/2014/main" id="{85180854-67A4-4BDA-B98C-AE38379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Producto final</a:t>
            </a:r>
          </a:p>
        </p:txBody>
      </p:sp>
      <p:sp>
        <p:nvSpPr>
          <p:cNvPr id="7" name="final-panel-body">
            <a:extLst xmlns:a="http://schemas.openxmlformats.org/drawingml/2006/main">
              <a:ext uri="{FF2B5EF4-FFF2-40B4-BE49-F238E27FC236}">
                <a16:creationId xmlns:a16="http://schemas.microsoft.com/office/drawing/2014/main" id="{17D4E67F-5124-4589-A3CD-8B888A5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Proyecto aplicado con IA listo para evaluacion y mejora.</a:t>
            </a:r>
          </a:p>
        </p:txBody>
      </p:sp>
    </p:spTree>
    <p:extLst>
      <p:ext uri="{BB962C8B-B14F-4D97-AF65-F5344CB8AC3E}">
        <p14:creationId xmlns:p14="http://schemas.microsoft.com/office/powerpoint/2010/main" val="293188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2026-06-26T12:30:34.7340000Z</dcterms:created>
  <dcterms:modified xsi:type="dcterms:W3CDTF">2026-06-26T12:30:34.7340000Z</dcterms:modified>
</coreProperties>
</file>